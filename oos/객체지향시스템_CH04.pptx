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4장 연산자. 앞 절반은 계산 규칙(정수 나눗셈·우선순위·캐스트·비트·시프트), 뒤는 NuGet으로 설치한 터틀 그래픽 윈폼이다.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두 결과물부터 보여 준다. 동전 교환은 / 와 %= 두 연산자로, 거북이는 비교·논리·증가 연산자와 Random으로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 4-1의 설명 열은 교재에 'a에 대입'으로 적혀 있지만 사용 예의 변수는 num이다. 정수 나눗셈이 이 장 결과 예측 문제의 절반.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v1= 5 처럼 공백이 없는 건 교재 표기 그대로. 결과는 8, 2, 15, 1, 2. 네 번째 줄에서 반드시 멈춰 '왜 1인가'를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잠깐: a = b + c * d 와 a = b + ( c * d ) 는 결과가 같지만 괄호 쪽이 더 좋은 코딩. 캐스트 없는 쪽은 결과 변수가 float여도 이미 정수 1로 끝난 뒤 대입된다.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{3:F}는 소수점 둘째 자리까지라 1.50. 캐스트를 지우고 돌리면 1.00이 나오는 것을 실습실에서 직접 확인시킨다(검증 출력).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쉽게 말하면 Parse는 종이에 적힌 숫자를 계산기에 넣는 일, ToString은 계산기 화면을 종이에 받아 적는 일. 동전 교환의 int.Parse(Console.ReadLine())가 바로 이 도구.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값이 줄마다 이어진다: 10 → 11 → 10 → 15 → 10 → 50 → 10 → 0. 마지막 0은 10을 5로 나눈 나머지.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단독 문장 num++; 에서는 둘 다 같다. 다른 식 안에 섞일 때만 차이가 난다. 두 번째 결과를 11로 착각하는 학생이 많다 — a는 이미 11이었다.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Console.Write는 줄을 안 바꿔서 커서가 물음 바로 뒤에 선다. 맨 앞 \n이 빈 줄 하나를 만든다(교재 글꼴에선 \ 가 ₩로 보임).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은행 창구 비유: 큰 동전부터 몇 개 나오나(몫) 세고, 남은 돈(나머지)만 다음 칸으로 넘긴다. 작은 동전부터 하면 전부 10원짜리가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비교식 자체를 {2} 자리에 넘기면 True/False가 찍힌다. 서식 문자열 속 공백 개수는 교재 캡처로는 확정할 수 없어 두 칸으로 옮겼다 — 결과 값엔 영향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= 99: 99 &gt;= 100은 False, 99 &lt;= 200은 True. False &amp;&amp; True = False, False || True = True, !False = True. 교재 글꼴의 | 가 끊어진 세로선처럼 보이지만 같은 문자다.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비트 연산에서 1은 True, 0은 False로 본다. XOR에서 둘 다 1이면 0 — '하나라도 1이면 1'은 | 의 규칙이라는 것을 대비시킨다.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소제목의 '비트 논리합 10 &amp; 7', '비트 배타적 논리합 10 &amp; 7'은 오탈자(실제는 | 와 ^). 0xFFFF | 0x0000 = 65535, 16진수로 보려면 Convert.ToString(값, 16) → ffff.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아스키코드: 'A'는 0x41, 'a'는 0x61. {0:X} 자리에는 Convert.ToString의 결과 문자열 "41"이 그대로 찍히고, {0:C}는 char에 적용되지 않아 문자 그대로 찍힌다(검증 출력 확인).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0x20 비트는 대문자/소문자 스위치. XOR은 스위치를 딸깍 누르는 것. ~ 는 단항이라 + 보다 먼저 계산된다 → (~n) + 1.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시프트: 앞 비트는 사라지고 뒤는 0으로 채움. 오른쪽 시프트: 뒤 비트는 사라지고 앞은 부호 비트(양수는 0)로 채움. 10진수 끝에 0을 붙이면 10배가 되듯, 2진수 끝에 0을 붙이면 2배.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for는 CH06에서 자세히 — 여기선 'i를 1씩 늘리며 중괄호 안을 되풀이'로만 읽는다. 시프트 칸 수에 변수 i를 쓸 수 있다. SELF STUDY 정답 코드는 실제 컴파일러로 검증했다.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대입이 꼴찌라서 '오른쪽을 다 계산한 뒤 맨 마지막에 왼쪽 통에 담는다'. 교재 간지의 '연장자 우선순위'는 오탈자. 조건 연산자 ?: 는 표에 없고 CH05에서.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터틀 그래픽은 거북이가 선을 그리며 움직이는 C#의 외부 기능 — 기본에 없어서 NuGet(C#용 앱 스토어)으로 설치한다. 목록의 Nakov.IO.Cin은 다른 패키지이니 고르지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설치가 끝나면 솔루션 탐색기에 packages.config가 생긴다. 버튼은 도구 상자에서 끌어다 놓고 속성 창에서 (Name)과 Text를 바꾼다 — CH02 그림판과 같은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Ctrl+F5로 실행. 그리기를 누를 때마다 거북이가 위로 가며 선을 긋고, 초기화하면 가운데로 돌아간다. 교재 설명문의 btnTurtle.Init( )은 오탈자 — 코드는 Turtle.Init().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교재는 Delay를 메서드라 부르지만 코드에선 값을 대입한다. 한 번 클릭에 45° 돌아 100 전진, 다시 45° 돌아 100 후진 — 반복하면 팔각별.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PenColor에는 Color.Red, Color.Green, Color.Blue 등을 대입. Color는 윈폼 템플릿이 넣어 둔 using System.Drawing; 덕분에 바로 쓴다. 공책에서 연필을 떼었다 댔다 하는 비유.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프로젝트는 실습 4-1을 그대로 반복하되 이름만 Project04_18. this.Text와 this.ClientSize로 창 제목·크기를 코드에서 바꾼다. while(true)는 break를 만나야 멈추는 반복.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비교(&lt;=)·논리(&amp;&amp;)·증가(++)·나눗셈(/)이 한꺼번에 나오는 종합 예제. 울타리를 넘을 때마다 가운데로 데려다 놓고, 다섯 번이면 산책 끝. 터틀 코드는 윈폼+NuGet이 필요해 콘솔로 검증하지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앞부분: swidth 800, sheight 300, num = int.Parse(tb_num.Text.ToString()), curX = swidth / 2 - 50(=350), curY = -50. 오른쪽 끝(최하위 비트)부터 50씩 왼쪽으로 그린다.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질문 세 개(7행 계산 순서, a + b * c, 괄호 권장)와 SELF STUDY 두 개가 이 장의 점검 문제 전부다. 웹 실습실의 ★ 예제 16개를 받아쓰기로 한 번씩.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04  ·  계산 규칙과 거북이 그림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계산 규칙과 거북이 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Arithmetic, Bitwise and Shift Operators · Turtle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산술 연산자 · 우선순위 · 캐스트 · 대입과 증감 · 동전 교환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비교 · 논리 · 비트 &amp; | ^ ~ · 마스크 · 시프트 &lt;&lt; 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연산자 우선순위 표 · NuGet 터틀 그래픽 · 마음대로 이동하는 거북이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432875"/>
            <a:ext cx="15471648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정수 나눗셈·우선순위·캐스트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세 규칙으로 계산 결과를 미리 맞힌다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29184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31755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152965"/>
            <a:ext cx="15471648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비트 연산 </a:t>
            </a: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&amp; | ^ ~ &lt;&lt; &gt;&gt;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를 2진수 계산표로 손으로 풀어 본다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01193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03764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873055"/>
            <a:ext cx="15471648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NuGet으로 </a:t>
            </a: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터틀 그래픽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설치하고 거북이가 선을 그리는 윈폼을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937760"/>
            <a:ext cx="10607040" cy="375475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p0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52" y="5030343"/>
            <a:ext cx="9955191" cy="3116961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24128" y="8239887"/>
            <a:ext cx="1060704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8239887"/>
            <a:ext cx="1009497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4-1 발췌 — [프로그램 1] 동전 교환 (입력 7777)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80" y="4937760"/>
            <a:ext cx="5193792" cy="375475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0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4909" y="5030343"/>
            <a:ext cx="2664133" cy="311696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2070080" y="8239887"/>
            <a:ext cx="51937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326112" y="8239887"/>
            <a:ext cx="468172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4-2 발췌 — [프로그램 2]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1절 · 그림 4-1, 4-2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사칙연산과 나머지 — 산술 연산자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34924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509857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연산자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2353" y="2571750"/>
            <a:ext cx="183465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5917" y="2571750"/>
            <a:ext cx="313383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사용 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8661" y="2571750"/>
            <a:ext cx="800575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106674"/>
            <a:ext cx="16239744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106674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8929" y="3106674"/>
            <a:ext cx="176150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대입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2493" y="3106674"/>
            <a:ext cx="30606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5237" y="3106674"/>
            <a:ext cx="793260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 3을 num에 대입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23894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8929" y="3723894"/>
            <a:ext cx="176150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덧셈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2493" y="3723894"/>
            <a:ext cx="30606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= 5 + 3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5237" y="3723894"/>
            <a:ext cx="793260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5와 3을 더한 값을 대입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341114"/>
            <a:ext cx="16239744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341114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8929" y="4341114"/>
            <a:ext cx="176150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뺄셈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2493" y="4341114"/>
            <a:ext cx="30606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= 5 - 3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5237" y="4341114"/>
            <a:ext cx="793260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5에서 3을 뺀 값을 대입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958334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8929" y="4958334"/>
            <a:ext cx="176150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곱셈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2493" y="4958334"/>
            <a:ext cx="30606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= 5 *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5237" y="4958334"/>
            <a:ext cx="793260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5와 3을 곱한 값을 대입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575554"/>
            <a:ext cx="16239744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5575554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8929" y="5575554"/>
            <a:ext cx="176150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나눗셈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2493" y="5575554"/>
            <a:ext cx="30606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= 5 /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5237" y="5575554"/>
            <a:ext cx="793260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정수끼리는 정수로 처리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1.6666이 아니라 1이 대입된다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6192774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28929" y="6192774"/>
            <a:ext cx="176150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나머지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2493" y="6192774"/>
            <a:ext cx="306067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= 5 %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5237" y="6192774"/>
            <a:ext cx="793260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5를 3으로 나눈 나머지 2를 대입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6995160"/>
            <a:ext cx="16239744" cy="16973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389888" y="719061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9888" y="7818120"/>
            <a:ext cx="15508224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"5 ÷ 3 = 1 … 2"에서 / 는 몫 1, % 는 나머지 2. 정수형엔 소수점 칸이 없어서 </a:t>
            </a:r>
            <a:r>
              <a:rPr sz="22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반올림이 아니라 버린다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% 는 퍼센트가 아니라 나머지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표 4-1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4-1 — 다섯 가지 산술 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60704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Project04_1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80236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num;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v1= 5, v2 = 3;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= v1 + v2;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+ {1:D} = {2:D}", v1, v2,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= v1 - v2;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- {1:D} = {2:D}", v1, v2,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= v1 * v2;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* {1:D} = {2:D}", v1, v2,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= v1 / v2;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/ {1:D} = {2:D}", v1, v2,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= v1 % v2;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% {1:D} = {2:D}", v1, v2, num);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2571750"/>
            <a:ext cx="5193792" cy="24688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070080" y="2571750"/>
            <a:ext cx="91440" cy="246888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0" y="2674620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2416" y="3024378"/>
            <a:ext cx="4389120" cy="18928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+ 3 = 8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5 - 3 = 2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* 3 = 15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/ 3 = 1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5 % 3 =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5297805"/>
            <a:ext cx="5193792" cy="33947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0" y="5493258"/>
            <a:ext cx="44622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0" y="6120765"/>
            <a:ext cx="4462272" cy="24483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{0:D}는 10진 정수 서식.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 / 3 = </a:t>
            </a:r>
            <a:r>
              <a:rPr sz="19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int끼리 나누면 몫만 남는다.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서식 문자열 속 % 는 그냥 글자다.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소스 4-1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계산 순서와 (float) 한 단어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475780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a=2, b=3, c=4일 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0302" y="2571750"/>
            <a:ext cx="605698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6199" y="2571750"/>
            <a:ext cx="410821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16239744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468465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❶ (a + b) *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878" y="3086100"/>
            <a:ext cx="598383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(2 + 3) * 4 → 5 *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72775" y="3086100"/>
            <a:ext cx="403506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03320"/>
            <a:ext cx="468465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a + (b * 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78" y="3703320"/>
            <a:ext cx="598383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+ (3 * 4) → 2 + 12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72775" y="3703320"/>
            <a:ext cx="403506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← 실제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577715"/>
            <a:ext cx="7936992" cy="337413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476288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캐스트 없이 · a * b / 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55648" y="531837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326880" y="4577715"/>
            <a:ext cx="7936992" cy="3374136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92640" y="476288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캐스트 · a * b / (float)c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531837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72768" y="5482971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❶ 정수 2 * 정수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482971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❶ 정수 2 * 정수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6038469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정수 6 / 정수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038469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정수 6 /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실수 4.0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6593967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❸ 정수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593967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❸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실수 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7149465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❹ 1.0 대입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7149465"/>
            <a:ext cx="6839712" cy="5246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❹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1.5 대입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8085582"/>
            <a:ext cx="16239744" cy="606933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426464" y="8085582"/>
            <a:ext cx="15435071" cy="60693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괄호 &gt; 곱셈·나눗셈 &gt; 덧셈·뺄셈 — 같은 등급은 왼쪽부터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그림 4-3, 4-4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4-2 — 우선순위와 강제 형 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Project04_2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1681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a = 2, b = 3, c = 4;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result1, mok, namugi;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float result2;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result1 = a + b - c;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+ {1:D} - {2:D} = {3:D}", a, b, c, result1);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result1 = a + b * c;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+ {1:D} * {2:D} = {3:D}", a, b, c, result1);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result2 = a * b / (float)c;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* {1:D} / {2:D} = {3:F}", a, b, c, result2);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mok = c / b;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/ {1:D} 의 몫은 {2:D}", c, b, mok);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namugi = c % b;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Console.WriteLine("{0:D} / {1:D} 의 나머지는 {2:D}", c, b, namugi);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35840" y="2571750"/>
            <a:ext cx="4828032" cy="236601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435840" y="2571750"/>
            <a:ext cx="91440" cy="236601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0" y="2674620"/>
            <a:ext cx="40965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38176" y="3024378"/>
            <a:ext cx="4023360" cy="178993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+ 3 - 4 = 1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+ 3 * 4 = 14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* 3 / 4 = 1.50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 / 3 의 몫은 1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 / 3 의 나머지는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35840" y="5194935"/>
            <a:ext cx="4828032" cy="349758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0" y="5390388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캐스트(Cast)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0" y="6017895"/>
            <a:ext cx="4096512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(데이터형의_이름)을 앞에 붙이면 </a:t>
            </a:r>
            <a:r>
              <a:rPr sz="19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그 순간만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형이 바뀐다.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정수 / 실수 = 실수 → 1.5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실수 → 정수는 (int).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(float)(a * b / c)는 이미 늦다 — 나누기 전에 바꿔야 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소스 4-2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"100"을 100으로 — Parse와 ToString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25717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Project04_3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168128" cy="18516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s1 = "100", s2 = "100.123";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Console.WriteLine(int.Parse(s1) + float.Parse(s2));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n1 = 100;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float n2 = 100.123f;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Console.WriteLine(n1.ToString() + n2.ToString());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35840" y="2571750"/>
            <a:ext cx="4828032" cy="25717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435840" y="2571750"/>
            <a:ext cx="91440" cy="25717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0" y="2674620"/>
            <a:ext cx="40965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38176" y="3024378"/>
            <a:ext cx="4023360" cy="19956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8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200.123</a:t>
            </a:r>
          </a:p>
          <a:p>
            <a:pPr>
              <a:lnSpc>
                <a:spcPct val="132000"/>
              </a:lnSpc>
            </a:pPr>
            <a:r>
              <a:rPr sz="18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100100.123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452110"/>
            <a:ext cx="7936992" cy="2283714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563727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문자열 → 숫자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5648" y="619277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326880" y="5452110"/>
            <a:ext cx="7936992" cy="2283714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0" y="563727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숫자 → 문자열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619277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572768" y="635736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int.Parse(s1) + float.Parse(s2)</a:t>
            </a:r>
          </a:p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100 + 100.123 =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200.123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635736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n1.ToString() + n2.ToString()</a:t>
            </a:r>
          </a:p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"100" + "100.123" =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100100.123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같은 + 라도 숫자면 덧셈, 문자열이면 이어 붙이기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소스 4-3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줄여 쓰는 대입 — 소스 4-4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Project04_4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num = 10;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num++;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Console.WriteLine("num ++ ==&gt; " +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num--;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Console.WriteLine("num -- ==&gt; " +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+= 5;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Console.WriteLine("num += 5 ==&gt; " +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-= 5;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Console.WriteLine("num -= 5 ==&gt; " +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*= 5;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Console.WriteLine("num *= 5 ==&gt; " +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/= 5;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Console.WriteLine("num /= 5 ==&gt; " + num);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num %= 5;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Console.WriteLine("num %= 5 ==&gt; " + num);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27774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277749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22014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 ++ ==&gt; 11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 -- ==&gt; 10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 += 5 ==&gt; 15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 -= 5 ==&gt; 10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 *= 5 ==&gt; 50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 /= 5 ==&gt; 10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 %= 5 ==&gt;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5606415"/>
            <a:ext cx="6656832" cy="30861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5801868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표 4-2 한눈에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29375"/>
            <a:ext cx="592531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+= 3 → num = num + 3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(-=, *=, /=, %= 도 같은 모양)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num++ / ++num → 1 증가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num-- / --num → 1 감소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=+ 로 뒤집으면 'num에 +5 대입'이 되어 5가 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표 4-2 · 소스 4-4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a++ 와 ++a — 소스 4-5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28803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Project04_5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21602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a = 10, b;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 = a++;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Console.WriteLine(b);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 = ++a;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Console.WriteLine(b);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28803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28803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2304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20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>
              <a:lnSpc>
                <a:spcPct val="132000"/>
              </a:lnSpc>
            </a:pPr>
            <a:r>
              <a:rPr sz="20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76072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5760720"/>
            <a:ext cx="345862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문장 (a = 10에서)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1122" y="5760720"/>
            <a:ext cx="44330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❶ 먼저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3045" y="5760720"/>
            <a:ext cx="44330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❷ 다음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84968" y="5760720"/>
            <a:ext cx="215944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275070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6275070"/>
            <a:ext cx="338547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 = a++;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7698" y="6275070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a를 b에 대입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621" y="6275070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a를 1 증가 (a = 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21544" y="6275070"/>
            <a:ext cx="2086295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6912864"/>
            <a:ext cx="338547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 = ++a;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7698" y="6912864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a를 1 증가 (a = 12)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9621" y="6912864"/>
            <a:ext cx="435985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a를 b에 대입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21544" y="6912864"/>
            <a:ext cx="2086295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a++ 는 사진 먼저 찍고 키 크기, ++a 는 키 먼저 크고 사진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그림 4-5 · 소스 4-5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동전 교환 — 소스 4-6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60704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Project04_6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80236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money;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c500, c100, c50, c10;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Console.Write("교환할 돈은 얼마 ?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money = int.Parse(Console.ReadLine());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c500 = money / 500;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money %= 500;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c100 = money / 100;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money %= 100;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c50 = money / 50;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money %= 50;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c10 = money / 10;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money %= 10;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Console.WriteLine("\n오백원짜리 ==&gt; " + c500 + "개");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Console.WriteLine("백원짜리 ==&gt; " + c100 + "개");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Console.WriteLine("오십원짜리 ==&gt; " + c50 + "개");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Console.WriteLine("십원짜리 ==&gt; " + c10 + "개");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Console.WriteLine("바꾸지 못한 잔돈 ==&gt; " + money + "원");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2571750"/>
            <a:ext cx="5193792" cy="30861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070080" y="2571750"/>
            <a:ext cx="91440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0" y="2674620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(입력 7777)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2416" y="3024378"/>
            <a:ext cx="4389120" cy="25100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교환할 돈은 얼마 ? 7777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오백원짜리 ==&gt; 15개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백원짜리 ==&gt; 2개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오십원짜리 ==&gt; 1개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십원짜리 ==&gt; 2개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바꾸지 못한 잔돈 ==&gt; 7원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5915025"/>
            <a:ext cx="5193792" cy="27774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0" y="6110478"/>
            <a:ext cx="44622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핵심 두 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0" y="6737985"/>
            <a:ext cx="4462272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c500 = money / 500;</a:t>
            </a:r>
          </a:p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몫이 동전 개수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money %= 500;</a:t>
            </a:r>
          </a:p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나머지만 남긴다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%= 줄을 빼면 다음 동전 개수가 터무니없이 커진다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소스 4-6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money가 줄어드는 과정과 SELF STUDY 4-1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670657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9071" y="2571750"/>
            <a:ext cx="573219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60174" y="2571750"/>
            <a:ext cx="248424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남은 money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c500 = money / 500;  money %= 500;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5647" y="3086100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7777 / 500 = </a:t>
            </a: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나머지 277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96750" y="3086100"/>
            <a:ext cx="241108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62172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c100 = money / 100;  money %= 100;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5647" y="3662172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277 / 100 = </a:t>
            </a: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나머지 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96750" y="3662172"/>
            <a:ext cx="241108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238244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238244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c50 = money / 50;  money %= 50;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5647" y="4238244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77 / 50 = </a:t>
            </a: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나머지 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96750" y="4238244"/>
            <a:ext cx="241108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14316"/>
            <a:ext cx="663342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c10 = money / 10;  money %= 10;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5647" y="4814316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27 / 10 = </a:t>
            </a: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나머지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96750" y="4814316"/>
            <a:ext cx="241108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709285"/>
            <a:ext cx="9144000" cy="29832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5904738"/>
            <a:ext cx="84124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4-1 지폐 교환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6532245"/>
            <a:ext cx="8412480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소스 4-6의 틀은 그대로 두고 단위만 </a:t>
            </a:r>
            <a:r>
              <a:rPr sz="23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50000 · 10000 · 5000 · 1000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문구는 "개" → "장".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777777원은 int 범위 안이라 int로 충분하다.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5709285"/>
            <a:ext cx="6656832" cy="298323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0607040" y="5709285"/>
            <a:ext cx="91440" cy="298323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972800" y="5812155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정답 코드 실행 결과 (검증)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9376" y="6161913"/>
            <a:ext cx="5852160" cy="240715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지폐로 교환할 돈은 얼마 ? 777777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오만원짜리 ==&gt; 15장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만원짜리 ==&gt; 2장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오천원짜리 ==&gt; 1장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천원짜리 ==&gt; 2장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지폐로 바꾸지 못한 돈 ==&gt; 777원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2절 · SELF STUDY 4-1 · 그림 4-6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크다·작다·같다 — 비교 연산자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94944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06288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연산자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5382" y="2571750"/>
            <a:ext cx="400872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의미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86100"/>
            <a:ext cx="6949440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86100"/>
            <a:ext cx="198973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==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1958" y="3086100"/>
            <a:ext cx="393557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41598"/>
            <a:ext cx="198973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!=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1958" y="3641598"/>
            <a:ext cx="393557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같지 않다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197096"/>
            <a:ext cx="6949440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197096"/>
            <a:ext cx="198973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1958" y="4197096"/>
            <a:ext cx="393557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왼쪽이 크다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52594"/>
            <a:ext cx="198973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&lt;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1958" y="4752594"/>
            <a:ext cx="393557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왼쪽이 작다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308092"/>
            <a:ext cx="6949440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308092"/>
            <a:ext cx="198973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&gt;=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1958" y="5308092"/>
            <a:ext cx="393557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크거나 같다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63590"/>
            <a:ext cx="198973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&lt;=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1958" y="5863590"/>
            <a:ext cx="393557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작거나 같다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686550"/>
            <a:ext cx="6949440" cy="20059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426464" y="6861429"/>
            <a:ext cx="614476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= 와 == 는 다르다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7324344"/>
            <a:ext cx="6144768" cy="12241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= 는 넣어라, == 는 같은가? 결과는 True 또는 False 둘뿐.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2571750"/>
            <a:ext cx="8851392" cy="30861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778240" y="2674620"/>
            <a:ext cx="81198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Project04_7 · Main 안쪽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3168396"/>
            <a:ext cx="8046720" cy="23660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a = 100, b = 200;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Console.WriteLine("{0} == {1} 는  {2} 다.", a, b, a == b);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Console.WriteLine("{0} != {1} 는  {2} 다.", a, b, a != b);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Console.WriteLine("{0} &gt;  {1} 는  {2} 다.", a, b, a &gt; b);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Console.WriteLine("{0} &lt;  {1} 는  {2} 다.", a, b, a &lt; b);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Console.WriteLine("{0} &gt;= {1} 는  {2} 다.", a, b, a &gt;= b);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Console.WriteLine("{0} &lt;= {1} 는  {2} 다.", a, b, a &lt;= b);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5863590"/>
            <a:ext cx="8851392" cy="28289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412480" y="5863590"/>
            <a:ext cx="91440" cy="282892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5966460"/>
            <a:ext cx="81198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4816" y="6316218"/>
            <a:ext cx="8046720" cy="22528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== 200 는  False 다.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!= 200 는  True 다.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&gt;  200 는  False 다.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&lt;  200 는  True 다.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&gt;= 200 는  False 다.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&lt;= 200 는  True 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3절 · 표 4-3 · 소스 4-7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그리고·또는·아니다 — 논리 연산자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50985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연산자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2353" y="2571750"/>
            <a:ext cx="280903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0302" y="2571750"/>
            <a:ext cx="44330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12225" y="2571750"/>
            <a:ext cx="573219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사용 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86100"/>
            <a:ext cx="16239744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86100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&amp;&amp;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8929" y="3086100"/>
            <a:ext cx="273588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그리고(AND)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78" y="3086100"/>
            <a:ext cx="435985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둘 다 참이어야 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48801" y="3086100"/>
            <a:ext cx="56590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(a &gt;= 100) &amp;&amp; (a &lt;= 200)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03320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||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8929" y="3703320"/>
            <a:ext cx="273588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또는(OR)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78" y="3703320"/>
            <a:ext cx="435985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하나만 참이어도 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48801" y="3703320"/>
            <a:ext cx="56590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(a &gt;= 100) || (a &lt;= 200)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320540"/>
            <a:ext cx="16239744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320540"/>
            <a:ext cx="143670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8929" y="4320540"/>
            <a:ext cx="2735884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아니다(NOT)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6878" y="4320540"/>
            <a:ext cx="435985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참이면 거짓, 거짓이면 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48801" y="4320540"/>
            <a:ext cx="56590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!(a == 100)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5143500"/>
            <a:ext cx="10607040" cy="354901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89888" y="5246370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Project04_8 · Main 안쪽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5740146"/>
            <a:ext cx="9802368" cy="28289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a = 99;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Console.WriteLine("AND 연산 : {0}", (a &gt;= 100) &amp;&amp; (a &lt;= 200));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Console.WriteLine("OR 연산 : {0}", (a &gt;= 100) || (a &lt;= 200));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Console.WriteLine("NOT 연산 : {0}", !(a == 100));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070080" y="5143500"/>
            <a:ext cx="5193792" cy="354901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2070080" y="5143500"/>
            <a:ext cx="91440" cy="354901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435840" y="5246370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(a = 99)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72416" y="5596128"/>
            <a:ext cx="4389120" cy="29729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AND 연산 : False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OR 연산 : True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NOT 연산 : True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100 &lt;= a &lt;= 200 처럼 수학식으로 쓰면 컴파일 오류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4절 · 표 4-4 · 소스 4-8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2진수 자리끼리 계산하는 비트 연산자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08264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연산자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5145" y="2571750"/>
            <a:ext cx="355518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9244" y="2571750"/>
            <a:ext cx="355518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규칙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86100"/>
            <a:ext cx="9509760" cy="56578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86100"/>
            <a:ext cx="100949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1721" y="3086100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비트 논리곱(AND)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5820" y="3086100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둘 다 1이면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1885"/>
            <a:ext cx="100949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1721" y="3651885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비트 논리합(OR)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5820" y="3651885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하나만 1이면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217670"/>
            <a:ext cx="9509760" cy="56578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217670"/>
            <a:ext cx="100949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^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1721" y="4217670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배타적 논리합(XOR)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5820" y="4217670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같으면 0, 다르면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83455"/>
            <a:ext cx="100949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~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1721" y="4783455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비트 부정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5820" y="4783455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1은 0, 0은 1로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349240"/>
            <a:ext cx="9509760" cy="56578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5349240"/>
            <a:ext cx="100949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&lt;&lt;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1721" y="5349240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5820" y="5349240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왼쪽으로 시프트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915025"/>
            <a:ext cx="1009497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&gt;&gt;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1721" y="5915025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오른쪽 이동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5820" y="5915025"/>
            <a:ext cx="3482035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오른쪽으로 시프트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0" y="2571750"/>
            <a:ext cx="629107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192256" y="2571750"/>
            <a:ext cx="8193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50470" y="2571750"/>
            <a:ext cx="8193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08684" y="2571750"/>
            <a:ext cx="8193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A&amp;B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66899" y="2571750"/>
            <a:ext cx="8193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A|B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25113" y="2571750"/>
            <a:ext cx="8193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A^B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0" y="3086100"/>
            <a:ext cx="6291072" cy="56578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1228832" y="308610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87046" y="308610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45260" y="308610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03475" y="308610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61689" y="308610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28832" y="365188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87046" y="365188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45260" y="365188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03475" y="365188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261689" y="365188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72800" y="4217670"/>
            <a:ext cx="6291072" cy="56578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1228832" y="421767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487046" y="421767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45260" y="421767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03475" y="421767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261689" y="4217670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28832" y="478345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487046" y="478345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45260" y="478345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003475" y="478345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261689" y="4783455"/>
            <a:ext cx="746150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972800" y="5554980"/>
            <a:ext cx="6291072" cy="31375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1338560" y="5750433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&amp;&amp; 와 &amp; 는 다르다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377940"/>
            <a:ext cx="5559552" cy="21911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&amp;&amp; → 결과가 True / False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&amp; → 자리마다의 1 / 0이 모인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정수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받아올림은 없다.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5절 · 표 4-5 · 그림 4-8~4-10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10과 7로 손 계산 — &amp; | ^ 와 소스 4-9~4-11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193792" cy="252031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252031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10 &amp; 7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4389120" cy="19442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2진수        10진수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1  0  1  0   ← 10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&amp;  0  1  1  1   ← 7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------------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0  0  1  0   →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47104" y="2571750"/>
            <a:ext cx="5193792" cy="252031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47104" y="2571750"/>
            <a:ext cx="91440" cy="252031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12864" y="2674620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10 | 7 =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24378"/>
            <a:ext cx="4389120" cy="19442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2진수        10진수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1  0  1  0   ← 10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|  0  1  1  1   ← 7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------------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1  1  1  1   →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0" y="2571750"/>
            <a:ext cx="5193792" cy="252031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2070080" y="2571750"/>
            <a:ext cx="91440" cy="252031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435840" y="2674620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10 ^ 7 =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2416" y="3024378"/>
            <a:ext cx="4389120" cy="19442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2진수        10진수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1  0  1  0   ← 10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^  0  1  1  1   ← 7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------------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1  1  0  1   → 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297805"/>
            <a:ext cx="10607040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5400675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세 소스의 Main 안쪽을 모아 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894451"/>
            <a:ext cx="9802368" cy="26746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4-9 비트 논리곱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 &amp; 7 ==&gt; " + (10 &amp; 7));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Console.WriteLine("123 &amp; 456 ==&gt; " + (123 &amp; 456));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Console.WriteLine("0xFFFF &amp; 0x0000 ==&gt; " + (0xFFFF &amp; 0x0000));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4-10 비트 논리합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 | 7 ==&gt; " + (10 | 7));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Console.WriteLine("123 | 456 ==&gt; " + (123 | 456));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Console.WriteLine("0xFFFF | 0x0000 ==&gt; " + (0xFFFF | 0x0000));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4-11 비트 배타적 논리합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Console.WriteLine("10 ^ 7 ==&gt; " + (10 ^ 7));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Console.WriteLine("123 ^ 456 ==&gt; " + (123 ^ 456));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Console.WriteLine("0xFFFF ^ 0x0000 ==&gt; " + (0xFFFF ^ 0x0000));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70080" y="5297805"/>
            <a:ext cx="5193792" cy="339471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2070080" y="5297805"/>
            <a:ext cx="91440" cy="339471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435840" y="5400675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72416" y="5750433"/>
            <a:ext cx="4389120" cy="281863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 &amp; 7 ==&gt; 2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 &amp; 456 ==&gt; 72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0xFFFF &amp; 0x0000 ==&gt; 0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 | 7 ==&gt; 15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 | 456 ==&gt; 507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0xFFFF | 0x0000 ==&gt; 65535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 ^ 7 ==&gt; 13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 ^ 456 ==&gt; 435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0xFFFF ^ 0x0000 ==&gt; 65535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(10 &amp; 7)의 괄호 필수 — + 가 &amp; 보다 먼저라 빼면 컴파일 오류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5절 · 그림 4-8~4-10 · 소스 4-9~4-11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마스크로 거르기 — 소스 4-12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1338560" cy="354901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607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Project04_12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533888" cy="28289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 ch1 = 'A';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mask = 0x0F;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Console.WriteLine("{0:X} &amp; {1:X} = {2:X} ", Convert.ToString(ch1, 16), mask, ch1 &amp; mask);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Console.WriteLine("{0:X} | {1:X} = {2:X} ", Convert.ToString(ch1, 16), mask, ch1 | mask);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mask = 'a' - 'A';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char ch2 = (char)(ch1 ^ mask);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Console.WriteLine("{0:C} ^ {1:D} = {2:C} ", ch1, mask, ch2);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ch1 = (char)(ch2 ^ mask);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Console.WriteLine("{0:C} ^ {1:D} = {2:C} ", ch2, mask, ch1);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0" y="2571750"/>
            <a:ext cx="4462272" cy="20574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801600" y="2571750"/>
            <a:ext cx="91440" cy="20574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167360" y="2674620"/>
            <a:ext cx="37307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03936" y="3024378"/>
            <a:ext cx="3657600" cy="1481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41 &amp; F = 1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41 | F = 4F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 ^ 32 = a</a:t>
            </a:r>
          </a:p>
          <a:p>
            <a:pPr>
              <a:lnSpc>
                <a:spcPct val="132000"/>
              </a:lnSpc>
            </a:pPr>
            <a:r>
              <a:rPr sz="16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 ^ 32 =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0" y="4834890"/>
            <a:ext cx="4462272" cy="128587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167360" y="4978908"/>
            <a:ext cx="3730752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마스크(mask)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0" y="5488114"/>
            <a:ext cx="3730752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무언가를 걸러 주는 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377940"/>
            <a:ext cx="7936992" cy="231457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24128" y="6377940"/>
            <a:ext cx="91440" cy="231457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648081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&amp; 0x0F — 앞은 0000, 뒤는 원래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6830568"/>
            <a:ext cx="7132320" cy="173850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0100  0001   ← A는 0x41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&amp;    0000  1111   ← 마스크(0x0F)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------------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0000  0001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(무조건 0000)(원래 값)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6377940"/>
            <a:ext cx="7936992" cy="231457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326880" y="6377940"/>
            <a:ext cx="91440" cy="231457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0" y="648081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| 0x0F — 앞은 원래 값, 뒤는 1111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6830568"/>
            <a:ext cx="7132320" cy="173850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0100  0001   ← A는 0x41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|    0000  1111   ← 마스크(0x0F)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------------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0100  1111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(원래 값)(무조건 1111)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5절 · 소스 4-12 · 그림 4-11, 4-12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XOR로 대소문자 뒤집기, ~ 로 비트 뒤집기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22631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22631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84124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'A' ^ 32 = 'a'  (한 번 더 하면 다시 'A')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8339328" cy="16870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0100  0001   ← 'A' (0x41)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^    0010  0000   ← 32 (0x20)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------------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0110  0001   → 'a' (0x61)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092065"/>
            <a:ext cx="9144000" cy="360045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5287518"/>
            <a:ext cx="84124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대소문자 스위치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5915025"/>
            <a:ext cx="8412480" cy="26540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'a' - 'A' = 0x20 =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char ch2 = (char)(ch1 ^ mask);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^ 의 결과는 int라서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(char) 캐스트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 필요하다.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2571750"/>
            <a:ext cx="6565392" cy="16459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064240" y="2674620"/>
            <a:ext cx="58338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4-13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0816" y="3168396"/>
            <a:ext cx="5760720" cy="9258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 = 12345;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Console.WriteLine(~ n + 1);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98480" y="4423410"/>
            <a:ext cx="6565392" cy="12344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698480" y="4423410"/>
            <a:ext cx="91440" cy="12344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064240" y="4526280"/>
            <a:ext cx="58338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0816" y="4876038"/>
            <a:ext cx="5760720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8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-12345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98480" y="5915025"/>
            <a:ext cx="6565392" cy="27774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064240" y="6110478"/>
            <a:ext cx="58338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1의 보수 · 2의 보수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737985"/>
            <a:ext cx="5833872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~n → 모든 비트 반전(1의 보수)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~n + 1 → 2의 보수 = </a:t>
            </a:r>
            <a:r>
              <a:rPr sz="17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-n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~12345만 찍으면 -12346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5절 · 소스 4-12, 4-13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비트를 밀어서 곱하고 나누기 — 시프트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4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195" y="2664333"/>
            <a:ext cx="4916858" cy="26540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41096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41096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4-13 발췌 — 26 &lt;&lt; 2 = 104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571750"/>
            <a:ext cx="7936992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4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493" y="2664333"/>
            <a:ext cx="5067765" cy="265404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326880" y="541096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82912" y="541096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4-14 발췌 — 26 &gt;&gt; 2 =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120765"/>
            <a:ext cx="11338560" cy="25717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6223635"/>
            <a:ext cx="10607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Project04_14 · 04_15 · Main 안쪽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717411"/>
            <a:ext cx="10533888" cy="18516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4-14 (int n = 10;)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 (n &lt;&lt; 1) + "," + (n &lt;&lt; 2) + "," + (n &lt;&lt; 3) + "," + (n &lt;&lt; 4));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소스 4-15 (int n = 10;)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Console.WriteLine((n &gt;&gt; 1) + "," + (n &gt;&gt; 2) + "," + (n &gt;&gt; 3) + "," + (n &gt;&gt; 4));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0" y="6120765"/>
            <a:ext cx="4462272" cy="25717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801600" y="6120765"/>
            <a:ext cx="91440" cy="25717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167360" y="6223635"/>
            <a:ext cx="37307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03936" y="6573393"/>
            <a:ext cx="3657600" cy="19956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7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20,40,80,160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5,2,1,0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&lt;&lt; 한 칸 = ×2,  &gt;&gt; 한 칸 = ÷2(나머지 버림)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5절 · 그림 4-13, 4-14 · 소스 4-14, 4-15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시프트와 반복문 — 소스 4-16과 SELF STUDY 4-2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Project04_16 · Main 안쪽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n = 100, result 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(int i = 1; i &lt; 5; i++)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n &lt;&lt; i;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Console.WriteLine("{0:D} &lt;&lt; {1:D} = {2:D} ", n, i, result);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(int i = 1; i &lt; 5; i++)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n &gt;&gt; i;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Console.WriteLine("{0:D} &gt;&gt; {1:D} = {2:D} ", n, i, result);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298323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298323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240715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&lt;&lt; 1 = 200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&lt;&lt; 2 = 400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&lt;&lt; 3 = 800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&lt;&lt; 4 = 1600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&gt;&gt; 1 = 50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&gt;&gt; 2 = 25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&gt;&gt; 3 = 12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 &gt;&gt; 4 =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5812155"/>
            <a:ext cx="6656832" cy="28803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6007608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4-2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635115"/>
            <a:ext cx="5925312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숫자와 횟수를 입력받게 바꾼다.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① n = int.Parse(Console.ReadLine());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조건 i &lt; 5 → </a:t>
            </a:r>
            <a:r>
              <a:rPr sz="20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i &lt;= count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입력 50, 3 → 100·200·400 / 25·12·6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5절 · 소스 4-16 · SELF STUDY 4-2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누가 먼저 계산되나 — 연산자 우선순위 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94944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4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233" y="2664333"/>
            <a:ext cx="4351229" cy="54829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694944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643737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표 4-6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571750"/>
            <a:ext cx="8851392" cy="30861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78240" y="2767203"/>
            <a:ext cx="81198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외우는 요령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394710"/>
            <a:ext cx="811987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단항 → 곱셈류 → 덧셈류 → 시프트 → 크기 비교 → 같다·다르다 → &amp; ^ | → &amp;&amp; || → </a:t>
            </a: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대입(꼴찌)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5863590"/>
            <a:ext cx="8851392" cy="282892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14816" y="6038469"/>
            <a:ext cx="804672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표 4·5행은 칸이 어긋나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6501384"/>
            <a:ext cx="8046720" cy="2047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4위는 switch·with 식이고 &lt;&lt; &gt;&gt;는 8위(시프트) 한 곳뿐. 범위(..)·switch·with 식은 C# 8 이후 문법이라 C# 7.3에선 쓰지 않는다.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(num &amp; 1) == 1 에 괄호가 필요한 이유 — == 가 &amp; 보다 먼저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6절 · 표 4-6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터틀 그래픽 — NuGet으로 설치하기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22631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5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495" y="2664333"/>
            <a:ext cx="5221009" cy="16253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38226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38226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4-16 발췌 — 터틀 그래픽으로 실행한 화면의 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09206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4128" y="511778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3" y="4881181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[새 프로젝트] → </a:t>
            </a:r>
            <a:r>
              <a:rPr sz="23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[Windows Forms 앱(.NET Framework)]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이름 Project04_17, C:\CookC#, 4.8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956173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24128" y="5981890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3" y="5745289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메뉴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[프로젝트] - [NuGet 패키지 관리]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820281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24128" y="6845998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2223" y="6609397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[찾아보기]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nakov 입력 →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Nakov.TurtleGraphics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&lt;설치&gt; → &lt;OK&gt;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7684389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24128" y="7710106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2223" y="7473505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"설치됨: 2.0.2.1" 확인 →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NuGet 창을 닫는다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· 실습 4-1 ①~⑤ · 그림 4-17~4-21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패키지 설치 화면과 폼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34975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5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227" y="2664333"/>
            <a:ext cx="6719562" cy="28597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616702"/>
            <a:ext cx="95097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616702"/>
            <a:ext cx="89976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4-20 발췌 — NuGet에서 패키지 검색 및 설치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9648" y="2571750"/>
            <a:ext cx="6364224" cy="34975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5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9339" y="2664333"/>
            <a:ext cx="5344841" cy="285978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899648" y="5616702"/>
            <a:ext cx="636422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155680" y="5616702"/>
            <a:ext cx="58521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4-22 발췌 — 그리기 버튼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326505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43584" y="6326505"/>
            <a:ext cx="215944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1943" y="6326505"/>
            <a:ext cx="28090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9891" y="6326505"/>
            <a:ext cx="215944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8250" y="6326505"/>
            <a:ext cx="735616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5C22"/>
                </a:solidFill>
                <a:latin typeface="페이퍼로지 8 ExtraBold"/>
                <a:ea typeface="페이퍼로지 8 ExtraBold"/>
                <a:cs typeface="페이퍼로지 8 ExtraBold"/>
              </a:rPr>
              <a:t>배치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820281"/>
            <a:ext cx="16239744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6820281"/>
            <a:ext cx="208629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8519" y="6820281"/>
            <a:ext cx="273588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6467" y="6820281"/>
            <a:ext cx="208629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4826" y="6820281"/>
            <a:ext cx="7283013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[디자인] 창에서 정사각형에 가깝게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7375779"/>
            <a:ext cx="208629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519" y="7375779"/>
            <a:ext cx="273588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btn_draw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6467" y="7375779"/>
            <a:ext cx="208629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그리기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826" y="7375779"/>
            <a:ext cx="7283013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 위 ([도구 상자] - [공용 컨트롤])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7931277"/>
            <a:ext cx="16239744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80160" y="7931277"/>
            <a:ext cx="208629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78519" y="7931277"/>
            <a:ext cx="273588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btn_init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26467" y="7931277"/>
            <a:ext cx="208629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4826" y="7931277"/>
            <a:ext cx="7283013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btn_draw 바로 아래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· 실습 4-1 ④, ⑥, ⑦ · 그림 4-20, 4-22, 4-23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첫 거북이 코드 — 소스 4-17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Form1.cs (Project04_17)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자동 추가된 using은 생략함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using Nakov.TurtleGraphics;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namespace Project04_17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public partial class Form1 : Form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    // (8~12행: 자동 생성된 생성자 — 교재에서 생략)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private void btn_draw_Click(object sender, EventArgs 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Turtle.Forward();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private void btn_init_Click(object sender, EventArgs 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Turtle.Init();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571750"/>
            <a:ext cx="5559552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5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962" y="2664333"/>
            <a:ext cx="3692267" cy="244830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704320" y="5205222"/>
            <a:ext cx="555955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960352" y="5205222"/>
            <a:ext cx="504748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4-24 발췌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5863590"/>
            <a:ext cx="5559552" cy="28289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0" y="6059043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순서가 중요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6686550"/>
            <a:ext cx="4828032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버튼을 </a:t>
            </a:r>
            <a:r>
              <a:rPr sz="21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더블클릭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해 메서드를 만든 뒤 한 줄씩 넣는다.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Forward() → 10픽셀 전진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Init() → 초기화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메서드를 손으로 치면 버튼과 연결되지 않는다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· 실습 4-1 ⑧~⑨ · 소스 4-17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거북이 명령 ① — 속도·회전·앞뒤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778240" cy="24688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046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btn_draw_Click 안에 넣어 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973568" cy="17487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Turtle.Delay = 500;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Turtle.Rotate(45);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Turtle.Forward(100);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Turtle.Rotate(45);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Turtle.Backward(100);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297805"/>
            <a:ext cx="8778240" cy="33947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5493258"/>
            <a:ext cx="80467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명령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6120765"/>
            <a:ext cx="8046720" cy="24483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Turtle.Delay = 500; → 속도(밀리초), 0이면 즉시 이동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Turtle.Rotate(45); → </a:t>
            </a:r>
            <a:r>
              <a:rPr sz="22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오른쪽으로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45° 회전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Turtle.Forward(100); / Backward(100); → 머리 방향 기준 앞·뒤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2571750"/>
            <a:ext cx="7022592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p6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3189077"/>
            <a:ext cx="6693408" cy="443348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241280" y="8239887"/>
            <a:ext cx="70225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97312" y="8239887"/>
            <a:ext cx="65105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4-25 발췌 — 여러 번 클릭함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· 그림 4-25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거북이 명령 ② — 펜과 좌표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778240" cy="38061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046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펜 들고 내리며 점선 원 그리기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973568" cy="3086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Turtle.PenColor = Color.Red;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Turtle.PenUp();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Turtle.MoveTo(-150, 0);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(int i = 0; i &lt; 9; i++)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Turtle.PenDown();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Turtle.Rotate(20);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Turtle.Forward(50);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Turtle.PenUp();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Turtle.Rotate(20);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Turtle.Forward(50);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583680"/>
            <a:ext cx="8778240" cy="21088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6779133"/>
            <a:ext cx="804672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좌표는 화면 중앙이 (0, 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406640"/>
            <a:ext cx="8046720" cy="1162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MoveTo(좌우, 상하) — 양수는 오른쪽·위쪽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PenUp() 선 없이 이동 / PenDown() 다시 그림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2571750"/>
            <a:ext cx="7022592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p6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186" y="2664333"/>
            <a:ext cx="5280779" cy="548297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241280" y="8239887"/>
            <a:ext cx="70225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97312" y="8239887"/>
            <a:ext cx="65105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4-26 발췌 — 펜 설정과 좌표 이동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20° 그리기 + 20° 건너뛰기 × 9번 = 360° 점선 원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· 그림 4-26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마음대로 이동하는 거북이 ① — 소스 4-18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60704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btn_draw_Click 본문 (Project04_18) — 앞부분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80236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swidth = 400, sheight = 400, exitCount = 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r, g, b, angle, dist;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float curX, curY;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this.Text = "거북이가 맘대로 다니기";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this.ClientSize = new Size(sheight, swidth);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Random rnd = new Random();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Turtle.Delay = 200;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while(true)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r = rnd.Next(0, 256);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g = rnd.Next(0, 256);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b = rnd.Next(0, 256);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Turtle.PenColor = Color.FromArgb(r, g, g);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angle = rnd.Next(0, 360);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dist = rnd.Next(1, 100);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Turtle.Rotate(angle);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Turtle.Forward(dist);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curX = Turtle.X;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curY = Turtle.Y;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2571750"/>
            <a:ext cx="5193792" cy="339471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67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827" y="2664333"/>
            <a:ext cx="2578298" cy="275691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2070080" y="5513832"/>
            <a:ext cx="51937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326112" y="5513832"/>
            <a:ext cx="468172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실행 화면 발췌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6172200"/>
            <a:ext cx="5193792" cy="252031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0" y="6367653"/>
            <a:ext cx="44622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0" y="6995160"/>
            <a:ext cx="4462272" cy="1573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rnd.Next(최소, 최대) → </a:t>
            </a:r>
            <a:r>
              <a:rPr sz="18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최소 이상 최대 미만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 0~255 · 각도 0~359 · 거리 1~99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FromArgb(r, g, g)는 교재 오탈자 — 세 번째는 b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· 소스 4-18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마음대로 이동하는 거북이 ② — 울타리 검사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4-18 — 뒷부분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if((-swidth / 2 &lt;= curX &amp;&amp; curX &lt;= swidth / 2) &amp;&amp;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(-swidth / 2 &lt;= curY &amp;&amp; curY &lt;= swidth / 2))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else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Turtle.PenUp();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Turtle.MoveTo(0, 0);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Turtle.PenDown();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exitCount++;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if(exitCount == 5)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break;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← 교재 슬라이드는 여기서 잘림: while을 닫는 } 가 하나 더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571750"/>
            <a:ext cx="5559552" cy="43205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070080" y="2767203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0" y="3394710"/>
            <a:ext cx="4828032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창 안(±200)이면 → 아무것도 안 함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벗어나면 → 펜 들고 (0, 0)으로, 펜 내리고 exitCount++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5번 벗어나면 break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149465"/>
            <a:ext cx="16239744" cy="154305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26464" y="7324344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교재 코드 바로잡기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7787259"/>
            <a:ext cx="15435071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while을 닫는 } 추가 · FromArgb(r, g, b) · Size(swidth, sheight) — 뒤의 둘은 400 × 400이라 결과는 같다. 설명문의 300 × 300도 코드로는 400.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· 소스 4-18 · if ~ else 형식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응용 — 거북이로 2진수 표현하기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btn_draw_Click 반복 부분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Turtle.Delay = 200;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(int i=0; i &lt; binary.Length;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Turtle.PenUp();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Turtle.MoveTo(curX, curY);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Turtle.PenDown();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 (num &amp; 1) == 1)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Turtle.PenColor = Color.Red;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Turtle.PenSize = 10;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Turtle.Forward(80);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Turtle.PenColor = Color.Blue;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Turtle.PenSize = 5;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Turtle.Forward(40);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curX -= 50;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 &gt;&gt;= 1;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2571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68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9965" y="2664333"/>
            <a:ext cx="4530982" cy="19339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607040" y="4690872"/>
            <a:ext cx="665683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863072" y="4690872"/>
            <a:ext cx="614476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실행 화면 발췌 — 682 = 1010101010₂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5349240"/>
            <a:ext cx="6656832" cy="334327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5544693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마스크와 시프트의 합작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172200"/>
            <a:ext cx="5925312" cy="2396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binary = Convert.ToString(num, 2);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(num &amp; 1) == 1 → 끝 비트가 1이면 빨간 긴 막대, 0이면 파란 짧은 막대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&gt;&gt;= 1 → 다음 비트를 끝으로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폼에 TextBox tb_num 추가 — 절차는 교재에 없음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7절 (소스 번호 없음)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자가 점검 — 결과를 보고 코드를 떠올리기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04 · 계산 규칙과 거북이 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412301"/>
            <a:ext cx="1547164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* 3 / 4 =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1.50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이 나오게 하려면? → a * b / (float)c 와 {3:F}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3298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35870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173539"/>
            <a:ext cx="1547164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7777 → 15·2·1·2개, 잔돈 7원 →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/ 로 몫, %= 로 나머지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네 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09422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11994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934777"/>
            <a:ext cx="1547164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 &amp; 7, 10 | 7, 10 ^ 7 →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2, 15, 13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/ 26 &lt;&lt; 2, 26 &gt;&gt; 2 →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104, 6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85546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488118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696015"/>
            <a:ext cx="1547164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 a = 10, b; b = a++; b = ++a; → 출력 </a:t>
            </a:r>
            <a:r>
              <a:rPr sz="2500" b="0" lang="ko-KR" altLang="en-US">
                <a:solidFill>
                  <a:srgbClr val="B05C22"/>
                </a:solidFill>
                <a:latin typeface="프리젠테이션 5 Medium"/>
                <a:ea typeface="프리젠테이션 5 Medium"/>
                <a:cs typeface="프리젠테이션 5 Medium"/>
              </a:rPr>
              <a:t>10, 12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812155"/>
            <a:ext cx="16239744" cy="154305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600760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 과목의 시험 스타일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6635115"/>
            <a:ext cx="15508224" cy="5966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"실행 결과 화면만 주고 → 코드를 짜시오". 동전 교환·비교 결과 표·비트 연산·시프트 반복이 이 장의 단골.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509510"/>
            <a:ext cx="16239744" cy="11830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7653528"/>
            <a:ext cx="15508224" cy="4022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예고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8127758"/>
            <a:ext cx="15508224" cy="441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CH05 조건에 따라 갈라지는 코드 — if · 삼항 · switch · 띠 계산.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4장 전체 · 본문 질문 · SELF STUDY 4-1, 4-2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