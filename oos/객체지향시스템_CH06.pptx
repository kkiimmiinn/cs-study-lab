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저작권 안내. 인용 근거(저작권법 28조·37조 출처명시)와 자체 제작 원칙을 밝혀 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6장은 반복문. 목표는 두 가지 — 반복이 도는 순서를 표로 추적할 수 있고, 결과 화면을 보고 반복 구조를 떠올릴 수 있는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완성품부터 보여 준다. 가로 구구단은 [소스 6-13], 마름모는 [소스 6-23]. 두 결과 모두 진짜 컴파일러 출력이다. 가로 구구단은 각 줄 끝에 공백이 한 칸씩 있지만 화면에는 보이지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백 번, 천 번, 만 번이라면 복사·붙여넣기로도 무리 — 이것이 반복문의 필요성. 7행 WriteLine은 한 번만 썼는데 결과는 [소스 6-1]과 같다.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부분은 세미콜론으로 나눈다. 반복할 문장이 하나면 중괄호 생략 가능. i++는 i = i + 1, i += 1과 같다. 운동장 비유 — 출발선 한 번, 돌 때마다 확인, 한 바퀴, 바퀴 세기.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교재가 제1회~제12회로 풀어 쓴 흐름을 표 하나로. 핵심은 ❷ — 초깃값 바로 다음에 조건부터 본다. 증감식은 조건 확인 직후가 아니라 반복할 문장을 실행한 뒤에 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4~8행은 두 문장이 한 묶음으로 3번. 10행 빈 WriteLine은 빈 줄. 파이썬 습관으로 들여쓰기만 믿으면 틀린다.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초깃값 크게, 조건식 &gt;, 증감식 i--. 7행 {0}에 현재 i가 들어가서 몇 번째인지 보인다.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10까지는 손으로 쓰지만 1000까지라면? 의사 코드: hap 준비·초기화 → i가 1부터 10까지 → hap에 i를 더함.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표를 칠판에 그리며 한 줄씩. i가 11이 되는 순간 조건이 거짓이라 55에서 멈춘다.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검산: (501 + 999) × 250 ÷ 2 = 187500. SELF STUDY는 if (i % 3 == 0)로도 풀 수 있지만 100번 대신 33번만 도는 풀이가 효율적.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조건식에 변수를 쓰면 반복 횟수가 실행할 때마다 달라진다. 끝값 300은 밟지 않는다 — 299 다음이 302.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3장의 {0} 순번에 폭과 서식이 붙은 것. 7은 " 7"이 되어 두 자리 결과와 줄이 맞는다.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안쪽 문장 실행 횟수 = 3 × 2 = 6. 7행 닫는 따옴표 뒤 " , i, k"의 공백은 교재 원문 그대로이며 문법상 상관없다.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&lt; 10은 i &lt;= 9와 같다. 제목을 안쪽 for에 넣으면 곱셈 한 줄마다 제목이 붙는다 — 몇 번 찍혀야 하는지부터 센다.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세로 구구단과 i·k의 역할이 바뀐다는 점이 핵심. 그림의 파란 화살표 1회~9회가 출력되는 줄 하나하나.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3행 문자열 누적 변수는 합계의 hap = 0과 같은 역할(문자열에서는 빈 문자열이 0). 공백 모양: 제목 조각 " #" + i + "단# " → 첫 제목 앞 1칸, 제목 사이 2칸. 칸마다 끝 공백 1칸.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for를 모두 줄여 가는 for로. 교재 결과 화면에 9X1 줄까지 있으므로 줄 반복만 1까지 내려간다 — 조건식 세 개가 서로 다르다.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while은 조건식이 참인 동안 반복하고, }에 닿으면 조건식으로 돌아간다. ②처럼 for 칸을 비워 두는 것도 문법상 허용.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[소스 6-14]는 [소스 6-2]를 while로 바꾼 것 — 문장 3번 출력. for는 증감식이 괄호에 보이지만 while은 스스로 챙겨야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22+33=55, 123+4478=4601까지 찍고 다음 값1을 기다린다 — 컴파일러로 확인. for (;;)는 일반 C# 문법 보강.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6행 bool.Parse는 문자열 true/false를 bool로. while은 먼저 검사해서 0번, do~while은 먼저 실행해서 최소 1번.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while (true) + if … break는 가장 흔한 짝꿍. 0을 넣으면 값2는 묻지도 않고 18행으로 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8행 i % 3 == 0은 3의 배수. continue는 11행을 건너뛰고 for의 증감식으로. 출력 앞 공백 한 칸은 문자열 첫 공백 때문.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62까지의 합 1953, 63에서 2016이 되어 점프. 레이블 mygoto:는 맨 왼쪽에 둔다. return은 메서드를 끝내고 호출한 곳으로 — 지금은 'Main에서 만나면 프로그램 종료'. CS0162 '접근할 수 없는 코드가 있습니다'는 오류가 아니라 경고라 실행은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5번째 줄까지 공백 −2, 별 +2. 6번째 줄부터 공백 +2, 별 −2. 규칙이 둘이라 if (i &lt; 5) / else로 나눈다. 산 모양 — 오를 때와 내릴 때 공식이 다르다.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바깥 while이 줄, 안쪽 while 두 개가 공백과 별. 중첩 for의 '안쪽 초깃값은 매번 다시'를 while로 직접 쓴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26행 공백 i − 4회, 32행 별 (9 − i) × 2 − 1개, 38행 WriteLine으로 줄바꿈, 39행 i += 1이 바깥 증감식.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8장 while → for 변환 규칙의 역방향. 안쪽이 한 문장씩이라 중괄호도 생략. for가 '횟수가 정해진 반복'에 어울린다는 것을 몸으로 확인하는 문제.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str[0]은 첫 글자(번호는 0부터 — 7장 배열과 같은 규칙). - '0'을 빼먹으면 코드값 49가 들어간다.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반복문 문제는 머릿속으로 돌리지 말고 i | 조건 | 동작 | 누적값 표를 그리면 실수가 없다. 다음 장 배열에서 for가 주인공이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80160" y="2777490"/>
            <a:ext cx="128016" cy="308610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0" y="2859786"/>
            <a:ext cx="1463040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 · 컴퓨터및소프트웨어공학전공(박사과정)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35858"/>
            <a:ext cx="14630400" cy="1440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객체지향시스템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5102352"/>
            <a:ext cx="987552" cy="473202"/>
          </a:xfrm>
          <a:prstGeom prst="roundRect">
            <a:avLst>
              <a:gd name="adj" fmla="val 20000"/>
            </a:avLst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828800" y="5133213"/>
            <a:ext cx="98755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35808" y="5102352"/>
            <a:ext cx="1280160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900" b="0" lang="ko-KR" altLang="en-US">
                <a:solidFill>
                  <a:srgbClr val="CFC7E2"/>
                </a:solidFill>
                <a:latin typeface="페이퍼로지 6 SemiBold"/>
                <a:ea typeface="페이퍼로지 6 SemiBold"/>
                <a:cs typeface="페이퍼로지 6 SemiBold"/>
              </a:rPr>
              <a:t>CHAPTER 06  ·  반복을 맡기는 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6480810"/>
            <a:ext cx="15727680" cy="12344"/>
          </a:xfrm>
          <a:prstGeom prst="rect">
            <a:avLst/>
          </a:prstGeom>
          <a:solidFill>
            <a:srgbClr val="4A3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80160" y="6737985"/>
            <a:ext cx="14630400" cy="1028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25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참고 교재  우재남, 『C# 프로그래밍 for Beginner』 (한빛아카데미)</a:t>
            </a:r>
          </a:p>
          <a:p>
            <a:pPr algn="l">
              <a:lnSpc>
                <a:spcPct val="170000"/>
              </a:lnSpc>
            </a:pPr>
            <a:r>
              <a:rPr sz="25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정리  김민  ·  대학원 학습·연구용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이 자료에 대하여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8" y="257175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3E7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24128" y="259746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92223" y="2299144"/>
            <a:ext cx="15471648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교재는 </a:t>
            </a:r>
            <a:r>
              <a:rPr sz="2200" b="0" lang="ko-KR" altLang="en-US">
                <a:solidFill>
                  <a:srgbClr val="3E7D2A"/>
                </a:solidFill>
                <a:latin typeface="프리젠테이션 5 Medium"/>
                <a:ea typeface="프리젠테이션 5 Medium"/>
                <a:cs typeface="프리젠테이션 5 Medium"/>
              </a:rPr>
              <a:t>수업 진도에 맞춘 참고용</a:t>
            </a: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이다 — 목차와 개념 체계를 참고하되, 내용은 직접 조사해 재구성·각색했다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" y="3559302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3E7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24128" y="3585019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92223" y="3286696"/>
            <a:ext cx="15471648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교재의 그림·내용 일부를 </a:t>
            </a:r>
            <a:r>
              <a:rPr sz="2100" b="0" lang="ko-KR" altLang="en-US">
                <a:solidFill>
                  <a:srgbClr val="3E7D2A"/>
                </a:solidFill>
                <a:latin typeface="프리젠테이션 5 Medium"/>
                <a:ea typeface="프리젠테이션 5 Medium"/>
                <a:cs typeface="프리젠테이션 5 Medium"/>
              </a:rPr>
              <a:t>저작권법 제28조(공표된 저작물의 인용)</a:t>
            </a: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에 따라 교육·연구 목적으로 발췌·인용하고, 각 슬라이드에 출처(교재 절·그림 번호)를 명시했다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" y="4546854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3E7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24128" y="4572571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92223" y="4274248"/>
            <a:ext cx="15471648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도표·그래프·예시 그림은 교재 것을 쓰지 않고 </a:t>
            </a:r>
            <a:r>
              <a:rPr sz="2900" b="0" lang="ko-KR" altLang="en-US">
                <a:solidFill>
                  <a:srgbClr val="3E7D2A"/>
                </a:solidFill>
                <a:latin typeface="프리젠테이션 5 Medium"/>
                <a:ea typeface="프리젠테이션 5 Medium"/>
                <a:cs typeface="프리젠테이션 5 Medium"/>
              </a:rPr>
              <a:t>전부 직접 제작</a:t>
            </a:r>
            <a:r>
              <a:rPr sz="2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했다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5863590"/>
            <a:ext cx="16239744" cy="1594485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426464" y="6038469"/>
            <a:ext cx="15435071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이용 범위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26464" y="6501384"/>
            <a:ext cx="15435071" cy="8126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 자료는 </a:t>
            </a:r>
            <a:r>
              <a:rPr sz="1900" b="0" lang="ko-KR" altLang="en-US">
                <a:solidFill>
                  <a:srgbClr val="3E7D2A"/>
                </a:solidFill>
                <a:latin typeface="프리젠테이션 5 Medium"/>
                <a:ea typeface="프리젠테이션 5 Medium"/>
                <a:cs typeface="프리젠테이션 5 Medium"/>
              </a:rPr>
              <a:t>대학원 개인 학습·연구 목적</a:t>
            </a: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으로만 제작·사용한다.</a:t>
            </a:r>
          </a:p>
          <a:p>
            <a:pPr algn="l">
              <a:lnSpc>
                <a:spcPct val="140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저작권자의 허락 없는 무단 복제·전재·재배포 및 상업적 이용을 금한다.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7766685"/>
            <a:ext cx="16239744" cy="185166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389888" y="7962138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참고 문헌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8589645"/>
            <a:ext cx="15508224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우재남, 『C# 프로그래밍 for Beginner』, 한빛아카데미  ·  수업 자료(CH01~09)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2263140"/>
            <a:ext cx="73152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100" b="0" lang="ko-KR" altLang="en-US">
                <a:solidFill>
                  <a:srgbClr val="54418A"/>
                </a:solidFill>
                <a:latin typeface="페이퍼로지 8 ExtraBold"/>
                <a:ea typeface="페이퍼로지 8 ExtraBold"/>
                <a:cs typeface="페이퍼로지 8 ExtraBold"/>
              </a:rPr>
              <a:t>CH 06</a:t>
            </a:r>
          </a:p>
        </p:txBody>
      </p:sp>
      <p:sp>
        <p:nvSpPr>
          <p:cNvPr id="3" name="Rectangle 2"/>
          <p:cNvSpPr/>
          <p:nvPr/>
        </p:nvSpPr>
        <p:spPr>
          <a:xfrm>
            <a:off x="1353312" y="4166235"/>
            <a:ext cx="2194560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280160" y="4526280"/>
            <a:ext cx="1426464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5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반복을 맡기는 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709285"/>
            <a:ext cx="1426464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Letting the Loop Do the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3312" y="6583680"/>
            <a:ext cx="1280160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C4B9D9"/>
                </a:solidFill>
                <a:latin typeface="프리젠테이션 5 Medium"/>
                <a:ea typeface="프리젠테이션 5 Medium"/>
                <a:cs typeface="프리젠테이션 5 Medium"/>
              </a:rPr>
              <a:t>·  for 문의 세 칸 — 초깃값 · 조건식 · 증감식   ·   누적 합계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7087743"/>
            <a:ext cx="1280160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C4B9D9"/>
                </a:solidFill>
                <a:latin typeface="프리젠테이션 5 Medium"/>
                <a:ea typeface="프리젠테이션 5 Medium"/>
                <a:cs typeface="프리젠테이션 5 Medium"/>
              </a:rPr>
              <a:t>·  중첩 for로 구구단을 세로로, 가로로   ·   while · do~while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7591806"/>
            <a:ext cx="1280160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C4B9D9"/>
                </a:solidFill>
                <a:latin typeface="프리젠테이션 5 Medium"/>
                <a:ea typeface="프리젠테이션 5 Medium"/>
                <a:cs typeface="프리젠테이션 5 Medium"/>
              </a:rPr>
              <a:t>·  break · continue · goto · return   ·   별표 마름모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이 장에서 만들 두 프로그램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반복을 맡기는 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0241280" cy="308610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024128" y="2571750"/>
            <a:ext cx="91440" cy="308610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389888" y="2674620"/>
            <a:ext cx="950976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[프로그램 1] 구구단을 가로로 — 진짜 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6464" y="3024378"/>
            <a:ext cx="9436608" cy="251002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 #2단#  #3단#  #4단#  #5단#  #6단#  #7단#  #8단#  #9단#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2X2= 4 3X2= 6 4X2= 8 5X2=10 6X2=12 7X2=14 8X2=16 9X2=18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2X3= 6 3X3= 9 4X3=12 5X3=15 6X3=18 7X3=21 8X3=24 9X3=27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2X4= 8 3X4=12 4X4=16 5X4=20 6X4=24 7X4=28 8X4=32 9X4=36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2X5=10 3X5=15 4X5=20 5X5=25 6X5=30 7X5=35 8X5=40 9X5=45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2X6=12 3X6=18 4X6=24 5X6=30 6X6=36 7X6=42 8X6=48 9X6=54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2X7=14 3X7=21 4X7=28 5X7=35 6X7=42 7X7=49 8X7=56 9X7=63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2X8=16 3X8=24 4X8=32 5X8=40 6X8=48 7X8=56 8X8=64 9X8=72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2X9=18 3X9=27 4X9=36 5X9=45 6X9=54 7X9=63 8X9=72 9X9=81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704320" y="2571750"/>
            <a:ext cx="5559552" cy="308610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1704320" y="2571750"/>
            <a:ext cx="91440" cy="308610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2070080" y="2674620"/>
            <a:ext cx="482803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[프로그램 2] 별표 마름모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06656" y="3024378"/>
            <a:ext cx="4754880" cy="251002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      ★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    ★★★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  ★★★★★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★★★★★★★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★★★★★★★★★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★★★★★★★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  ★★★★★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    ★★★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      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5966460"/>
            <a:ext cx="7936992" cy="272605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389888" y="6161913"/>
            <a:ext cx="720547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가로 구구단의 비밀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6789420"/>
            <a:ext cx="7205472" cy="17796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콘솔은 위에서 아래로만 찍힌다. 그래서 </a:t>
            </a:r>
            <a:r>
              <a:rPr sz="2000" b="0" lang="ko-KR" altLang="en-US">
                <a:solidFill>
                  <a:srgbClr val="3E7D2A"/>
                </a:solidFill>
                <a:latin typeface="프리젠테이션 5 Medium"/>
                <a:ea typeface="프리젠테이션 5 Medium"/>
                <a:cs typeface="프리젠테이션 5 Medium"/>
              </a:rPr>
              <a:t>한 줄 = 곱하는 수가 같은 여러 단</a:t>
            </a: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으로 보고, 한 줄을 문자열에 모았다가 한 번에 찍는다. 곱하는 수가 2부터라 ×1 줄이 없다.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0" y="5966460"/>
            <a:ext cx="7936992" cy="272605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92640" y="6161913"/>
            <a:ext cx="720547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마름모의 비밀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6789420"/>
            <a:ext cx="7205472" cy="17796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줄마다 </a:t>
            </a:r>
            <a:r>
              <a:rPr sz="2000" b="0" lang="ko-KR" altLang="en-US">
                <a:solidFill>
                  <a:srgbClr val="3E7D2A"/>
                </a:solidFill>
                <a:latin typeface="프리젠테이션 5 Medium"/>
                <a:ea typeface="프리젠테이션 5 Medium"/>
                <a:cs typeface="프리젠테이션 5 Medium"/>
              </a:rPr>
              <a:t>공백 반복 → 별 반복 → 줄바꿈</a:t>
            </a: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. 별은 1·3·5·7·9·7·5·3·1개, 앞 공백은 8·6·4·2·0·2·4·6·8칸. 콘솔에서 ★는 두 칸 폭이다.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6장 1절 · 그림 6-1, 6-2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반복문이 필요한 이유 — 복사 대신 지시서 한 장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반복을 맡기는 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7936992" cy="288036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72054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[소스 6-1] 복사해서 세 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7132320" cy="216027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Main(string[] args)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Console.WriteLine("for 문을 공부 중입니다. ^^");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Console.WriteLine("for 문을 공부 중입니다. ^^");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Console.WriteLine("for 문을 공부 중입니다. ^^");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2571750"/>
            <a:ext cx="7936992" cy="288036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92640" y="2674620"/>
            <a:ext cx="72054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[소스 6-2] for 문으로 세 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29216" y="3168396"/>
            <a:ext cx="7132320" cy="216027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Main(string[] args)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i;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 (i = 0; i &lt; 3; i++)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Console.WriteLine("for 문을 공부 중입니다. ^^");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5657850"/>
            <a:ext cx="7936992" cy="144018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24128" y="5657850"/>
            <a:ext cx="91440" cy="144018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389888" y="5760720"/>
            <a:ext cx="720547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 (두 소스 동일)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6464" y="6110478"/>
            <a:ext cx="7132320" cy="86410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for 문을 공부 중입니다. ^^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for 문을 공부 중입니다. ^^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for 문을 공부 중입니다. ^^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5657850"/>
            <a:ext cx="7936992" cy="303466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0" y="5853303"/>
            <a:ext cx="720547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한 번 쓰고 세 번 실행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6480810"/>
            <a:ext cx="7205472" cy="20882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5행 for (i = 0; i &lt; 3; i++) — i가 0, 1, 2일 때 </a:t>
            </a:r>
            <a:r>
              <a:rPr sz="1900" b="0" lang="ko-KR" altLang="en-US">
                <a:solidFill>
                  <a:srgbClr val="3E7D2A"/>
                </a:solidFill>
                <a:latin typeface="프리젠테이션 5 Medium"/>
                <a:ea typeface="프리젠테이션 5 Medium"/>
                <a:cs typeface="프리젠테이션 5 Medium"/>
              </a:rPr>
              <a:t>세 번</a:t>
            </a: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.</a:t>
            </a:r>
          </a:p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백 번이면 3을 100으로 바꾸기만 하면 된다.</a:t>
            </a:r>
          </a:p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3~5행은 for (int i = 0; i &lt; 3; i++) 한 줄로 합쳐도 된다.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4128" y="7303770"/>
            <a:ext cx="7936992" cy="138874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389888" y="7447788"/>
            <a:ext cx="7205472" cy="47217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쉽게 말하면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89888" y="7991970"/>
            <a:ext cx="7205472" cy="577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반복문은 작업 지시서 한 장이다. 같은 지시서를 천 장 복사하지 않는다.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6장 2절 I · [소스 6-1], [소스 6-2]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for 문의 세 칸 — 초깃값 · 조건식 · 증감식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반복을 맡기는 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144000" cy="39090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fig6-3_for_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243" y="2664333"/>
            <a:ext cx="7697769" cy="327126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6028182"/>
            <a:ext cx="9144000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6028182"/>
            <a:ext cx="863193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그림 6-3 발췌 — for 문의 기본 형식과 실행 순서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07040" y="2571750"/>
            <a:ext cx="6656832" cy="390906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972800" y="2767203"/>
            <a:ext cx="592531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도는 순서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3394710"/>
            <a:ext cx="5925312" cy="2962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❶ 초깃값 — </a:t>
            </a:r>
            <a:r>
              <a:rPr sz="2200" b="0" lang="ko-KR" altLang="en-US">
                <a:solidFill>
                  <a:srgbClr val="3E7D2A"/>
                </a:solidFill>
                <a:latin typeface="프리젠테이션 5 Medium"/>
                <a:ea typeface="프리젠테이션 5 Medium"/>
                <a:cs typeface="프리젠테이션 5 Medium"/>
              </a:rPr>
              <a:t>맨 처음 한 번만</a:t>
            </a:r>
          </a:p>
          <a:p>
            <a:pPr algn="l">
              <a:lnSpc>
                <a:spcPct val="142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❷ 조건식 — 참이면 안으로, 거짓이면 ❺ 탈출</a:t>
            </a:r>
          </a:p>
          <a:p>
            <a:pPr algn="l">
              <a:lnSpc>
                <a:spcPct val="142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❸ 반복할 문장 실행</a:t>
            </a:r>
          </a:p>
          <a:p>
            <a:pPr algn="l">
              <a:lnSpc>
                <a:spcPct val="142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❹ 증감식 — 문장을 </a:t>
            </a:r>
            <a:r>
              <a:rPr sz="2200" b="0" lang="ko-KR" altLang="en-US">
                <a:solidFill>
                  <a:srgbClr val="3E7D2A"/>
                </a:solidFill>
                <a:latin typeface="프리젠테이션 5 Medium"/>
                <a:ea typeface="프리젠테이션 5 Medium"/>
                <a:cs typeface="프리젠테이션 5 Medium"/>
              </a:rPr>
              <a:t>실행한 뒤에</a:t>
            </a:r>
          </a:p>
          <a:p>
            <a:pPr algn="l">
              <a:lnSpc>
                <a:spcPct val="142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→ 다시 ❷로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" y="6789420"/>
            <a:ext cx="16239744" cy="1903095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426464" y="6964299"/>
            <a:ext cx="15435071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세 번인데 왜 i &lt; 3일까?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6464" y="7427214"/>
            <a:ext cx="15435071" cy="11212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0부터 시작하므로 0 · 1 · 2가 세 번이다. i &lt;= 3이면 0 · 1 · 2 · 3 </a:t>
            </a:r>
            <a:r>
              <a:rPr sz="2500" b="0" lang="ko-KR" altLang="en-US">
                <a:solidFill>
                  <a:srgbClr val="3E7D2A"/>
                </a:solidFill>
                <a:latin typeface="프리젠테이션 5 Medium"/>
                <a:ea typeface="프리젠테이션 5 Medium"/>
                <a:cs typeface="프리젠테이션 5 Medium"/>
              </a:rPr>
              <a:t>네 번</a:t>
            </a: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 된다.</a:t>
            </a:r>
          </a:p>
          <a:p>
            <a:pPr algn="l">
              <a:lnSpc>
                <a:spcPct val="140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초깃값을 i = 3으로 바꾸면 조건식이 곧바로 거짓 — 반복할 문장은 </a:t>
            </a:r>
            <a:r>
              <a:rPr sz="2500" b="0" lang="ko-KR" altLang="en-US">
                <a:solidFill>
                  <a:srgbClr val="3E7D2A"/>
                </a:solidFill>
                <a:latin typeface="프리젠테이션 5 Medium"/>
                <a:ea typeface="프리젠테이션 5 Medium"/>
                <a:cs typeface="프리젠테이션 5 Medium"/>
              </a:rPr>
              <a:t>한 번도</a:t>
            </a: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실행되지 않는다.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6장 2절 II · 그림 6-3, 6-4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반복 과정을 표로 추적 — [소스 6-2]의 12단계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반복을 맡기는 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473202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571750"/>
            <a:ext cx="1509857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E7D2A"/>
                </a:solidFill>
                <a:latin typeface="페이퍼로지 8 ExtraBold"/>
                <a:ea typeface="페이퍼로지 8 ExtraBold"/>
                <a:cs typeface="페이퍼로지 8 ExtraBold"/>
              </a:rPr>
              <a:t>단계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92353" y="2571750"/>
            <a:ext cx="3783421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E7D2A"/>
                </a:solidFill>
                <a:latin typeface="페이퍼로지 8 ExtraBold"/>
                <a:ea typeface="페이퍼로지 8 ExtraBold"/>
                <a:cs typeface="페이퍼로지 8 ExtraBold"/>
              </a:rPr>
              <a:t>실행하는 부분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14686" y="2571750"/>
            <a:ext cx="1509857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300" b="0" lang="ko-KR" altLang="en-US">
                <a:solidFill>
                  <a:srgbClr val="3E7D2A"/>
                </a:solidFill>
                <a:latin typeface="페이퍼로지 8 ExtraBold"/>
                <a:ea typeface="페이퍼로지 8 ExtraBold"/>
                <a:cs typeface="페이퍼로지 8 ExtraBold"/>
              </a:rPr>
              <a:t>실행 뒤 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63456" y="2571750"/>
            <a:ext cx="1509857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E7D2A"/>
                </a:solidFill>
                <a:latin typeface="페이퍼로지 8 ExtraBold"/>
                <a:ea typeface="페이퍼로지 8 ExtraBold"/>
                <a:cs typeface="페이퍼로지 8 ExtraBold"/>
              </a:rPr>
              <a:t>i &lt;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12225" y="2571750"/>
            <a:ext cx="573219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E7D2A"/>
                </a:solidFill>
                <a:latin typeface="페이퍼로지 8 ExtraBold"/>
                <a:ea typeface="페이퍼로지 8 ExtraBold"/>
                <a:cs typeface="페이퍼로지 8 ExtraBold"/>
              </a:rPr>
              <a:t>일어나는 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3044952"/>
            <a:ext cx="16239744" cy="45262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280160" y="3044952"/>
            <a:ext cx="1436705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제1회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28929" y="3044952"/>
            <a:ext cx="3710269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❶ 초기식 i =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1262" y="3044952"/>
            <a:ext cx="1436705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0032" y="3044952"/>
            <a:ext cx="1436705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48801" y="3044952"/>
            <a:ext cx="5659038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첫 반복 준비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497580"/>
            <a:ext cx="1436705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제2회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28929" y="3497580"/>
            <a:ext cx="3710269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❷ 조건식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1262" y="3497580"/>
            <a:ext cx="1436705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0032" y="3497580"/>
            <a:ext cx="1436705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48801" y="3497580"/>
            <a:ext cx="5659038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블록 안으로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24128" y="3950208"/>
            <a:ext cx="16239744" cy="45262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280160" y="3950208"/>
            <a:ext cx="1436705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제3회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28929" y="3950208"/>
            <a:ext cx="3710269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❸ 반복할 문장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1262" y="3950208"/>
            <a:ext cx="1436705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00032" y="3950208"/>
            <a:ext cx="1436705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48801" y="3950208"/>
            <a:ext cx="5659038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1번째 출력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4402836"/>
            <a:ext cx="1436705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제4회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28929" y="4402836"/>
            <a:ext cx="3710269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❹ 증감식 i++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1262" y="4402836"/>
            <a:ext cx="1436705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00032" y="4402836"/>
            <a:ext cx="1436705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48801" y="4402836"/>
            <a:ext cx="5659038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</a:p>
        </p:txBody>
      </p:sp>
      <p:sp>
        <p:nvSpPr>
          <p:cNvPr id="39" name="Rounded Rectangle 38"/>
          <p:cNvSpPr/>
          <p:nvPr/>
        </p:nvSpPr>
        <p:spPr>
          <a:xfrm>
            <a:off x="1024128" y="4855464"/>
            <a:ext cx="16239744" cy="45262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280160" y="4855464"/>
            <a:ext cx="1436705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제5회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28929" y="4855464"/>
            <a:ext cx="3710269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❷ 조건식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51262" y="4855464"/>
            <a:ext cx="1436705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00032" y="4855464"/>
            <a:ext cx="1436705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48801" y="4855464"/>
            <a:ext cx="5659038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블록 안으로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80160" y="5308092"/>
            <a:ext cx="1436705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제6회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28929" y="5308092"/>
            <a:ext cx="3710269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❸ 반복할 문장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51262" y="5308092"/>
            <a:ext cx="1436705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00032" y="5308092"/>
            <a:ext cx="1436705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48801" y="5308092"/>
            <a:ext cx="5659038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2번째 출력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24128" y="5760720"/>
            <a:ext cx="16239744" cy="45262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1280160" y="5760720"/>
            <a:ext cx="1436705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제7회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28929" y="5760720"/>
            <a:ext cx="3710269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❹ 증감식 i++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51262" y="5760720"/>
            <a:ext cx="1436705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00032" y="5760720"/>
            <a:ext cx="1436705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348801" y="5760720"/>
            <a:ext cx="5659038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</a:p>
        </p:txBody>
      </p:sp>
      <p:sp>
        <p:nvSpPr>
          <p:cNvPr id="56" name="TextBox 55"/>
          <p:cNvSpPr txBox="1"/>
          <p:nvPr/>
        </p:nvSpPr>
        <p:spPr>
          <a:xfrm>
            <a:off x="1280160" y="6213348"/>
            <a:ext cx="1436705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제8회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28929" y="6213348"/>
            <a:ext cx="3710269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❷ 조건식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51262" y="6213348"/>
            <a:ext cx="1436705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00032" y="6213348"/>
            <a:ext cx="1436705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348801" y="6213348"/>
            <a:ext cx="5659038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블록 안으로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24128" y="6665976"/>
            <a:ext cx="16239744" cy="45262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1280160" y="6665976"/>
            <a:ext cx="1436705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제9회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28929" y="6665976"/>
            <a:ext cx="3710269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❸ 반복할 문장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451262" y="6665976"/>
            <a:ext cx="1436705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400032" y="6665976"/>
            <a:ext cx="1436705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–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348801" y="6665976"/>
            <a:ext cx="5659038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3번째 출력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80160" y="7118604"/>
            <a:ext cx="1436705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제10회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28929" y="7118604"/>
            <a:ext cx="3710269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❹ 증감식 i++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451262" y="7118604"/>
            <a:ext cx="1436705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00032" y="7118604"/>
            <a:ext cx="1436705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–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348801" y="7118604"/>
            <a:ext cx="5659038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</a:p>
        </p:txBody>
      </p:sp>
      <p:sp>
        <p:nvSpPr>
          <p:cNvPr id="72" name="Rounded Rectangle 71"/>
          <p:cNvSpPr/>
          <p:nvPr/>
        </p:nvSpPr>
        <p:spPr>
          <a:xfrm>
            <a:off x="1024128" y="7571232"/>
            <a:ext cx="16239744" cy="45262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1280160" y="7571232"/>
            <a:ext cx="1436705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제11회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228929" y="7571232"/>
            <a:ext cx="3710269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❷ 조건식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51262" y="7571232"/>
            <a:ext cx="1436705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400032" y="7571232"/>
            <a:ext cx="1436705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거짓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48801" y="7571232"/>
            <a:ext cx="5659038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</a:p>
        </p:txBody>
      </p:sp>
      <p:sp>
        <p:nvSpPr>
          <p:cNvPr id="78" name="TextBox 77"/>
          <p:cNvSpPr txBox="1"/>
          <p:nvPr/>
        </p:nvSpPr>
        <p:spPr>
          <a:xfrm>
            <a:off x="1280160" y="8023860"/>
            <a:ext cx="1436705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제12회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228929" y="8023860"/>
            <a:ext cx="3710269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❺ 탈출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451262" y="8023860"/>
            <a:ext cx="1436705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400032" y="8023860"/>
            <a:ext cx="1436705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–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348801" y="8023860"/>
            <a:ext cx="5659038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블록 밖으로 — i에는 3이 남는다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출력 3번, 조건 검사는 4번 — 마지막 한 번은 거짓을 확인하는 검사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그림 6-5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중괄호가 반복 범위를 정한다 — [소스 6-3]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반복을 맡기는 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509760" cy="432054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87782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[소스 6-3] 블록 있음 vs 없음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8705088" cy="36004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Main(string[] args)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i;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 (i = 0; i &lt; 3; i++)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Console.WriteLine("안녕하세요? ");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Console.WriteLine("##또 안녕하세요?##");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Console.WriteLine();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 (i = 0; i &lt; 3; i++)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Console.WriteLine("안녕하세요?");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Console.WriteLine("##또 안녕하세요?##");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0" y="2571750"/>
            <a:ext cx="6291072" cy="432054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0972800" y="2571750"/>
            <a:ext cx="91440" cy="432054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338560" y="2674620"/>
            <a:ext cx="555955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75136" y="3024378"/>
            <a:ext cx="5486400" cy="37444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안녕하세요?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##또 안녕하세요?##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안녕하세요?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##또 안녕하세요?##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안녕하세요?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##또 안녕하세요?##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안녕하세요?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안녕하세요?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안녕하세요?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##또 안녕하세요?##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" y="7200900"/>
            <a:ext cx="16239744" cy="1491615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426464" y="7375779"/>
            <a:ext cx="15435071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들여쓰기는 C#에게 아무 의미가 없다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6464" y="7838694"/>
            <a:ext cx="15435071" cy="7098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중괄호가 없으면 바로 아래 한 문장(13행)만 반복되고, 14행은 반복이 끝난 뒤 </a:t>
            </a:r>
            <a:r>
              <a:rPr sz="2000" b="0" lang="ko-KR" altLang="en-US">
                <a:solidFill>
                  <a:srgbClr val="3E7D2A"/>
                </a:solidFill>
                <a:latin typeface="프리젠테이션 5 Medium"/>
                <a:ea typeface="프리젠테이션 5 Medium"/>
                <a:cs typeface="프리젠테이션 5 Medium"/>
              </a:rPr>
              <a:t>1번</a:t>
            </a: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. 두 줄 이상이면 반드시 { }.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6장 2절 II · [소스 6-3]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값을 줄여 가는 for — [소스 6-4]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반복을 맡기는 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144000" cy="308610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8412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[소스 6-4] 3, 2,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8339328" cy="236601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Main(string[] args)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i;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 (i = 3; i &gt; 0; i--)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Console.WriteLine("{0} : for 문을 공부 중입니다. ^^", i);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07040" y="2571750"/>
            <a:ext cx="6656832" cy="308610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0607040" y="2571750"/>
            <a:ext cx="91440" cy="308610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972800" y="2674620"/>
            <a:ext cx="592531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9376" y="3024378"/>
            <a:ext cx="5852160" cy="251002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3 : for 문을 공부 중입니다. ^^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2 : for 문을 공부 중입니다. ^^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 : for 문을 공부 중입니다. ^^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" y="5966460"/>
            <a:ext cx="16239744" cy="473202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43584" y="5966460"/>
            <a:ext cx="1509857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E7D2A"/>
                </a:solidFill>
                <a:latin typeface="페이퍼로지 8 ExtraBold"/>
                <a:ea typeface="페이퍼로지 8 ExtraBold"/>
                <a:cs typeface="페이퍼로지 8 ExtraBold"/>
              </a:rPr>
              <a:t>회차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92353" y="5966460"/>
            <a:ext cx="1509857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E7D2A"/>
                </a:solidFill>
                <a:latin typeface="페이퍼로지 8 ExtraBold"/>
                <a:ea typeface="페이퍼로지 8 ExtraBold"/>
                <a:cs typeface="페이퍼로지 8 ExtraBold"/>
              </a:rPr>
              <a:t>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41122" y="5966460"/>
            <a:ext cx="2159447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E7D2A"/>
                </a:solidFill>
                <a:latin typeface="페이퍼로지 8 ExtraBold"/>
                <a:ea typeface="페이퍼로지 8 ExtraBold"/>
                <a:cs typeface="페이퍼로지 8 ExtraBold"/>
              </a:rPr>
              <a:t>i &gt; 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9481" y="5966460"/>
            <a:ext cx="63817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E7D2A"/>
                </a:solidFill>
                <a:latin typeface="페이퍼로지 8 ExtraBold"/>
                <a:ea typeface="페이퍼로지 8 ExtraBold"/>
                <a:cs typeface="페이퍼로지 8 ExtraBold"/>
              </a:rPr>
              <a:t>출력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560174" y="5966460"/>
            <a:ext cx="2484241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E7D2A"/>
                </a:solidFill>
                <a:latin typeface="페이퍼로지 8 ExtraBold"/>
                <a:ea typeface="페이퍼로지 8 ExtraBold"/>
                <a:cs typeface="페이퍼로지 8 ExtraBold"/>
              </a:rPr>
              <a:t>i-- 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4128" y="6439662"/>
            <a:ext cx="16239744" cy="493776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280160" y="6439662"/>
            <a:ext cx="1436705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28929" y="6439662"/>
            <a:ext cx="1436705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77698" y="6439662"/>
            <a:ext cx="2086295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6057" y="6439662"/>
            <a:ext cx="6308628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 : for 문을…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596750" y="6439662"/>
            <a:ext cx="2411089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6933438"/>
            <a:ext cx="1436705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28929" y="6933438"/>
            <a:ext cx="1436705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7698" y="6933438"/>
            <a:ext cx="2086295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6057" y="6933438"/>
            <a:ext cx="6308628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 : for 문을…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596750" y="6933438"/>
            <a:ext cx="2411089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24128" y="7427214"/>
            <a:ext cx="16239744" cy="493776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280160" y="7427214"/>
            <a:ext cx="1436705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28929" y="7427214"/>
            <a:ext cx="1436705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77698" y="7427214"/>
            <a:ext cx="2086295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6057" y="7427214"/>
            <a:ext cx="6308628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 : for 문을…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596750" y="7427214"/>
            <a:ext cx="2411089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80160" y="7920990"/>
            <a:ext cx="1436705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28929" y="7920990"/>
            <a:ext cx="1436705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77698" y="7920990"/>
            <a:ext cx="2086295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거짓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6057" y="7920990"/>
            <a:ext cx="6308628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탈출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596750" y="7920990"/>
            <a:ext cx="2411089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세 칸을 함께 바꿀 것 — i++에 i &gt; 0이면 끝나지 않는다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6장 2절 III · [소스 6-4]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합계 구하기 — 직접 더하기에서 누적 변수로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반복을 맡기는 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7936992" cy="267462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72054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[소스 6-5] 덧셈 연산자로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7132320" cy="195453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Main(string[] args)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hap;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hap = 1 + 2 + 3 + 4 + 5 + 6 + 7 + 8 + 9 + 10;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Console.WriteLine(" 1에서 10까지의 합: {0}", hap);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2571750"/>
            <a:ext cx="7936992" cy="329184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92640" y="2674620"/>
            <a:ext cx="72054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[소스 6-6] for 문으로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29216" y="3168396"/>
            <a:ext cx="7132320" cy="25717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Main(string[] args)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hap = 0;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 (int i = 1; i &lt;= 10; i++)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hap = hap + i;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Console.WriteLine(" 1에서 10까지의 합: {0}", hap);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5452110"/>
            <a:ext cx="7936992" cy="123444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24128" y="5452110"/>
            <a:ext cx="91440" cy="123444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389888" y="5554980"/>
            <a:ext cx="720547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 (두 소스 동일)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6464" y="5904738"/>
            <a:ext cx="7132320" cy="6583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1에서 10까지의 합: 55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6069330"/>
            <a:ext cx="7936992" cy="262318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0" y="6264783"/>
            <a:ext cx="720547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누적 변수 hap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6892290"/>
            <a:ext cx="7205472" cy="16767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3행 hap = 0 — 저금통은 </a:t>
            </a:r>
            <a:r>
              <a:rPr sz="2200" b="0" lang="ko-KR" altLang="en-US">
                <a:solidFill>
                  <a:srgbClr val="3E7D2A"/>
                </a:solidFill>
                <a:latin typeface="프리젠테이션 5 Medium"/>
                <a:ea typeface="프리젠테이션 5 Medium"/>
                <a:cs typeface="프리젠테이션 5 Medium"/>
              </a:rPr>
              <a:t>비어서</a:t>
            </a: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시작</a:t>
            </a:r>
          </a:p>
          <a:p>
            <a:pPr algn="l">
              <a:lnSpc>
                <a:spcPct val="142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7행 hap = hap + i — 지금까지의 합 + 이번 i</a:t>
            </a:r>
          </a:p>
          <a:p>
            <a:pPr algn="l">
              <a:lnSpc>
                <a:spcPct val="142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hap += i; 로 줄여 써도 같다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4128" y="6892290"/>
            <a:ext cx="7936992" cy="180022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389888" y="7087743"/>
            <a:ext cx="720547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출력 앞 공백 한 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89888" y="7715250"/>
            <a:ext cx="7205472" cy="85382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문자열이 " 1에서…"로 공백부터 시작해서 진짜 출력은 한 칸 들여 찍힌다(교재 인쇄에는 안 보임).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6장 2절 IV · [소스 6-5], [소스 6-6]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누적 합계 추적 — i와 hap의 변화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반복을 맡기는 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8412480" cy="39090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fig6-6_i_h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5705" y="2664333"/>
            <a:ext cx="6229325" cy="327126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6028182"/>
            <a:ext cx="8412480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6028182"/>
            <a:ext cx="790041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그림 6-6 발췌 — 변수 i와 hap 값의 변화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75520" y="2571750"/>
            <a:ext cx="7388352" cy="473202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094976" y="2571750"/>
            <a:ext cx="1038758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E7D2A"/>
                </a:solidFill>
                <a:latin typeface="페이퍼로지 8 ExtraBold"/>
                <a:ea typeface="페이퍼로지 8 ExtraBold"/>
                <a:cs typeface="페이퍼로지 8 ExtraBold"/>
              </a:rPr>
              <a:t>회차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72646" y="2571750"/>
            <a:ext cx="1038758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E7D2A"/>
                </a:solidFill>
                <a:latin typeface="페이퍼로지 8 ExtraBold"/>
                <a:ea typeface="페이퍼로지 8 ExtraBold"/>
                <a:cs typeface="페이퍼로지 8 ExtraBold"/>
              </a:rPr>
              <a:t>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050316" y="2571750"/>
            <a:ext cx="3994099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E7D2A"/>
                </a:solidFill>
                <a:latin typeface="페이퍼로지 8 ExtraBold"/>
                <a:ea typeface="페이퍼로지 8 ExtraBold"/>
                <a:cs typeface="페이퍼로지 8 ExtraBold"/>
              </a:rPr>
              <a:t>hap (더한 뒤)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75520" y="3044952"/>
            <a:ext cx="7388352" cy="473202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131552" y="3044952"/>
            <a:ext cx="965606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09222" y="3044952"/>
            <a:ext cx="965606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086892" y="3044952"/>
            <a:ext cx="3920947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31552" y="3518154"/>
            <a:ext cx="965606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09222" y="3518154"/>
            <a:ext cx="965606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86892" y="3518154"/>
            <a:ext cx="3920947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75520" y="3991356"/>
            <a:ext cx="7388352" cy="473202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0131552" y="3991356"/>
            <a:ext cx="965606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609222" y="3991356"/>
            <a:ext cx="965606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086892" y="3991356"/>
            <a:ext cx="3920947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31552" y="4464558"/>
            <a:ext cx="965606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09222" y="4464558"/>
            <a:ext cx="965606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086892" y="4464558"/>
            <a:ext cx="3920947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75520" y="4937760"/>
            <a:ext cx="7388352" cy="473202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0131552" y="4937760"/>
            <a:ext cx="965606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09222" y="4937760"/>
            <a:ext cx="965606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086892" y="4937760"/>
            <a:ext cx="3920947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31552" y="5410962"/>
            <a:ext cx="965606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609222" y="5410962"/>
            <a:ext cx="965606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086892" y="5410962"/>
            <a:ext cx="3920947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875520" y="5884164"/>
            <a:ext cx="7388352" cy="473202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10131552" y="5884164"/>
            <a:ext cx="965606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609222" y="5884164"/>
            <a:ext cx="965606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086892" y="5884164"/>
            <a:ext cx="3920947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31552" y="6357366"/>
            <a:ext cx="965606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609222" y="6357366"/>
            <a:ext cx="965606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086892" y="6357366"/>
            <a:ext cx="3920947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36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875520" y="6830568"/>
            <a:ext cx="7388352" cy="473202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10131552" y="6830568"/>
            <a:ext cx="965606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609222" y="6830568"/>
            <a:ext cx="965606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086892" y="6830568"/>
            <a:ext cx="3920947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45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31552" y="7303770"/>
            <a:ext cx="965606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609222" y="7303770"/>
            <a:ext cx="965606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086892" y="7303770"/>
            <a:ext cx="3920947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55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875520" y="7776972"/>
            <a:ext cx="7388352" cy="473202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10131552" y="7776972"/>
            <a:ext cx="965606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609222" y="7776972"/>
            <a:ext cx="965606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086892" y="7776972"/>
            <a:ext cx="3920947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11 &lt;= 10 거짓 → 탈출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24128" y="6789420"/>
            <a:ext cx="8412480" cy="1903095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1426464" y="6964299"/>
            <a:ext cx="7607808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초기화를 빼면?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426464" y="7427214"/>
            <a:ext cx="7607808" cy="11212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int hap; 만 쓰면 CS0165 컴파일 오류. hap을 for 안에서 선언하면 매 바퀴 0으로 새로 만들어진다.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그림 6-6 · [소스 6-6]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증감식을 바꾸면 — 홀수 합계와 SELF STUDY 6-1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반복을 맡기는 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7936992" cy="329184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72054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[소스 6-7] 500~1000 홀수의 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7132320" cy="25717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Main(string[] args)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hap = 0;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 (int i = 501; i &lt;= 1000; i += 2)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hap = hap + i;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Console.WriteLine("500에서 1000까지 중 홀수의 합: {0}", hap);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2571750"/>
            <a:ext cx="7936992" cy="329184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92640" y="2674620"/>
            <a:ext cx="72054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SELF STUDY 6-1 정답 — 3의 배수의 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29216" y="3168396"/>
            <a:ext cx="7132320" cy="25717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Main(string[] args)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hap = 0;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 (int i = 3; i &lt;= 100; i += 3)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hap = hap + i;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Console.WriteLine("1부터 100까지 중 3의 배수의 합계: {0}", hap);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6069330"/>
            <a:ext cx="7936992" cy="113157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24128" y="6069330"/>
            <a:ext cx="91440" cy="113157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389888" y="6172200"/>
            <a:ext cx="720547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6464" y="6521958"/>
            <a:ext cx="7132320" cy="55549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500에서 1000까지 중 홀수의 합: 187500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6069330"/>
            <a:ext cx="7936992" cy="113157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9326880" y="6069330"/>
            <a:ext cx="91440" cy="113157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92640" y="6172200"/>
            <a:ext cx="720547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9216" y="6521958"/>
            <a:ext cx="7132320" cy="55549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1부터 100까지 중 3의 배수의 합계: 1683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4128" y="7458075"/>
            <a:ext cx="16239744" cy="123444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389888" y="7602093"/>
            <a:ext cx="15508224" cy="4197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증감식은 ++만 있는 게 아니다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9888" y="8093811"/>
            <a:ext cx="15508224" cy="4752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i += 2 → 501, 503, …, 999 (250개)   ·   i += 3 → 3, 6, …, 99 (33개)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[소스 6-7] · SELF STUDY 6-1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키보드로 입력한 값까지 — [소스 6-8] · [소스 6-9]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반복을 맡기는 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509760" cy="483489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87782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[소스 6-9] 세 칸을 모두 입력으로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8705088" cy="41148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Main(string[] args)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hap = 0;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num1, num2, num3;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Console.Write("시작값 입력 : ");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num1 = int.Parse(Console.ReadLine());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Console.Write("끝값 입력 : ");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num2 = int.Parse(Console.ReadLine());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Console.Write("증가값 입력 : ");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num3 = int.Parse(Console.ReadLine());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 (int i = num1; i &lt;= num2; i += num3)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hap = hap + i;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Console.WriteLine("{0}부터 {1}까지 {2}씩 증가한 합계: {3}", num1, num2, num3, hap);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0" y="2571750"/>
            <a:ext cx="6291072" cy="205740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0972800" y="2571750"/>
            <a:ext cx="91440" cy="205740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338560" y="2674620"/>
            <a:ext cx="555955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콘솔 화면 (2, 300, 3 입력)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75136" y="3024378"/>
            <a:ext cx="5486400" cy="148132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시작값 입력 : 2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끝값 입력 : 300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증가값 입력 : 3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2부터 300까지 3씩 증가한 합계: 15050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0" y="4834890"/>
            <a:ext cx="6291072" cy="452628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192256" y="4834890"/>
            <a:ext cx="1448409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E7D2A"/>
                </a:solidFill>
                <a:latin typeface="페이퍼로지 8 ExtraBold"/>
                <a:ea typeface="페이퍼로지 8 ExtraBold"/>
                <a:cs typeface="페이퍼로지 8 ExtraBold"/>
              </a:rPr>
              <a:t>회차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079577" y="4834890"/>
            <a:ext cx="1448409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E7D2A"/>
                </a:solidFill>
                <a:latin typeface="페이퍼로지 8 ExtraBold"/>
                <a:ea typeface="페이퍼로지 8 ExtraBold"/>
                <a:cs typeface="페이퍼로지 8 ExtraBold"/>
              </a:rPr>
              <a:t>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66899" y="4834890"/>
            <a:ext cx="207751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E7D2A"/>
                </a:solidFill>
                <a:latin typeface="페이퍼로지 8 ExtraBold"/>
                <a:ea typeface="페이퍼로지 8 ExtraBold"/>
                <a:cs typeface="페이퍼로지 8 ExtraBold"/>
              </a:rPr>
              <a:t>hap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0" y="5287518"/>
            <a:ext cx="6291072" cy="45262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1228832" y="5287518"/>
            <a:ext cx="1375257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116153" y="5287518"/>
            <a:ext cx="1375257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03475" y="5287518"/>
            <a:ext cx="2004364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28832" y="5740146"/>
            <a:ext cx="1375257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116153" y="5740146"/>
            <a:ext cx="1375257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03475" y="5740146"/>
            <a:ext cx="2004364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72800" y="6192774"/>
            <a:ext cx="6291072" cy="45262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1228832" y="6192774"/>
            <a:ext cx="1375257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116153" y="6192774"/>
            <a:ext cx="1375257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03475" y="6192774"/>
            <a:ext cx="2004364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28832" y="6645402"/>
            <a:ext cx="1375257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116153" y="6645402"/>
            <a:ext cx="1375257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03475" y="6645402"/>
            <a:ext cx="2004364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972800" y="7098030"/>
            <a:ext cx="6291072" cy="45262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1228832" y="7098030"/>
            <a:ext cx="1375257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116153" y="7098030"/>
            <a:ext cx="1375257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299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003475" y="7098030"/>
            <a:ext cx="2004364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15050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28832" y="7550658"/>
            <a:ext cx="1375257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116153" y="7550658"/>
            <a:ext cx="1375257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003475" y="7550658"/>
            <a:ext cx="2004364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탈출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24128" y="7612380"/>
            <a:ext cx="9509760" cy="108013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1389888" y="7756398"/>
            <a:ext cx="8778240" cy="36724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[소스 6-8] — 끝값만 입력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89888" y="8195652"/>
            <a:ext cx="8778240" cy="3734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for (int i = 1; i &lt;= num; i++)  ·  100 입력 → 1부터 100까지 합계: 5050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증가값에 0을 넣으면 i가 영원히 2 — 무한 반복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6장 2절 V · [소스 6-8], [소스 6-9]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입력한 단의 구구단과 {2, 2:D} — [소스 6-10]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반복을 맡기는 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144000" cy="349758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8412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[소스 6-10] 몇 단?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8339328" cy="277749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Main(string[] args)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dan;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Console.Write("몇 단? ");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dan = int.Parse(Console.ReadLine());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 (int i = 1; i &lt;= 9; i++)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Console.WriteLine("{0} X {1} = {2, 2:D}", dan, i, dan * i);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1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07040" y="2571750"/>
            <a:ext cx="6656832" cy="370332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0607040" y="2571750"/>
            <a:ext cx="91440" cy="370332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972800" y="2674620"/>
            <a:ext cx="592531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콘솔 화면 (7 입력)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9376" y="3024378"/>
            <a:ext cx="5852160" cy="312724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몇 단? 7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7 X 1 =  7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7 X 2 = 14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7 X 3 = 21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7 X 4 = 28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7 X 5 = 35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7 X 6 = 42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7 X 7 = 49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7 X 8 = 56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7 X 9 = 63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" y="6377940"/>
            <a:ext cx="9144000" cy="473202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43584" y="6377940"/>
            <a:ext cx="1847088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E7D2A"/>
                </a:solidFill>
                <a:latin typeface="페이퍼로지 8 ExtraBold"/>
                <a:ea typeface="페이퍼로지 8 ExtraBold"/>
                <a:cs typeface="페이퍼로지 8 ExtraBold"/>
              </a:rPr>
              <a:t>부분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9584" y="6377940"/>
            <a:ext cx="6419088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E7D2A"/>
                </a:solidFill>
                <a:latin typeface="페이퍼로지 8 ExtraBold"/>
                <a:ea typeface="페이퍼로지 8 ExtraBold"/>
                <a:cs typeface="페이퍼로지 8 ExtraBold"/>
              </a:rPr>
              <a:t>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4128" y="6851142"/>
            <a:ext cx="9144000" cy="534924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80160" y="6851142"/>
            <a:ext cx="1773936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앞의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6851142"/>
            <a:ext cx="6345936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2번째 인자 (dan * i)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7386066"/>
            <a:ext cx="1773936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,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7386066"/>
            <a:ext cx="6345936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폭 2칸 — 모자라면 왼쪽 공백, 오른쪽 정렬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" y="7920990"/>
            <a:ext cx="9144000" cy="534924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280160" y="7920990"/>
            <a:ext cx="1773936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:D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7920990"/>
            <a:ext cx="6345936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10진 정수로 표시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607040" y="6532245"/>
            <a:ext cx="6656832" cy="216027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972800" y="6727698"/>
            <a:ext cx="592531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SELF STUDY 6-2 — 거꾸로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7355205"/>
            <a:ext cx="5925312" cy="12138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8행만 for (int i = 9; i &gt;= 1; i--)</a:t>
            </a:r>
          </a:p>
          <a:p>
            <a:pPr algn="l">
              <a:lnSpc>
                <a:spcPct val="142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→ 7 X 9 = 63부터 7 X 1 =  7까지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6장 2절 V · [소스 6-10] · SELF STUDY 6-2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중첩 for — 시침이 한 칸 갈 때 분침은 한 바퀴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반복을 맡기는 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509760" cy="288036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87782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[소스 6-11] 바깥 3회 × 안쪽 2회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8705088" cy="216027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Main(string[] args)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 (int i = 0; i &lt; 3; i++)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for (int k = 0; k &lt; 2; k++)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{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Console.WriteLine("C#은 꿀잼입니다. ^^ (i값: {0}, k값: {1})" , i, k);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}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0" y="2571750"/>
            <a:ext cx="6291072" cy="288036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0972800" y="2571750"/>
            <a:ext cx="91440" cy="288036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338560" y="2674620"/>
            <a:ext cx="555955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75136" y="3024378"/>
            <a:ext cx="5486400" cy="230428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C#은 꿀잼입니다. ^^ (i값: 0, k값: 0)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C#은 꿀잼입니다. ^^ (i값: 0, k값: 1)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C#은 꿀잼입니다. ^^ (i값: 1, k값: 0)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C#은 꿀잼입니다. ^^ (i값: 1, k값: 1)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C#은 꿀잼입니다. ^^ (i값: 2, k값: 0)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C#은 꿀잼입니다. ^^ (i값: 2, k값: 1)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" y="5657850"/>
            <a:ext cx="16239744" cy="473202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43584" y="5657850"/>
            <a:ext cx="2159447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E7D2A"/>
                </a:solidFill>
                <a:latin typeface="페이퍼로지 8 ExtraBold"/>
                <a:ea typeface="페이퍼로지 8 ExtraBold"/>
                <a:cs typeface="페이퍼로지 8 ExtraBold"/>
              </a:rPr>
              <a:t>바깥 회차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1943" y="5657850"/>
            <a:ext cx="118506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E7D2A"/>
                </a:solidFill>
                <a:latin typeface="페이퍼로지 8 ExtraBold"/>
                <a:ea typeface="페이퍼로지 8 ExtraBold"/>
                <a:cs typeface="페이퍼로지 8 ExtraBold"/>
              </a:rPr>
              <a:t>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65917" y="5657850"/>
            <a:ext cx="3133831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E7D2A"/>
                </a:solidFill>
                <a:latin typeface="페이퍼로지 8 ExtraBold"/>
                <a:ea typeface="페이퍼로지 8 ExtraBold"/>
                <a:cs typeface="페이퍼로지 8 ExtraBold"/>
              </a:rPr>
              <a:t>안쪽 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38661" y="5657850"/>
            <a:ext cx="800575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E7D2A"/>
                </a:solidFill>
                <a:latin typeface="페이퍼로지 8 ExtraBold"/>
                <a:ea typeface="페이퍼로지 8 ExtraBold"/>
                <a:cs typeface="페이퍼로지 8 ExtraBold"/>
              </a:rPr>
              <a:t>출력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" y="6131052"/>
            <a:ext cx="16239744" cy="514350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280160" y="6131052"/>
            <a:ext cx="2086295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78519" y="6131052"/>
            <a:ext cx="111191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02493" y="6131052"/>
            <a:ext cx="3060679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 →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5237" y="6131052"/>
            <a:ext cx="7932602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(i값: 0, k값: 0) · (i값: 0, k값: 1)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6645402"/>
            <a:ext cx="2086295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78519" y="6645402"/>
            <a:ext cx="111191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02493" y="6645402"/>
            <a:ext cx="3060679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다시 0 →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75237" y="6645402"/>
            <a:ext cx="7932602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(i값: 1, k값: 0) · (i값: 1, k값: 1)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4128" y="7159752"/>
            <a:ext cx="16239744" cy="514350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280160" y="7159752"/>
            <a:ext cx="2086295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78519" y="7159752"/>
            <a:ext cx="111191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02493" y="7159752"/>
            <a:ext cx="3060679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다시 0 → 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75237" y="7159752"/>
            <a:ext cx="7932602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(i값: 2, k값: 0) · (i값: 2, k값: 1)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24128" y="7838694"/>
            <a:ext cx="16239744" cy="843534"/>
          </a:xfrm>
          <a:prstGeom prst="roundRect">
            <a:avLst>
              <a:gd name="adj" fmla="val 10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463040" y="7900416"/>
            <a:ext cx="15361920" cy="72008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i는 0 → 1 → 2 한 번씩, k는 0 · 1을 계속 — 안쪽 초깃값 k = 0이 바깥 한 바퀴마다 다시 실행된다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6장 3절 · 그림 6-7~6-9 · [소스 6-11]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구구단 2~9단 — [소스 6-12]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반복을 맡기는 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8046720" cy="37033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fig6-10_gugu_i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499" y="2664333"/>
            <a:ext cx="5575977" cy="306552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5822442"/>
            <a:ext cx="8046720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5822442"/>
            <a:ext cx="753465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9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그림 6-10 발췌 — 바깥 i는 단, 안쪽 k는 곱하는 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2571750"/>
            <a:ext cx="7754112" cy="349758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875520" y="2674620"/>
            <a:ext cx="702259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[소스 6-12]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12096" y="3168396"/>
            <a:ext cx="6949440" cy="277749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Main(string[] args)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 (int i = 2; i &lt; 10; i++)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for (int k = 1; k &lt; 10; k++)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{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Console.WriteLine("{0} X {1} = {2, 2:D}", i, k, i * k);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}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Console.WriteLine();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6275070"/>
            <a:ext cx="7754112" cy="2417445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509760" y="6275070"/>
            <a:ext cx="91440" cy="241744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875520" y="6377940"/>
            <a:ext cx="702259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 (80줄 중 일부)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12096" y="6727698"/>
            <a:ext cx="6949440" cy="184137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2 X 1 =  2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2 X 2 =  4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2 X 3 =  6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2 X 4 =  8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 … (중략) …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9 X 7 = 63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9 X 8 = 72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6480810"/>
            <a:ext cx="8046720" cy="221170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389888" y="6676263"/>
            <a:ext cx="731520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9행과 SELF STUDY 6-3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7303770"/>
            <a:ext cx="7315200" cy="12653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9행 WriteLine() — 안쪽 for가 끝난 뒤라 </a:t>
            </a:r>
            <a:r>
              <a:rPr sz="1900" b="0" lang="ko-KR" altLang="en-US">
                <a:solidFill>
                  <a:srgbClr val="3E7D2A"/>
                </a:solidFill>
                <a:latin typeface="프리젠테이션 5 Medium"/>
                <a:ea typeface="프리젠테이션 5 Medium"/>
                <a:cs typeface="프리젠테이션 5 Medium"/>
              </a:rPr>
              <a:t>단마다 빈 줄 1개</a:t>
            </a: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.</a:t>
            </a:r>
          </a:p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제목 ## 2 단 ##은 </a:t>
            </a:r>
            <a:r>
              <a:rPr sz="1900" b="0" lang="ko-KR" altLang="en-US">
                <a:solidFill>
                  <a:srgbClr val="3E7D2A"/>
                </a:solidFill>
                <a:latin typeface="프리젠테이션 5 Medium"/>
                <a:ea typeface="프리젠테이션 5 Medium"/>
                <a:cs typeface="프리젠테이션 5 Medium"/>
              </a:rPr>
              <a:t>바깥 for 안, 안쪽 for 앞</a:t>
            </a: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에 한 줄.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6장 3절 II · 그림 6-10 · [소스 6-12] · SELF STUDY 6-3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[프로그램 1] 가로 구구단 — 표를 가로줄로 읽기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반복을 맡기는 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0241280" cy="45262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fig6-11_gugu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834" y="2664333"/>
            <a:ext cx="7355868" cy="3888485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6645402"/>
            <a:ext cx="10241280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6645402"/>
            <a:ext cx="972921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그림 6-11 발췌 — 가로 먼저 출력할 때의 i와 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704320" y="2571750"/>
            <a:ext cx="5559552" cy="452628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070080" y="2767203"/>
            <a:ext cx="482803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가로로 찍는 발상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80" y="3394710"/>
            <a:ext cx="4828032" cy="35798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콘솔은 위에서 아래로만 찍힌다.</a:t>
            </a:r>
          </a:p>
          <a:p>
            <a:pPr algn="l">
              <a:lnSpc>
                <a:spcPct val="142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한 줄 = 곱하는 수가 같은 여러 단.</a:t>
            </a:r>
          </a:p>
          <a:p>
            <a:pPr algn="l">
              <a:lnSpc>
                <a:spcPct val="142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바깥 i = </a:t>
            </a:r>
            <a:r>
              <a:rPr sz="2300" b="0" lang="ko-KR" altLang="en-US">
                <a:solidFill>
                  <a:srgbClr val="3E7D2A"/>
                </a:solidFill>
                <a:latin typeface="프리젠테이션 5 Medium"/>
                <a:ea typeface="프리젠테이션 5 Medium"/>
                <a:cs typeface="프리젠테이션 5 Medium"/>
              </a:rPr>
              <a:t>곱하는 수</a:t>
            </a: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(줄)</a:t>
            </a:r>
          </a:p>
          <a:p>
            <a:pPr algn="l">
              <a:lnSpc>
                <a:spcPct val="142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안쪽 k = </a:t>
            </a:r>
            <a:r>
              <a:rPr sz="2300" b="0" lang="ko-KR" altLang="en-US">
                <a:solidFill>
                  <a:srgbClr val="3E7D2A"/>
                </a:solidFill>
                <a:latin typeface="프리젠테이션 5 Medium"/>
                <a:ea typeface="프리젠테이션 5 Medium"/>
                <a:cs typeface="프리젠테이션 5 Medium"/>
              </a:rPr>
              <a:t>단</a:t>
            </a: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(칸)</a:t>
            </a:r>
          </a:p>
          <a:p>
            <a:pPr algn="l">
              <a:lnSpc>
                <a:spcPct val="142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한 줄을 문자열에 모았다가 한 번에 출력.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" y="7355205"/>
            <a:ext cx="16239744" cy="1337310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426464" y="7530084"/>
            <a:ext cx="15435071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그림 라벨과 코드의 차이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6464" y="7992999"/>
            <a:ext cx="15435071" cy="5554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그림은 바깥 i를 '1에서 9까지'라고 적었지만 [소스 6-13]의 바깥 i는 2부터 — 그래서 완성 화면에 ×1 줄이 없다.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6장 3절 III · 그림 6-11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[소스 6-13] 한 줄을 문자열로 모으기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반복을 맡기는 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0241280" cy="462915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9509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[소스 6-13] 구구단을 가로로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9436608" cy="39090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Main(string[] args)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string guguLine = "";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 (int i = 2; i &lt; 10; i++)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guguLine = guguLine + (" #" + i + "단# ");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Console.WriteLine(guguLine);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 (int i = 2; i &lt; 10; i++)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guguLine = "";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for (int k = 2; k &lt; 10; k++)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{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guguLine = guguLine + String.Format("{0}X{1}={2, 2:D} ", k, i, k * i);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}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Console.WriteLine(guguLine);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704320" y="2571750"/>
            <a:ext cx="5559552" cy="452628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1923776" y="2571750"/>
            <a:ext cx="1340144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lang="ko-KR" altLang="en-US">
                <a:solidFill>
                  <a:srgbClr val="3E7D2A"/>
                </a:solidFill>
                <a:latin typeface="페이퍼로지 8 ExtraBold"/>
                <a:ea typeface="페이퍼로지 8 ExtraBold"/>
                <a:cs typeface="페이퍼로지 8 ExtraBold"/>
              </a:rPr>
              <a:t>i = 2일 때 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02832" y="2571750"/>
            <a:ext cx="3341583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lang="ko-KR" altLang="en-US">
                <a:solidFill>
                  <a:srgbClr val="3E7D2A"/>
                </a:solidFill>
                <a:latin typeface="페이퍼로지 8 ExtraBold"/>
                <a:ea typeface="페이퍼로지 8 ExtraBold"/>
                <a:cs typeface="페이퍼로지 8 ExtraBold"/>
              </a:rPr>
              <a:t>guguLine에 붙는 조각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704320" y="3024378"/>
            <a:ext cx="5559552" cy="45262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1960352" y="3024378"/>
            <a:ext cx="126699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39408" y="3024378"/>
            <a:ext cx="3268431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2X2= 4 + 공백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960352" y="3477006"/>
            <a:ext cx="126699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39408" y="3477006"/>
            <a:ext cx="3268431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3X2= 6 + 공백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704320" y="3929634"/>
            <a:ext cx="5559552" cy="45262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1960352" y="3929634"/>
            <a:ext cx="126699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39408" y="3929634"/>
            <a:ext cx="3268431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4X2= 8 + 공백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960352" y="4382262"/>
            <a:ext cx="126699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39408" y="4382262"/>
            <a:ext cx="3268431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5X2=10 + 공백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704320" y="4834890"/>
            <a:ext cx="5559552" cy="45262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1960352" y="4834890"/>
            <a:ext cx="126699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39408" y="4834890"/>
            <a:ext cx="3268431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960352" y="5287518"/>
            <a:ext cx="126699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39408" y="5287518"/>
            <a:ext cx="3268431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9X2=18 + 공백 → 출력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704320" y="6017895"/>
            <a:ext cx="5559552" cy="267462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2070080" y="6213348"/>
            <a:ext cx="482803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String.Format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070080" y="6840855"/>
            <a:ext cx="4828032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WriteLine과 같은 서식으로 </a:t>
            </a:r>
            <a:r>
              <a:rPr sz="2000" b="0" lang="ko-KR" altLang="en-US">
                <a:solidFill>
                  <a:srgbClr val="3E7D2A"/>
                </a:solidFill>
                <a:latin typeface="프리젠테이션 5 Medium"/>
                <a:ea typeface="프리젠테이션 5 Medium"/>
                <a:cs typeface="프리젠테이션 5 Medium"/>
              </a:rPr>
              <a:t>문자열을 만들어 돌려줄 뿐</a:t>
            </a: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, 화면에 찍지 않는다.</a:t>
            </a:r>
          </a:p>
          <a:p>
            <a:pPr algn="l">
              <a:lnSpc>
                <a:spcPct val="142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{0} = k(단), {1} = i(곱하는 수)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24128" y="7406640"/>
            <a:ext cx="10241280" cy="128587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389888" y="7550658"/>
            <a:ext cx="9509760" cy="43719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11행 guguLine = "";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9888" y="8059864"/>
            <a:ext cx="9509760" cy="5092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새 줄마다 비운다 — 빼면 앞줄 내용이 계속 쌓인다.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제목 줄은 5~7행에서 따로 — 중괄호 없는 for라 6행만 8번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[소스 6-13]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가로 구구단 결과와 SELF STUDY 6-4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반복을 맡기는 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288036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024128" y="2571750"/>
            <a:ext cx="91440" cy="288036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389888" y="2674620"/>
            <a:ext cx="15508224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[소스 6-13] 실행 결과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6464" y="3024378"/>
            <a:ext cx="15435071" cy="230428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5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 #2단#  #3단#  #4단#  #5단#  #6단#  #7단#  #8단#  #9단#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2X2= 4 3X2= 6 4X2= 8 5X2=10 6X2=12 7X2=14 8X2=16 9X2=18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2X3= 6 3X3= 9 4X3=12 5X3=15 6X3=18 7X3=21 8X3=24 9X3=27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2X4= 8 3X4=12 4X4=16 5X4=20 6X4=24 7X4=28 8X4=32 9X4=36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2X5=10 3X5=15 4X5=20 5X5=25 6X5=30 7X5=35 8X5=40 9X5=45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2X6=12 3X6=18 4X6=24 5X6=30 6X6=36 7X6=42 8X6=48 9X6=54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2X7=14 3X7=21 4X7=28 5X7=35 6X7=42 7X7=49 8X7=56 9X7=63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2X8=16 3X8=24 4X8=32 5X8=40 6X8=48 7X8=56 8X8=64 9X8=72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2X9=18 3X9=27 4X9=36 5X9=45 6X9=54 7X9=63 8X9=72 9X9=81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5657850"/>
            <a:ext cx="10607040" cy="3034665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024128" y="5657850"/>
            <a:ext cx="91440" cy="303466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389888" y="5760720"/>
            <a:ext cx="987552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SELF STUDY 6-4 — 거꾸로 (정답 코드의 실행 결과)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26464" y="6110478"/>
            <a:ext cx="9802368" cy="245859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7E9A8F"/>
                </a:solidFill>
                <a:latin typeface="Consolas"/>
                <a:ea typeface="Consolas"/>
                <a:cs typeface="Consolas"/>
              </a:rPr>
              <a:t> #9단#  #8단#  #7단#  #6단#  #5단#  #4단#  #3단#  #2단#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9X9=81 8X9=72 7X9=63 6X9=54 5X9=45 4X9=36 3X9=27 2X9=18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9X8=72 8X8=64 7X8=56 6X8=48 5X8=40 4X8=32 3X8=24 2X8=16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9X7=63 8X7=56 7X7=49 6X7=42 5X7=35 4X7=28 3X7=21 2X7=14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9X6=54 8X6=48 7X6=42 6X6=36 5X6=30 4X6=24 3X6=18 2X6=12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9X5=45 8X5=40 7X5=35 6X5=30 5X5=25 4X5=20 3X5=15 2X5=10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9X4=36 8X4=32 7X4=28 6X4=24 5X4=20 4X4=16 3X4=12 2X4= 8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9X3=27 8X3=24 7X3=21 6X3=18 5X3=15 4X3=12 3X3= 9 2X3= 6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9X2=18 8X2=16 7X2=14 6X2=12 5X2=10 4X2= 8 3X2= 6 2X2= 4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9X1= 9 8X1= 8 7X1= 7 6X1= 6 5X1= 5 4X1= 4 3X1= 3 2X1= 2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070080" y="5657850"/>
            <a:ext cx="5193792" cy="303466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2435840" y="5853303"/>
            <a:ext cx="446227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풀이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35840" y="6480810"/>
            <a:ext cx="4462272" cy="20882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제목·칸(단) 9 → 2</a:t>
            </a:r>
          </a:p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i &gt; 1; i--</a:t>
            </a:r>
          </a:p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줄(곱하는 수) 9 → 1</a:t>
            </a:r>
          </a:p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i &gt; 0; i--</a:t>
            </a:r>
          </a:p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×1 줄까지 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그림 6-1, 6-12 · SELF STUDY 6-4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for를 while로 — 세 단계 변환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반복을 맡기는 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54864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fig6-14_for_to_wh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746" y="2664333"/>
            <a:ext cx="4349164" cy="347700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6233922"/>
            <a:ext cx="5486400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6233922"/>
            <a:ext cx="497433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그림 6-14 발췌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76288" y="2571750"/>
            <a:ext cx="3218688" cy="411480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242048" y="2674620"/>
            <a:ext cx="24871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① 기본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78624" y="3168396"/>
            <a:ext cx="2414016" cy="339471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int i;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for (i = 0 ; i &lt; 3 ; i++ 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Console.WriteLine(~~);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60736" y="2571750"/>
            <a:ext cx="3218688" cy="411480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826496" y="2674620"/>
            <a:ext cx="24871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② 위치 이동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63072" y="3168396"/>
            <a:ext cx="2414016" cy="339471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int i;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 = 0;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for ( ; i &lt; 3 ; 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Console.WriteLine(~~);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i++ 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045184" y="2571750"/>
            <a:ext cx="3218688" cy="411480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4410944" y="2674620"/>
            <a:ext cx="24871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③ while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47520" y="3168396"/>
            <a:ext cx="2414016" cy="339471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int i;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 = 0;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while ( i &lt; 3 )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Console.WriteLine(~~);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i++ 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4128" y="699516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3E7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24128" y="702087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92223" y="6938581"/>
            <a:ext cx="15471648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초깃값은 while 문 </a:t>
            </a:r>
            <a:r>
              <a:rPr sz="2100" b="0" lang="ko-KR" altLang="en-US">
                <a:solidFill>
                  <a:srgbClr val="3E7D2A"/>
                </a:solidFill>
                <a:latin typeface="프리젠테이션 5 Medium"/>
                <a:ea typeface="프리젠테이션 5 Medium"/>
                <a:cs typeface="프리젠테이션 5 Medium"/>
              </a:rPr>
              <a:t>위로</a:t>
            </a: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뺀다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4128" y="7550658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3E7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024128" y="7576375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92223" y="7494079"/>
            <a:ext cx="15471648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증감식은 블록 안 </a:t>
            </a:r>
            <a:r>
              <a:rPr sz="2100" b="0" lang="ko-KR" altLang="en-US">
                <a:solidFill>
                  <a:srgbClr val="3E7D2A"/>
                </a:solidFill>
                <a:latin typeface="프리젠테이션 5 Medium"/>
                <a:ea typeface="프리젠테이션 5 Medium"/>
                <a:cs typeface="프리젠테이션 5 Medium"/>
              </a:rPr>
              <a:t>맨 아래로</a:t>
            </a: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옮긴다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4128" y="8106156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3E7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024128" y="8131873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92223" y="8049577"/>
            <a:ext cx="15471648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for를 while로 바꾸고 괄호 안 </a:t>
            </a:r>
            <a:r>
              <a:rPr sz="2100" b="0" lang="ko-KR" altLang="en-US">
                <a:solidFill>
                  <a:srgbClr val="3E7D2A"/>
                </a:solidFill>
                <a:latin typeface="프리젠테이션 5 Medium"/>
                <a:ea typeface="프리젠테이션 5 Medium"/>
                <a:cs typeface="프리젠테이션 5 Medium"/>
              </a:rPr>
              <a:t>세미콜론 두 개</a:t>
            </a: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를 지운다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~~는 교재의 줄임 표기 — 그대로 치면 컴파일되지 않는다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6장 4절 I · 그림 6-13, 6-14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while로 합계 — [소스 6-14] · [소스 6-15]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반복을 맡기는 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144000" cy="411480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8412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[소스 6-15] while로 1~10 합계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8339328" cy="339471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Main(string[] args)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hap = 0;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i;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 = 1;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while (i &lt;= 10)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hap = hap + i;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i++;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Console.WriteLine(" 1에서 10까지의 합: {0}", hap);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07040" y="2571750"/>
            <a:ext cx="6656832" cy="113157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0607040" y="2571750"/>
            <a:ext cx="91440" cy="113157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972800" y="2674620"/>
            <a:ext cx="592531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9376" y="3024378"/>
            <a:ext cx="5852160" cy="55549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1에서 10까지의 합: 55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07040" y="3960495"/>
            <a:ext cx="6656832" cy="267462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972800" y="4155948"/>
            <a:ext cx="592531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주의할 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4783455"/>
            <a:ext cx="5925312" cy="1728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10행 i++를 빼면 i가 영원히 1 → 무한 반복</a:t>
            </a:r>
          </a:p>
          <a:p>
            <a:pPr algn="l">
              <a:lnSpc>
                <a:spcPct val="142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9·10행 순서를 바꾸면 2~11을 더해 65</a:t>
            </a:r>
          </a:p>
          <a:p>
            <a:pPr algn="l">
              <a:lnSpc>
                <a:spcPct val="142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SELF STUDY 6-5: i = num1; while (i &lt;= num2) { …; i += num3; 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4128" y="6892290"/>
            <a:ext cx="16239744" cy="452628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43584" y="6892290"/>
            <a:ext cx="280903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4491532" y="6892290"/>
            <a:ext cx="6056985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E7D2A"/>
                </a:solidFill>
                <a:latin typeface="페이퍼로지 8 ExtraBold"/>
                <a:ea typeface="페이퍼로지 8 ExtraBold"/>
                <a:cs typeface="페이퍼로지 8 ExtraBold"/>
              </a:rPr>
              <a:t>for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87430" y="6892290"/>
            <a:ext cx="6056985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E7D2A"/>
                </a:solidFill>
                <a:latin typeface="페이퍼로지 8 ExtraBold"/>
                <a:ea typeface="페이퍼로지 8 ExtraBold"/>
                <a:cs typeface="페이퍼로지 8 ExtraBold"/>
              </a:rPr>
              <a:t>while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4128" y="7344918"/>
            <a:ext cx="16239744" cy="411480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280160" y="7344918"/>
            <a:ext cx="273588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괄호 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8108" y="7344918"/>
            <a:ext cx="5983833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초깃값; 조건식; 증감식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24006" y="7344918"/>
            <a:ext cx="5983833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조건식만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7756398"/>
            <a:ext cx="273588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어울리는 상황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8108" y="7756398"/>
            <a:ext cx="5983833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횟수가 정해진 반복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24006" y="7756398"/>
            <a:ext cx="5983833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조건만 아는 반복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4128" y="8167878"/>
            <a:ext cx="16239744" cy="411480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280160" y="8167878"/>
            <a:ext cx="2735884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검사 시점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8108" y="8167878"/>
            <a:ext cx="5983833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먼저 검사 — 0번 가능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24006" y="8167878"/>
            <a:ext cx="5983833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먼저 검사 — 0번 가능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[소스 6-14], [소스 6-15] · SELF STUDY 6-5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무한루프 — while (true)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반복을 맡기는 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144000" cy="411480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8412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[소스 6-16] 끝나지 않는 덧셈기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8339328" cy="339471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Main(string[] args)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num1, num2;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while (true)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Console.Write("값1 입력 : ");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num1 = int.Parse(Console.ReadLine());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Console.Write("값2 입력 : ");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num2 = int.Parse(Console.ReadLine());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Console.WriteLine("{0} + {1} = {2}", num1, num2, num1 + num2);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07040" y="2571750"/>
            <a:ext cx="6656832" cy="267462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0607040" y="2571750"/>
            <a:ext cx="91440" cy="267462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972800" y="2674620"/>
            <a:ext cx="592531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콘솔 화면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9376" y="3024378"/>
            <a:ext cx="5852160" cy="209854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값1 입력 : 22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값2 입력 : 33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22 + 33 = 55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값1 입력 : 123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값2 입력 : 4478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123 + 4478 = 4601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값1 입력 :   ← Ctrl + C로 중지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07040" y="5452110"/>
            <a:ext cx="6656832" cy="324040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972800" y="5647563"/>
            <a:ext cx="592531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while (true)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275070"/>
            <a:ext cx="5925312" cy="22940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조건식이 항상 참 → 끝나지 않는 반복.</a:t>
            </a:r>
          </a:p>
          <a:p>
            <a:pPr algn="l">
              <a:lnSpc>
                <a:spcPct val="142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쓸모: 사용자가 그만할 때까지 도는 계산기.</a:t>
            </a:r>
          </a:p>
          <a:p>
            <a:pPr algn="l">
              <a:lnSpc>
                <a:spcPct val="142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멈추기: 콘솔에서 </a:t>
            </a:r>
            <a:r>
              <a:rPr sz="2000" b="0" lang="ko-KR" altLang="en-US">
                <a:solidFill>
                  <a:srgbClr val="3E7D2A"/>
                </a:solidFill>
                <a:latin typeface="프리젠테이션 5 Medium"/>
                <a:ea typeface="프리젠테이션 5 Medium"/>
                <a:cs typeface="프리젠테이션 5 Medium"/>
              </a:rPr>
              <a:t>Ctrl + C</a:t>
            </a: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, 코드에서는 break.</a:t>
            </a:r>
          </a:p>
          <a:p>
            <a:pPr algn="l">
              <a:lnSpc>
                <a:spcPct val="142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for (;;)도 무한루프다.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4128" y="6943725"/>
            <a:ext cx="9144000" cy="1748790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426464" y="7118604"/>
            <a:ext cx="8339328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출구를 먼저 생각하라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26464" y="7581519"/>
            <a:ext cx="8339328" cy="9669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 소스는 스스로 끝나지 않는다. 다음 절의 break로 출구를 단다([소스 6-19]).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6장 4절 II · 그림 6-15 · [소스 6-16]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do~while — 먼저 하고 나중에 묻기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반복을 맡기는 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509760" cy="452628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87782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[소스 6-17] while과 do~while의 차이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8705088" cy="380619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Main(string[] args)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bool yn;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Console.Write("true 또는 false 입력 : ");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yn = bool.Parse(Console.ReadLine());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while (yn)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Console.WriteLine("while 문이 수행되었습니다. ");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do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Console.WriteLine("do~while 문이 수행되었습니다. ");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 while (yn) 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0" y="2571750"/>
            <a:ext cx="6291072" cy="144018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0972800" y="2571750"/>
            <a:ext cx="91440" cy="144018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338560" y="2674620"/>
            <a:ext cx="555955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콘솔 화면 (false 입력)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75136" y="3024378"/>
            <a:ext cx="5486400" cy="86410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true 또는 false 입력 : false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do~while 문이 수행되었습니다.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0" y="4217670"/>
            <a:ext cx="6291072" cy="473202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192256" y="4217670"/>
            <a:ext cx="1322588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E7D2A"/>
                </a:solidFill>
                <a:latin typeface="페이퍼로지 8 ExtraBold"/>
                <a:ea typeface="페이퍼로지 8 ExtraBold"/>
                <a:cs typeface="페이퍼로지 8 ExtraBold"/>
              </a:rPr>
              <a:t>입력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53756" y="4217670"/>
            <a:ext cx="1825873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E7D2A"/>
                </a:solidFill>
                <a:latin typeface="페이퍼로지 8 ExtraBold"/>
                <a:ea typeface="페이퍼로지 8 ExtraBold"/>
                <a:cs typeface="페이퍼로지 8 ExtraBold"/>
              </a:rPr>
              <a:t>while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18542" y="4217670"/>
            <a:ext cx="1825873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E7D2A"/>
                </a:solidFill>
                <a:latin typeface="페이퍼로지 8 ExtraBold"/>
                <a:ea typeface="페이퍼로지 8 ExtraBold"/>
                <a:cs typeface="페이퍼로지 8 ExtraBold"/>
              </a:rPr>
              <a:t>do~while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0" y="4690872"/>
            <a:ext cx="6291072" cy="55549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1228832" y="4690872"/>
            <a:ext cx="1249436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false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90332" y="4690872"/>
            <a:ext cx="1752721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55118" y="4690872"/>
            <a:ext cx="1752721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28832" y="5246370"/>
            <a:ext cx="1249436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true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90332" y="5246370"/>
            <a:ext cx="1752721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무한 반복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55118" y="5246370"/>
            <a:ext cx="1752721" cy="55549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도달 못 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72800" y="6069330"/>
            <a:ext cx="6291072" cy="262318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1338560" y="6264783"/>
            <a:ext cx="555955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16행 } while (yn) 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892290"/>
            <a:ext cx="5559552" cy="16767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do~while 끝에만 세미콜론 — 빠뜨리면 컴파일 오류.</a:t>
            </a:r>
          </a:p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true를 넣으면 while이 끝나지 않으니 false로 실험.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4128" y="7355205"/>
            <a:ext cx="9509760" cy="133731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389888" y="7499223"/>
            <a:ext cx="8778240" cy="45468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쉽게 말하면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89888" y="8025917"/>
            <a:ext cx="8778240" cy="5431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while은 '배고프면 먹어', do~while은 '일단 한 입 먹고, 더 먹을지는 그다음에'.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자료 제목엔 '[소스 6-16]'으로 표기 — Project06_17 기준 6-17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6장 4절 III · [소스 6-17]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break — 반복문 밖으로 즉시 탈출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반복을 맡기는 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8778240" cy="493776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80467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[소스 6-19] 0을 넣으면 탈출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7973568" cy="421767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Main(string[] args)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num1, num2;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while (true)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Console.Write("값1 입력 : ");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num1 = int.Parse(Console.ReadLine());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if (num1 == 0)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break;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Console.Write("값2 입력 : ");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num2 = int.Parse(Console.ReadLine());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Console.WriteLine("{0} + {1} = {2}", num1, num2, num1 + num2);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Console.WriteLine("0을 입력해서 반복문을 탈출했습니다");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0" y="2571750"/>
            <a:ext cx="7022592" cy="267462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0241280" y="2571750"/>
            <a:ext cx="91440" cy="267462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607040" y="2674620"/>
            <a:ext cx="629107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콘솔 화면 (33, 77 / 11, 1234 / 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43616" y="3024378"/>
            <a:ext cx="6217920" cy="209854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값1 입력 : 33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값2 입력 : 77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33 + 77 = 110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값1 입력 : 11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값2 입력 : 1234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11 + 1234 = 1245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값1 입력 : 0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0을 입력해서 반복문을 탈출했습니다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0" y="5452110"/>
            <a:ext cx="7022592" cy="324040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607040" y="5647563"/>
            <a:ext cx="629107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break와 [소스 6-18]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275070"/>
            <a:ext cx="6291072" cy="229400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break를 만나면 남은 반복과 관계없이 반복문 밖으로.</a:t>
            </a:r>
          </a:p>
          <a:p>
            <a:pPr algn="l">
              <a:lnSpc>
                <a:spcPct val="142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[소스 6-18]: 100번 돌 for에 break만 두면 '1 회 실행' 뒤 바로 탈출.</a:t>
            </a:r>
          </a:p>
          <a:p>
            <a:pPr algn="l">
              <a:lnSpc>
                <a:spcPct val="142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그래서 break는 </a:t>
            </a:r>
            <a:r>
              <a:rPr sz="2100" b="0" lang="ko-KR" altLang="en-US">
                <a:solidFill>
                  <a:srgbClr val="3E7D2A"/>
                </a:solidFill>
                <a:latin typeface="프리젠테이션 5 Medium"/>
                <a:ea typeface="프리젠테이션 5 Medium"/>
                <a:cs typeface="프리젠테이션 5 Medium"/>
              </a:rPr>
              <a:t>if와 짝</a:t>
            </a: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9~10행.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4128" y="7715250"/>
            <a:ext cx="8778240" cy="977265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426464" y="7715250"/>
            <a:ext cx="7973568" cy="9772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비교는 == (= 하나면 컴파일 오류)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6장 5절 I · 그림 6-16 · [소스 6-18], [소스 6-19]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continue — 이번 바퀴만 건너뛰기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반복을 맡기는 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7315200" cy="20574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fig6-17_conti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2438" y="2664333"/>
            <a:ext cx="3358580" cy="141960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4176522"/>
            <a:ext cx="7315200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4176522"/>
            <a:ext cx="680313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그림 6-17 발췌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4834890"/>
            <a:ext cx="7315200" cy="385762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89888" y="4937760"/>
            <a:ext cx="65836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[소스 6-20] 3의 배수 제외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6464" y="5431536"/>
            <a:ext cx="6510528" cy="313753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Main(string[] args)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hap = 0;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i;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 (i = 1; i &lt;= 100; i++)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if (i % 3 == 0)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continue;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hap += i;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Console.WriteLine(" 1~100까지의 합(3의 배수 제외): {0}", hap);</a:t>
            </a:r>
          </a:p>
          <a:p>
            <a:pPr>
              <a:lnSpc>
                <a:spcPct val="132000"/>
              </a:lnSpc>
            </a:pPr>
            <a:r>
              <a:rPr sz="10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78240" y="2571750"/>
            <a:ext cx="8485632" cy="113157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778240" y="2571750"/>
            <a:ext cx="91440" cy="113157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144000" y="2674620"/>
            <a:ext cx="775411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0576" y="3024378"/>
            <a:ext cx="7680960" cy="55549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1~100까지의 합(3의 배수 제외): 3367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3909060"/>
            <a:ext cx="8485632" cy="452628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997696" y="3909060"/>
            <a:ext cx="579363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E7D2A"/>
                </a:solidFill>
                <a:latin typeface="페이퍼로지 8 ExtraBold"/>
                <a:ea typeface="페이퍼로지 8 ExtraBold"/>
                <a:cs typeface="페이퍼로지 8 ExtraBold"/>
              </a:rPr>
              <a:t>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15971" y="3909060"/>
            <a:ext cx="918789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300" b="0" lang="ko-KR" altLang="en-US">
                <a:solidFill>
                  <a:srgbClr val="3E7D2A"/>
                </a:solidFill>
                <a:latin typeface="페이퍼로지 8 ExtraBold"/>
                <a:ea typeface="페이퍼로지 8 ExtraBold"/>
                <a:cs typeface="페이퍼로지 8 ExtraBold"/>
              </a:rPr>
              <a:t>i %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73672" y="3909060"/>
            <a:ext cx="397361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E7D2A"/>
                </a:solidFill>
                <a:latin typeface="페이퍼로지 8 ExtraBold"/>
                <a:ea typeface="페이퍼로지 8 ExtraBold"/>
                <a:cs typeface="페이퍼로지 8 ExtraBold"/>
              </a:rPr>
              <a:t>동작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786201" y="3909060"/>
            <a:ext cx="1258214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E7D2A"/>
                </a:solidFill>
                <a:latin typeface="페이퍼로지 8 ExtraBold"/>
                <a:ea typeface="페이퍼로지 8 ExtraBold"/>
                <a:cs typeface="페이퍼로지 8 ExtraBold"/>
              </a:rPr>
              <a:t>hap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78240" y="4361688"/>
            <a:ext cx="8485632" cy="442341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034272" y="4361688"/>
            <a:ext cx="506211" cy="44234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2547" y="4361688"/>
            <a:ext cx="845637" cy="44234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10248" y="4361688"/>
            <a:ext cx="3900464" cy="44234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hap +=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822777" y="4361688"/>
            <a:ext cx="1185062" cy="44234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34272" y="4804028"/>
            <a:ext cx="506211" cy="44234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2547" y="4804028"/>
            <a:ext cx="845637" cy="44234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10248" y="4804028"/>
            <a:ext cx="3900464" cy="44234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hap += 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822777" y="4804028"/>
            <a:ext cx="1185062" cy="44234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78240" y="5246370"/>
            <a:ext cx="8485632" cy="442341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034272" y="5246370"/>
            <a:ext cx="506211" cy="44234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2547" y="5246370"/>
            <a:ext cx="845637" cy="44234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10248" y="5246370"/>
            <a:ext cx="3900464" cy="44234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continue → 더하지 않고 i++로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822777" y="5246370"/>
            <a:ext cx="1185062" cy="44234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34272" y="5688711"/>
            <a:ext cx="506211" cy="44234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2547" y="5688711"/>
            <a:ext cx="845637" cy="44234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10248" y="5688711"/>
            <a:ext cx="3900464" cy="44234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hap += 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822777" y="5688711"/>
            <a:ext cx="1185062" cy="44234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7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778240" y="6131052"/>
            <a:ext cx="8485632" cy="442341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9034272" y="6131052"/>
            <a:ext cx="506211" cy="44234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2547" y="6131052"/>
            <a:ext cx="845637" cy="44234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10248" y="6131052"/>
            <a:ext cx="3900464" cy="44234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hap += 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822777" y="6131052"/>
            <a:ext cx="1185062" cy="44234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34272" y="6573393"/>
            <a:ext cx="506211" cy="44234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2547" y="6573393"/>
            <a:ext cx="845637" cy="44234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10248" y="6573393"/>
            <a:ext cx="3900464" cy="44234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continue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822777" y="6573393"/>
            <a:ext cx="1185062" cy="44234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12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778240" y="7252335"/>
            <a:ext cx="8485632" cy="144018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9144000" y="7447788"/>
            <a:ext cx="775411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검산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0" y="8075295"/>
            <a:ext cx="7754112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1~100 합 5050 − 3의 배수 합 1683(SELF STUDY 6-1) = 3367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자료 제목엔 'break 문의 사용 예 3' — 내용은 continue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6장 5절 II · [소스 6-20]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goto와 return — [소스 6-21] · [소스 6-22]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반복을 맡기는 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7936992" cy="411480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72054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[소스 6-21] 합이 2000을 넘는 순간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7132320" cy="339471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Main(string[] args)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hap = 0;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i;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 (i = 1; i &lt;= 100; i++)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hap += i;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if (hap &gt; 2000)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goto mygoto;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mygoto: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Console.WriteLine("1부터 {0}까지 합하면 2000이 넘어요.", i);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2571750"/>
            <a:ext cx="7936992" cy="411480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92640" y="2674620"/>
            <a:ext cx="72054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[소스 6-22] return 뒤는 실행 안 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29216" y="3168396"/>
            <a:ext cx="7132320" cy="339471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Main(string[] args)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hap = 0;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i;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 (i = 1; i &lt;= 100; i++)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hap += i;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Console.WriteLine("1부터 100까지의 합은 {0}입니다", hap);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return 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Console.WriteLine("프로그램의 끝입니다.");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6840855"/>
            <a:ext cx="7936992" cy="977265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24128" y="6840855"/>
            <a:ext cx="91440" cy="97726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389888" y="6943725"/>
            <a:ext cx="720547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6464" y="7293483"/>
            <a:ext cx="7132320" cy="40119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1부터 63까지 합하면 2000이 넘어요.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6840855"/>
            <a:ext cx="7936992" cy="977265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9326880" y="6840855"/>
            <a:ext cx="91440" cy="97726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92640" y="6943725"/>
            <a:ext cx="720547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9216" y="7293483"/>
            <a:ext cx="7132320" cy="40119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1부터 100까지의 합은 5050입니다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4128" y="7972425"/>
            <a:ext cx="16239744" cy="720090"/>
          </a:xfrm>
          <a:prstGeom prst="roundRect">
            <a:avLst>
              <a:gd name="adj" fmla="val 10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463040" y="8034147"/>
            <a:ext cx="15361920" cy="5966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goto는 i++보다 먼저 뛴다 → i = 63 (hap 2016)  ·  return 뒤 12행은 실행 안 됨 — 경고 CS0162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6장 5절 III·IV · 그림 6-18, 6-19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[프로그램 2] 마름모의 규칙 찾기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반복을 맡기는 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7315200" cy="49377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fig6-20_diamond_ru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2026" y="2664333"/>
            <a:ext cx="5679403" cy="429996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7056882"/>
            <a:ext cx="7315200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7056882"/>
            <a:ext cx="680313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그림 6-20 발췌 — 빈칸 한 칸 = 공백 2개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2571750"/>
            <a:ext cx="8485632" cy="473202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997696" y="2571750"/>
            <a:ext cx="2106777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E7D2A"/>
                </a:solidFill>
                <a:latin typeface="페이퍼로지 8 ExtraBold"/>
                <a:ea typeface="페이퍼로지 8 ExtraBold"/>
                <a:cs typeface="페이퍼로지 8 ExtraBold"/>
              </a:rPr>
              <a:t>i (줄 − 1)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43385" y="2571750"/>
            <a:ext cx="295534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E7D2A"/>
                </a:solidFill>
                <a:latin typeface="페이퍼로지 8 ExtraBold"/>
                <a:ea typeface="페이퍼로지 8 ExtraBold"/>
                <a:cs typeface="페이퍼로지 8 ExtraBold"/>
              </a:rPr>
              <a:t>공백 "  " 반복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37638" y="2571750"/>
            <a:ext cx="2106777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E7D2A"/>
                </a:solidFill>
                <a:latin typeface="페이퍼로지 8 ExtraBold"/>
                <a:ea typeface="페이퍼로지 8 ExtraBold"/>
                <a:cs typeface="페이퍼로지 8 ExtraBold"/>
              </a:rPr>
              <a:t>★ 개수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78240" y="3044952"/>
            <a:ext cx="8485632" cy="473202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034272" y="3044952"/>
            <a:ext cx="2033625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79961" y="3044952"/>
            <a:ext cx="2882188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74214" y="3044952"/>
            <a:ext cx="2033625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34272" y="3518154"/>
            <a:ext cx="2033625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79961" y="3518154"/>
            <a:ext cx="2882188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974214" y="3518154"/>
            <a:ext cx="2033625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78240" y="3991356"/>
            <a:ext cx="8485632" cy="473202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034272" y="3991356"/>
            <a:ext cx="2033625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79961" y="3991356"/>
            <a:ext cx="2882188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974214" y="3991356"/>
            <a:ext cx="2033625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4272" y="4464558"/>
            <a:ext cx="2033625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79961" y="4464558"/>
            <a:ext cx="2882188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74214" y="4464558"/>
            <a:ext cx="2033625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7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78240" y="4937760"/>
            <a:ext cx="8485632" cy="473202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034272" y="4937760"/>
            <a:ext cx="2033625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79961" y="4937760"/>
            <a:ext cx="2882188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974214" y="4937760"/>
            <a:ext cx="2033625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34272" y="5410962"/>
            <a:ext cx="2033625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579961" y="5410962"/>
            <a:ext cx="2882188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974214" y="5410962"/>
            <a:ext cx="2033625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7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778240" y="5884164"/>
            <a:ext cx="8485632" cy="473202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9034272" y="5884164"/>
            <a:ext cx="2033625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579961" y="5884164"/>
            <a:ext cx="2882188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974214" y="5884164"/>
            <a:ext cx="2033625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34272" y="6357366"/>
            <a:ext cx="2033625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579961" y="6357366"/>
            <a:ext cx="2882188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974214" y="6357366"/>
            <a:ext cx="2033625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778240" y="6830568"/>
            <a:ext cx="8485632" cy="473202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9034272" y="6830568"/>
            <a:ext cx="2033625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579961" y="6830568"/>
            <a:ext cx="2882188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974214" y="6830568"/>
            <a:ext cx="2033625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778240" y="7458075"/>
            <a:ext cx="8485632" cy="123444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9144000" y="7602093"/>
            <a:ext cx="7754112" cy="4197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공식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0" y="8093811"/>
            <a:ext cx="7754112" cy="4752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위(i 0~4): 공백 4 − i, ★ i × 2 + 1  ·  아래(i 5~8): 공백 i − 4, ★ (9 − i) × 2 − 1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24128" y="7715250"/>
            <a:ext cx="7315200" cy="977265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1426464" y="7715250"/>
            <a:ext cx="6510528" cy="97726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★는 콘솔에서 두 칸 폭 → 공백도 두 개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6장 5절 V · 그림 6-20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[소스 6-23] 마름모 코드 (1/2) — 윗부분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반복을 맡기는 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0241280" cy="576072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9509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[소스 6-23] 1~22행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9436608" cy="504063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Main(string[] args)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i, k;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 = 0;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while (i &lt; 9)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if (i &lt; 5)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{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k = 0;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while (k &lt; 4 - i )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{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    Console.Write("  ");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    k += 1;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}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k = 0;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while (k &lt; i * 2 + 1)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{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    Console.Write('\u2605');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    k += 1;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}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704320" y="2571750"/>
            <a:ext cx="5559552" cy="576072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070080" y="2767203"/>
            <a:ext cx="482803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줄별 핵심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0" y="3394710"/>
            <a:ext cx="4828032" cy="48143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5·6행 i = 0~8, 줄 9개</a:t>
            </a:r>
          </a:p>
          <a:p>
            <a:pPr algn="l">
              <a:lnSpc>
                <a:spcPct val="142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10·16행 k = 0 — 안쪽 while마다 다시 0</a:t>
            </a:r>
          </a:p>
          <a:p>
            <a:pPr algn="l">
              <a:lnSpc>
                <a:spcPct val="142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11행 공백 4 − i회</a:t>
            </a:r>
          </a:p>
          <a:p>
            <a:pPr algn="l">
              <a:lnSpc>
                <a:spcPct val="142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13행 "  " 공백 두 개</a:t>
            </a:r>
          </a:p>
          <a:p>
            <a:pPr algn="l">
              <a:lnSpc>
                <a:spcPct val="142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17행 ★ i × 2 + 1개</a:t>
            </a:r>
          </a:p>
          <a:p>
            <a:pPr algn="l">
              <a:lnSpc>
                <a:spcPct val="142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19행 '\u2605' = ★ (\u 뒤는 16진수 유니코드)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while 안의 k = 0 · k &lt; … · k += 1 이 for의 세 칸과 같은 역할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[소스 6-23] 1~20행 부분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[소스 6-23] 마름모 코드 (2/2) — 아랫부분과 결과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반복을 맡기는 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0241280" cy="504063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9509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[소스 6-23] 23~41행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9436608" cy="43205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else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{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k = 0;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while (k &lt; i - 4)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{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    Console.Write("  ");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    k += 1;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}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k = 0;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while (k &lt; (9 - i) * 2 - 1)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{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    Console.Write('\u2605');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    k += 1;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}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}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Console.WriteLine();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i += 1;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1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704320" y="2571750"/>
            <a:ext cx="5559552" cy="349758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1704320" y="2571750"/>
            <a:ext cx="91440" cy="349758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070080" y="2674620"/>
            <a:ext cx="482803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06656" y="3024378"/>
            <a:ext cx="4754880" cy="292150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      ★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    ★★★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  ★★★★★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★★★★★★★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★★★★★★★★★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★★★★★★★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  ★★★★★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    ★★★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      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04320" y="6275070"/>
            <a:ext cx="5559552" cy="241744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070080" y="6470523"/>
            <a:ext cx="482803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자주 하는 실수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80" y="7098030"/>
            <a:ext cx="4828032" cy="14710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공백을 한 칸만 → 오른쪽으로 찌그러짐</a:t>
            </a:r>
          </a:p>
          <a:p>
            <a:pPr algn="l">
              <a:lnSpc>
                <a:spcPct val="142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k = 0 빼먹기 → 별이 덜 찍힘</a:t>
            </a:r>
          </a:p>
          <a:p>
            <a:pPr algn="l">
              <a:lnSpc>
                <a:spcPct val="142000"/>
              </a:lnSpc>
            </a:pPr>
            <a:r>
              <a:rPr sz="1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별을 WriteLine으로 → 별마다 줄바꿈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4128" y="7818120"/>
            <a:ext cx="10241280" cy="874395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426464" y="7818120"/>
            <a:ext cx="9436608" cy="87439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13·28행 공백 개수는 캡처 판독 불확실 — 그림 6-20과 컴파일러 출력으로 2칸 확인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[소스 6-23] · 그림 6-2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SELF STUDY 6-6 — 전부 for로, 출력은 ♥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반복을 맡기는 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0241280" cy="576072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9509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SELF STUDY 6-6 정답 코드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9436608" cy="504063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Main(string[] args)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i, k;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 (i = 0; i &lt; 9; i++)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if (i &lt; 5)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{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for (k = 0; k &lt; 4 - i; k++)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    Console.Write("  ");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for (k = 0; k &lt; i * 2 + 1; k++)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    Console.Write('\u2665');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}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else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{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for (k = 0; k &lt; i - 4; k++)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    Console.Write("  ");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for (k = 0; k &lt; (9 - i) * 2 - 1; k++)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    Console.Write('\u2665');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}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Console.WriteLine();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0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704320" y="2571750"/>
            <a:ext cx="5559552" cy="329184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1704320" y="2571750"/>
            <a:ext cx="91440" cy="329184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070080" y="2674620"/>
            <a:ext cx="482803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06656" y="3024378"/>
            <a:ext cx="4754880" cy="27157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      ♥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    ♥♥♥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  ♥♥♥♥♥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♥♥♥♥♥♥♥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♥♥♥♥♥♥♥♥♥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♥♥♥♥♥♥♥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  ♥♥♥♥♥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    ♥♥♥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        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04320" y="6069330"/>
            <a:ext cx="5559552" cy="262318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070080" y="6264783"/>
            <a:ext cx="482803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while → for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80" y="6892290"/>
            <a:ext cx="4828032" cy="16767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k = 0 · k &lt; … · k += 1을 for의 세 칸으로.</a:t>
            </a:r>
          </a:p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'\u2665' = ♥</a:t>
            </a:r>
          </a:p>
          <a:p>
            <a:pPr algn="l">
              <a:lnSpc>
                <a:spcPct val="142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41줄 → 23줄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SELF STUDY 6-6 · 그림 6-21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문자를 숫자로 — [소스 6-24]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반복을 맡기는 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31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8778240" cy="473202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80467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[소스 6-24] str[n] − '0'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7973568" cy="401193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Main(string[] args)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string str = "123";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num;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num = str[0] - '0';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Console.WriteLine(num);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num = str[1] - '0';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Console.WriteLine(num);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num = str[2] - '0';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Console.WriteLine(num);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0" y="2571750"/>
            <a:ext cx="7022592" cy="164592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0241280" y="2571750"/>
            <a:ext cx="91440" cy="164592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607040" y="2674620"/>
            <a:ext cx="629107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43616" y="3024378"/>
            <a:ext cx="6217920" cy="106984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2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0" y="4423410"/>
            <a:ext cx="7022592" cy="473202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460736" y="4423410"/>
            <a:ext cx="2089221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E7D2A"/>
                </a:solidFill>
                <a:latin typeface="페이퍼로지 8 ExtraBold"/>
                <a:ea typeface="페이퍼로지 8 ExtraBold"/>
                <a:cs typeface="페이퍼로지 8 ExtraBold"/>
              </a:rPr>
              <a:t>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8869" y="4423410"/>
            <a:ext cx="222967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E7D2A"/>
                </a:solidFill>
                <a:latin typeface="페이퍼로지 8 ExtraBold"/>
                <a:ea typeface="페이퍼로지 8 ExtraBold"/>
                <a:cs typeface="페이퍼로지 8 ExtraBold"/>
              </a:rPr>
              <a:t>코드값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57454" y="4423410"/>
            <a:ext cx="1386961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E7D2A"/>
                </a:solidFill>
                <a:latin typeface="페이퍼로지 8 ExtraBold"/>
                <a:ea typeface="페이퍼로지 8 ExtraBold"/>
                <a:cs typeface="페이퍼로지 8 ExtraBold"/>
              </a:rPr>
              <a:t>결과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0" y="4896612"/>
            <a:ext cx="7022592" cy="514350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0497312" y="4896612"/>
            <a:ext cx="2016069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'1' − '0'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025445" y="4896612"/>
            <a:ext cx="215652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49 − 48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94030" y="4896612"/>
            <a:ext cx="1313809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97312" y="5410962"/>
            <a:ext cx="2016069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'2' − '0'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025445" y="5410962"/>
            <a:ext cx="215652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50 − 48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694030" y="5410962"/>
            <a:ext cx="1313809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41280" y="5925312"/>
            <a:ext cx="7022592" cy="514350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497312" y="5925312"/>
            <a:ext cx="2016069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'3' − '0'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025445" y="5925312"/>
            <a:ext cx="215652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51 − 48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694030" y="5925312"/>
            <a:ext cx="1313809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241280" y="6635115"/>
            <a:ext cx="7022592" cy="205740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0607040" y="6830568"/>
            <a:ext cx="629107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쉽게 말하면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7458075"/>
            <a:ext cx="6291072" cy="11109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번호표 줄 — '0'이 48번 자리에 서 있으니 내 번호에서 48을 빼면 그 숫자.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4128" y="7509510"/>
            <a:ext cx="8778240" cy="118300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389888" y="7653528"/>
            <a:ext cx="8046720" cy="40222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반복문으로 줄이면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89888" y="8127758"/>
            <a:ext cx="8046720" cy="441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for (int i = 0; i &lt; 3; i++) Console.WriteLine(str[i] - '0');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6장 5절 VI · [소스 6-24]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정리 — 제어문 네 가지와 시험 대비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06 · 반복을 맡기는 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32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473202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571750"/>
            <a:ext cx="2484241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E7D2A"/>
                </a:solidFill>
                <a:latin typeface="페이퍼로지 8 ExtraBold"/>
                <a:ea typeface="페이퍼로지 8 ExtraBold"/>
                <a:cs typeface="페이퍼로지 8 ExtraBold"/>
              </a:rPr>
              <a:t>제어문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6737" y="2571750"/>
            <a:ext cx="5569793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E7D2A"/>
                </a:solidFill>
                <a:latin typeface="페이퍼로지 8 ExtraBold"/>
                <a:ea typeface="페이퍼로지 8 ExtraBold"/>
                <a:cs typeface="페이퍼로지 8 ExtraBold"/>
              </a:rPr>
              <a:t>가는 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75443" y="2571750"/>
            <a:ext cx="686897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3E7D2A"/>
                </a:solidFill>
                <a:latin typeface="페이퍼로지 8 ExtraBold"/>
                <a:ea typeface="페이퍼로지 8 ExtraBold"/>
                <a:cs typeface="페이퍼로지 8 ExtraBold"/>
              </a:rPr>
              <a:t>교재 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3044952"/>
            <a:ext cx="16239744" cy="534924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280160" y="3044952"/>
            <a:ext cx="2411089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break;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3313" y="3044952"/>
            <a:ext cx="5496641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반복문 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12019" y="3044952"/>
            <a:ext cx="679582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[소스 6-19] 0을 넣으면 탈출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579876"/>
            <a:ext cx="2411089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continue;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3313" y="3579876"/>
            <a:ext cx="5496641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반복문 처음 (for는 증감식)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12019" y="3579876"/>
            <a:ext cx="679582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[소스 6-20] 3의 배수 제외 → 3367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4114800"/>
            <a:ext cx="16239744" cy="534924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280160" y="4114800"/>
            <a:ext cx="2411089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goto 이름;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3313" y="4114800"/>
            <a:ext cx="5496641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이름: 레이블 위치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12019" y="4114800"/>
            <a:ext cx="679582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[소스 6-21] 2000 넘는 순간 → 63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649724"/>
            <a:ext cx="2411089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return;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3313" y="4649724"/>
            <a:ext cx="5496641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메서드를 호출한 곳 (Main이면 종료)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12019" y="4649724"/>
            <a:ext cx="679582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[소스 6-22] 뒤 문장 실행 안 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4128" y="5400675"/>
            <a:ext cx="16239744" cy="185166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389888" y="5596128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결과 화면을 보면 떠올릴 구조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9888" y="6223635"/>
            <a:ext cx="15508224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합계 → hap = 0 + 누적   ·   거꾸로 → i--   ·   줄마다 여러 개 → 중첩 for</a:t>
            </a:r>
          </a:p>
          <a:p>
            <a:pPr algn="l">
              <a:lnSpc>
                <a:spcPct val="142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몇 번일지 모름 → while (true) + break   ·   일부 빼기 → continue   ·   칸 맞춤 → {n, 폭:D}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4128" y="7458075"/>
            <a:ext cx="16239744" cy="123444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389888" y="7602093"/>
            <a:ext cx="15508224" cy="4197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다음 장 — CH07 값을 줄 세우는 배열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89888" y="8093811"/>
            <a:ext cx="15508224" cy="4752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for 문이 배열의 0번~마지막 칸을 차례로 도는 도구가 된다. str[0]의 대괄호 번호가 본격 등장.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6장 정리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