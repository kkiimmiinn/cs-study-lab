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 먼저. '고치면 재빌드'는 실습 1-5에서 직접 함정에 빠져 보며 체득한다.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언어=도구라는 프레임. PC용·모바일용 구분 없이 요즘은 앱·응용 프로그램을 같은 말로 쓴다는 것도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TIOBE는 검색량 기반 지수라는 것, 순위는 매달 변한다는 것을 곁들여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J++ 좌절 후 자체 언어로 승부한 이야기 — 캐러셀 EP.04의 서사와 연결되는 대목.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음악의 샵(♯, 반음 올림)과도 통하는 중의적 이름. 학생들이 가장 재미있어하는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가지는 연습문제 3번 그대로. 특히 '엄격함=단점이 아니라 대형 프로그램의 장점'이라는 역설을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 1-1(VS 버전-닷넷-C# 버전)은 외울 필요 없다고 교재도 명시. 3형제 구분만 잡는다.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요약 7번 도해와 동일한 흐름. 연습문제 4번(순서 나열)이 이 슬라이드 그대로.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학기에 파이썬·C#을 병행하므로 이 대비가 실감난다. 시험에도 구분 문제로 나올 만한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VS는 C++·C#·VB·F#을 아우르는 IDE — 우리는 Visual C#만 쓴다. 연습문제 5번(무료 에디션: Community·Express).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프로젝트=소스 묶음이라는 개념(그림 1-23). .cs는 CSharp의 약자.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친 코드는 3줄. '앞으로 이 3줄이 300줄이 된다'는 교재의 격려도 전달.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엄격한 문법(특징 ②)이 여기서 고맙게 느껴진다 — 특징과 실습을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다시 열 때는 [프로젝트 또는 솔루션 열기]로 First.sln (실습 1-7).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학기 후반 개별 프로젝트(회원관리 프로그램류)까지 이어지는 큰 그림을 한 번 상기시키고 마친다.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01  ·  C#의 탄생과 첫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자료(오리엔테이션)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C#의 탄생과 첫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The Birth of C# and Your First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프로그래밍 언어란 무엇인가   ·   C 혈통 이야기와 이름의 비밀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C#의 특징 여섯 가지   ·   닷넷 3형제 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코딩 → 빌드 → 실행   ·   비주얼 스튜디오로 첫 프로그램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50579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C#이 </a:t>
            </a:r>
            <a:r>
              <a:rPr sz="29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어떤 혈통의 언어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인지 — C → C++ → C#, 그리고 이름의 뜻을 말할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5643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8214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35261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소스 코드가 실행 파일이 되는 </a:t>
            </a:r>
            <a:r>
              <a:rPr sz="29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빌드(컴파일+링크)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과정을 그린다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3411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668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119943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비주얼 스튜디오로 </a:t>
            </a:r>
            <a:r>
              <a:rPr sz="29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프로젝트를 만들고 첫 프로그램을 실행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554980"/>
            <a:ext cx="16239744" cy="40633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75043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미리 보는 결론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377940"/>
            <a:ext cx="15508224" cy="3116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C# 소스(.cs)는 </a:t>
            </a:r>
            <a:r>
              <a:rPr sz="29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빌드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거쳐야 실행 파일(.exe)이 된다.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그래서 한 글자라도 고쳤으면 </a:t>
            </a:r>
            <a:r>
              <a:rPr sz="29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반드시 다시 빌드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해야 한다 —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감각 하나가 1장 전체를 관통한다.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프로그래밍 언어 — 컴퓨터에게 말 거는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34924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45862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용어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1122" y="2571750"/>
            <a:ext cx="6056985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37020" y="2571750"/>
            <a:ext cx="5407395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106674"/>
            <a:ext cx="16239744" cy="92583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106674"/>
            <a:ext cx="3385474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프로그래밍 언어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7698" y="3106674"/>
            <a:ext cx="5983833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컴퓨터가 이해하는 언어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73596" y="3106674"/>
            <a:ext cx="5334243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소프트웨어·앱을 만드는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32504"/>
            <a:ext cx="3385474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소프트웨어 / 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7698" y="4032504"/>
            <a:ext cx="5983833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프로그래밍 언어로 만든 결과물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73596" y="4032504"/>
            <a:ext cx="5334243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엑셀, 한글, 스마트폰 앱 전부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958334"/>
            <a:ext cx="16239744" cy="92583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958334"/>
            <a:ext cx="3385474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프로그래머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7698" y="4958334"/>
            <a:ext cx="5983833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언어로 소프트웨어를 만드는 사람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73596" y="4958334"/>
            <a:ext cx="5334243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과목이 기르려는 사람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686550"/>
            <a:ext cx="16239744" cy="19545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688200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얼마나 많을까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7509510"/>
            <a:ext cx="1550822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인간의 언어는 약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7,151개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(2022, ethnologue.com), 프로그래밍 언어도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700개 이상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많이 쓰이는 것은 C, C++, 자바, HTML, PHP, 파이썬, 그리고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C#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1.1~1.2절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언어의 인기 지형 — C#은 어디쯤?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1338560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1_ti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13917"/>
            <a:ext cx="11009376" cy="54352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91322"/>
            <a:ext cx="113385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91322"/>
            <a:ext cx="108264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TIOBE 지수(2022 상반기) — 교재 그림 1-3의 수치로 직접 재구성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0" y="2571750"/>
            <a:ext cx="4462272" cy="61722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167360" y="2767203"/>
            <a:ext cx="37307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0" y="3394710"/>
            <a:ext cx="3730752" cy="5225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 계열(C·C++·C#)을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합치면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27.6%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여전히 최대 세력.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C#은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5위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전년 대비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+0.95%p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상승 중인 언어다.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유니티 게임·윈도우 앱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수요가 순위를 떠받친다.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순위 암기 불필요 — 'C 가족이 강하고 C#은 상위권' 감각만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1.2절 · 그림 1-3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 혈통 이야기 — 소송과 탄생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15944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연도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1943" y="2571750"/>
            <a:ext cx="132024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사건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86100"/>
            <a:ext cx="16239744" cy="84353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86100"/>
            <a:ext cx="20862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8519" y="3086100"/>
            <a:ext cx="1312932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벨 연구소 데니스 리치가 </a:t>
            </a:r>
            <a:r>
              <a:rPr sz="26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</a:t>
            </a: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개발 — 유닉스가 C로 만들어지며 주류로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29634"/>
            <a:ext cx="20862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8519" y="3929634"/>
            <a:ext cx="1312932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C에 객체지향을 얹은 </a:t>
            </a:r>
            <a:r>
              <a:rPr sz="26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C++</a:t>
            </a: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'한 단계 향상'의 ++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773168"/>
            <a:ext cx="16239744" cy="84353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773168"/>
            <a:ext cx="20862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8519" y="4773168"/>
            <a:ext cx="1312932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제임스 고슬링, C++의 복잡함을 덜어낸 </a:t>
            </a:r>
            <a:r>
              <a:rPr sz="26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자바</a:t>
            </a: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616702"/>
            <a:ext cx="20862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1990s 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8519" y="5616702"/>
            <a:ext cx="1312932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마이크로소프트, 자바 확장판 </a:t>
            </a:r>
            <a:r>
              <a:rPr sz="26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J++</a:t>
            </a: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를 만들었다가 포기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460236"/>
            <a:ext cx="16239744" cy="84353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6460236"/>
            <a:ext cx="20862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8519" y="6460236"/>
            <a:ext cx="1312932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마이크로소프트, 닷넷 프레임워크의 언어 </a:t>
            </a:r>
            <a:r>
              <a:rPr sz="26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C#</a:t>
            </a: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발표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7252335"/>
            <a:ext cx="16239744" cy="19545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89888" y="744778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C#의 성격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8075295"/>
            <a:ext cx="1550822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C++를 계승하되 자바의 영향을 많이 받은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언어. 자바 흉내라는 시선도 있지만,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C/C++·자바·Visual Basic의 장점까지 흡수한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독자 언어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보는 쪽이 설득력 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이름의 비밀 — #은 +가 네 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7320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1_csharp_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703" y="2664333"/>
            <a:ext cx="9804593" cy="40942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851142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851142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C → C++ → C#. # 기호는 + 네 개를 겹친 모양 — 'C++++'라는 은유 (직접 제작)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7560945"/>
            <a:ext cx="7936992" cy="19545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746111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읽는 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55648" y="8301609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326880" y="7560945"/>
            <a:ext cx="7936992" cy="1954530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0" y="7746111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8301609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572768" y="8466201"/>
            <a:ext cx="6839712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씨샵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(C sharp)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8466201"/>
            <a:ext cx="6839712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C보다 훨씬 진보했다는 은유 — C++에 +를 2개 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1.1절 TIP · 2.1절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C#의 특징 여섯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124265"/>
            <a:ext cx="7095744" cy="1213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간결한 문법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포인터 제거,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메모리는 가비지 컬렉터가 전담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90906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93477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461575"/>
            <a:ext cx="7095744" cy="1213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엄격한 문법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case에 break 없으면 오류,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초기화 안 된 변수도 오류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24637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527208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798885"/>
            <a:ext cx="7095744" cy="1213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완전한 객체지향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클래스·캡슐화·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다형성·상속 100% 지원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0032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400032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2124265"/>
            <a:ext cx="7095744" cy="1213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멀티 스레드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병렬 처리로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대용량 작업을 빠르게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2" y="390906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400032" y="393477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8128" y="3461575"/>
            <a:ext cx="7095744" cy="1213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다양한 응용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데스크톱·웹(ASP.NET)·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DB·유니티 게임까지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0032" y="524637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400032" y="527208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4798885"/>
            <a:ext cx="7095744" cy="1213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CLR 환경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공용 언어 런타임 위에서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실행, 타 언어와 통합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840855"/>
            <a:ext cx="16239744" cy="185166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426464" y="7015734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한계도 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7478649"/>
            <a:ext cx="15435071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하드웨어 직접 제어는 제한적 — 그런 부분은 </a:t>
            </a:r>
            <a:r>
              <a:rPr sz="30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C/C++와 혼용</a:t>
            </a:r>
            <a:r>
              <a:rPr sz="3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해서 작성한다.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시험엔 '틀린 설명 고르기'로 나온다 — 유연한 문법(×), 절차지향(×)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닷넷 3형제 — 이름이 비슷해서 헷갈린다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34924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45862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이름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1122" y="2571750"/>
            <a:ext cx="1509857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등장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9891" y="2571750"/>
            <a:ext cx="995452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정체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106674"/>
            <a:ext cx="16239744" cy="90525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106674"/>
            <a:ext cx="338547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닷넷 프레임워크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7698" y="3106674"/>
            <a:ext cx="1436705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6467" y="3106674"/>
            <a:ext cx="9881372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Windows 전용 개발·실행 환경.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4.8이 마지막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수업이 쓰는 환경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11930"/>
            <a:ext cx="338547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닷넷 코어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7698" y="4011930"/>
            <a:ext cx="1436705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6467" y="4011930"/>
            <a:ext cx="9881372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크로스 플랫폼(윈도우·리눅스·맥)용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917186"/>
            <a:ext cx="16239744" cy="90525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917186"/>
            <a:ext cx="338547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닷넷 (.NET)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7698" y="4917186"/>
            <a:ext cx="1436705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2020~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6467" y="4917186"/>
            <a:ext cx="9881372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둘을 통합한 이름 — .NET 5부터 모바일까지 지원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635115"/>
            <a:ext cx="16239744" cy="20574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683056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우리 수업 환경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7458075"/>
            <a:ext cx="15508224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.NET Framework 4.8 + C# 7.3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Visual Studio를 설치하면 함께 깔린다.</a:t>
            </a:r>
          </a:p>
          <a:p>
            <a:pPr algn="l">
              <a:lnSpc>
                <a:spcPct val="142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초보 단계에서 버전은 신경 쓰지 않아도 된다. Windows 10부터는 업데이트로 자동 설치.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2.4절 '여기서 잠깐'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코드가 .exe가 되기까지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3840480" cy="17487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3840480" cy="102870"/>
          </a:xfrm>
          <a:prstGeom prst="rect">
            <a:avLst/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16735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① 코딩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5" y="3209544"/>
            <a:ext cx="3255264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소스 파일 작성</a:t>
            </a:r>
          </a:p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(*.cs)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2198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2571750"/>
            <a:ext cx="3840480" cy="17487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57216" y="2571750"/>
            <a:ext cx="3840480" cy="102870"/>
          </a:xfrm>
          <a:prstGeom prst="rect">
            <a:avLst/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49824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② 컴파일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209544"/>
            <a:ext cx="3255264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기계어로 번역</a:t>
            </a:r>
          </a:p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오브젝트 파일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32198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0304" y="2571750"/>
            <a:ext cx="3840480" cy="17487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290304" y="2571750"/>
            <a:ext cx="3840480" cy="102870"/>
          </a:xfrm>
          <a:prstGeom prst="rect">
            <a:avLst/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82912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③ 링크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209544"/>
            <a:ext cx="3255264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하나로 결합</a:t>
            </a:r>
          </a:p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실행 파일(*.exe)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7632" y="32198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23392" y="2571750"/>
            <a:ext cx="3840480" cy="17487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3423392" y="2571750"/>
            <a:ext cx="3840480" cy="102870"/>
          </a:xfrm>
          <a:prstGeom prst="rect">
            <a:avLst/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716000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④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0" y="3209544"/>
            <a:ext cx="3255264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결과가</a:t>
            </a:r>
          </a:p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화면에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680585"/>
            <a:ext cx="10058400" cy="3960495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89888" y="4876038"/>
            <a:ext cx="9326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빌드 = 컴파일 + 링크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5503545"/>
            <a:ext cx="9326880" cy="3014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②와 ③은 보통 </a:t>
            </a:r>
            <a:r>
              <a:rPr sz="22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한꺼번에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처리한다 — 이것이 </a:t>
            </a:r>
            <a:r>
              <a:rPr sz="22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빌드(Build)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드라이버 비유: 나무·쇠(소스)를 가공하면 손잡이·몸통(오브젝트),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조립(링크)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해야 쓸 수 있는 드라이버(.exe)가 된다.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소스가 하나뿐이어도 이 과정은 반드시 거친다.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521440" y="4680585"/>
            <a:ext cx="5742432" cy="396049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887200" y="487603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더 깊이 (참고)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5503545"/>
            <a:ext cx="5010912" cy="3014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C#의 .exe는 사실 </a:t>
            </a:r>
            <a:r>
              <a:rPr sz="17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IL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(중간 언어) 상태의 어셈블리.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실행 순간 </a:t>
            </a:r>
            <a:r>
              <a:rPr sz="17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CLR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원시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코드로 재변환한다 — 자바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바이트 코드와 같은 원리.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내부 처리라 몰라도 된다.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3.1~3.4절 · 그림 1-6~1-8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컴파일러 언어 vs 스크립트 언어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3867912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컴파일러 언어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3867912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스크립트 언어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477006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일괄 번역 후 </a:t>
            </a: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실행 파일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77006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 줄씩 해석하며 즉시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382261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 · C++ · 자바 · </a:t>
            </a: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382261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파이썬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자바스크립트 · 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287518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실행 속도 빠름 / 배우는 데 오래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287518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실행 파일 없음 / 빨리 배움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480810"/>
            <a:ext cx="16239744" cy="21602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667626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두 과목을 잇는 다리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7303770"/>
            <a:ext cx="15508224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영상처리(파이썬)는 </a:t>
            </a: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한 줄씩 바로 실행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됐지만, 이 과목(C#)은 </a:t>
            </a: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빌드를 거쳐야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돈다.</a:t>
            </a:r>
          </a:p>
          <a:p>
            <a:pPr algn="l">
              <a:lnSpc>
                <a:spcPct val="142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'수정 → 저장 → 끝'이던 습관에 '</a:t>
            </a: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→ 재빌드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 한 단계가 추가되는 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3.4절 '여기서 잠깐'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비주얼 스튜디오 — 무료로 전부 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34924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508260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에디션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5096" y="2571750"/>
            <a:ext cx="1509857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가격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3866" y="2571750"/>
            <a:ext cx="833054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C3DB4"/>
                </a:solidFill>
                <a:latin typeface="페이퍼로지 8 ExtraBold"/>
                <a:ea typeface="페이퍼로지 8 ExtraBold"/>
                <a:cs typeface="페이퍼로지 8 ExtraBold"/>
              </a:rPr>
              <a:t>비고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106674"/>
            <a:ext cx="16239744" cy="86410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106674"/>
            <a:ext cx="50094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Enterprise / Professional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672" y="3106674"/>
            <a:ext cx="143670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유료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442" y="3106674"/>
            <a:ext cx="8257397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기능 많은 순 — 기업용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70782"/>
            <a:ext cx="50094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1672" y="3970782"/>
            <a:ext cx="143670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무료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442" y="3970782"/>
            <a:ext cx="8257397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유료판과 기능 차이 없음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개인·교육기관 제한 없이 사용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834890"/>
            <a:ext cx="16239744" cy="86410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834890"/>
            <a:ext cx="50094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Express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1672" y="4834890"/>
            <a:ext cx="143670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무료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442" y="4834890"/>
            <a:ext cx="8257397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2015를 끝으로 단종 — Community로 대체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48081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4128" y="650652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92223" y="6321361"/>
            <a:ext cx="1547164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다운로드: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visualstudio.microsoft.com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Community 2022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724204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24128" y="726776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3" y="7082599"/>
            <a:ext cx="1547164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워크로드는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[.NET 데스크톱 개발]만 체크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(약 6.2GB, 여유 10GB 권장)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800328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24128" y="802900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92223" y="7843837"/>
            <a:ext cx="1547164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로그인은 &lt;나중에&gt; 가능 — 단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30일 내 마이크로소프트 계정 로그인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필요(무료)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설치 전 파일 탐색기에서 '파일 확장명 표시'를 켜 둘 것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4.1~4.2절 · 실습 1-1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첫 프로젝트 만들기 — 다섯 번의 클릭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91727"/>
            <a:ext cx="15471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실습 폴더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C:\CookC#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을 미리 만든다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37413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39985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194113"/>
            <a:ext cx="15471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[새 프로젝트 만들기] → 언어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[C#]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템플릿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[콘솔 앱(.NET Framework)]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17652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20223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3996499"/>
            <a:ext cx="15471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이름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First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위치 C:\CookC# ·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[솔루션 및 프로젝트를 같은 디렉터리에 배치]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체크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97890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00462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798885"/>
            <a:ext cx="15471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프레임워크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4.8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&lt;만들기&gt; — 소스 파일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Program.cs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 자동 생성된다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223635"/>
            <a:ext cx="16239744" cy="144018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26464" y="6398514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가장 흔한 실수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6861429"/>
            <a:ext cx="154350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템플릿 목록의 그냥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[콘솔 앱]을 고르면 안 된다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반드시 뒤에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(.NET Framework)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 붙은 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7920990"/>
            <a:ext cx="16239744" cy="149161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811644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규모 관계 (연습문제 7번)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8743950"/>
            <a:ext cx="15508224" cy="545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솔루션 ⊃ 프로젝트 ⊃ 프로그램 소스</a:t>
            </a: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이 수업에선 솔루션 1 = 프로젝트 1이라 같다고 봐도 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5.1절 · 실습 1-2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1-2 — 100 빼기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622363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Program.cs — 직접 친 부분은 가운데 세 줄뿐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168128" cy="550354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using System;                       // System 네임스페이스를 짧게 쓰겠다는 선언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using System.Collections.Generic;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using System.Linq;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using System.Text;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using System.Threading.Tasks;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namespace First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internal class Program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static void Main(string[] args)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int result;                 // 정수형 변수 선언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result = 100 - 50;          // 오른쪽을 계산해 왼쪽에 대입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Console.WriteLine(result);  // 괄호 안 값을 화면에 출력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35840" y="2571750"/>
            <a:ext cx="4828032" cy="21602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435840" y="2571750"/>
            <a:ext cx="91440" cy="21602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0" y="2674620"/>
            <a:ext cx="40965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(Ctrl+F5)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38176" y="3024378"/>
            <a:ext cx="4023360" cy="15841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35840" y="5040630"/>
            <a:ext cx="4828032" cy="37547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0" y="5236083"/>
            <a:ext cx="40965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0" y="5863590"/>
            <a:ext cx="4096512" cy="2808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1~12행은 자동 생성 —</a:t>
            </a:r>
          </a:p>
          <a:p>
            <a:pPr algn="l">
              <a:lnSpc>
                <a:spcPct val="142000"/>
              </a:lnSpc>
            </a:pPr>
            <a:r>
              <a:rPr sz="1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당분간 건드리지 않는다.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`using System;`이 있어야</a:t>
            </a:r>
          </a:p>
          <a:p>
            <a:pPr algn="l">
              <a:lnSpc>
                <a:spcPct val="142000"/>
              </a:lnSpc>
            </a:pPr>
            <a:r>
              <a:rPr sz="1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`Console.WriteLine()`을</a:t>
            </a:r>
          </a:p>
          <a:p>
            <a:pPr algn="l">
              <a:lnSpc>
                <a:spcPct val="142000"/>
              </a:lnSpc>
            </a:pPr>
            <a:r>
              <a:rPr sz="1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짧게 쓸 수 있다.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파란 글자는 </a:t>
            </a:r>
            <a:r>
              <a:rPr sz="14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예약어</a:t>
            </a:r>
            <a:r>
              <a:rPr sz="1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</a:t>
            </a:r>
          </a:p>
          <a:p>
            <a:pPr algn="l">
              <a:lnSpc>
                <a:spcPct val="142000"/>
              </a:lnSpc>
            </a:pPr>
            <a:r>
              <a:rPr sz="14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세미콜론(;)이 문장의 끝</a:t>
            </a:r>
            <a:r>
              <a:rPr sz="1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대입 연산자(=)는 화살표(←)로 읽기 — 오른쪽을 다 계산해 왼쪽에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5.2절 · 소스 1-2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빌드, 그리고 오류 읽는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3415284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빌드하기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3415284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오류가 나면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47700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[빌드]-[솔루션 빌드]</a:t>
            </a:r>
          </a:p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</a:t>
            </a: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Ctrl+Shift+B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또는 F6)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7700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오류 목록에 </a:t>
            </a:r>
            <a:r>
              <a:rPr sz="27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CS1002 '; 이 필요합니다'</a:t>
            </a:r>
          </a:p>
          <a:p>
            <a:pPr algn="ctr">
              <a:lnSpc>
                <a:spcPct val="130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— 파일·줄 번호까지 알려 준다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60857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성공 시 왼쪽 아래</a:t>
            </a:r>
          </a:p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"빌드에 성공했습니다"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60857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오류를 더블클릭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하면 그 줄로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686550"/>
            <a:ext cx="16239744" cy="19545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89888" y="688200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오류는 친구다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7509510"/>
            <a:ext cx="1550822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일부러 세미콜론을 지우고 빌드해 보라 — 컴파일러가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어디가 왜 틀렸는지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짚어 준다.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수백 줄짜리 실무 코드에서 오류 메시지를 읽는 습관이 곧 실력이다.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5.3절 · 실습 1-4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실행 두 가지 — 그리고 가장 중요한 함정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2438019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방법 1 · 명령 프롬프트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2438019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방법 2 · VS에서 바로 (권장)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477006"/>
            <a:ext cx="6839712" cy="12550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CD로 bin\Debug까지 이동 →</a:t>
            </a:r>
          </a:p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`First` 입력(확장명 생략 가능)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77006"/>
            <a:ext cx="6839712" cy="12550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Ctrl+F5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결과 창이 바로 뜬다</a:t>
            </a:r>
          </a:p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"계속하려면 아무 키나..."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629150"/>
            <a:ext cx="16239744" cy="185166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480402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함정 — 고쳤는데 결과가 그대로?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5266944"/>
            <a:ext cx="15435071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소스를 100−99로 고치고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저장만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한 채 실행하면 여전히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50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나온다.</a:t>
            </a:r>
          </a:p>
          <a:p>
            <a:pPr algn="l">
              <a:lnSpc>
                <a:spcPct val="140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실행되는 건 소스가 아니라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예전에 빌드된 .exe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이기 때문 —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한 글자라도 고쳤으면 재빌드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6737985"/>
            <a:ext cx="16239744" cy="19545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69334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덤으로 얻는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7560945"/>
            <a:ext cx="1550822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명령 프롬프트에서 DIR·CD·COPY·DEL·MD·RD·CLS 같은 DOS 명령을 익혔고,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의뢰인에게는 </a:t>
            </a:r>
            <a:r>
              <a:rPr sz="23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First.exe 하나만 주면 배포 끝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이라는 소프트웨어 유통의 원리도 보았다.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이 함정이 1장의 핵심 교훈 — 시험·과제에서 반드시 만난다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5.4절 · 실습 1-5~1-6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자가 점검 — 결과를 보고 코드를 떠올리기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C#의 탄생과 첫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40292"/>
            <a:ext cx="15471648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123 × 456을 출력하도록 소스 1-1을 고쳐라 (SELF STUDY 1-1 → 56088)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7700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50272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45548"/>
            <a:ext cx="15471648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`int result = 100; Console.WriteLine(result); result = 200;` — 출력은? (</a:t>
            </a:r>
            <a:r>
              <a:rPr sz="21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100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출력 뒤 대입은 영향 없음)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38226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6C3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40797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150804"/>
            <a:ext cx="15471648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double형으로 </a:t>
            </a:r>
            <a:r>
              <a:rPr sz="25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3.14 × 3.14 = 9.8596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을 출력하는 프로그램을 짜라 (심화문제 9번)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709285"/>
            <a:ext cx="16239744" cy="21088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9047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이 과목의 시험 스타일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532245"/>
            <a:ext cx="15508224" cy="1162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>
                <a:solidFill>
                  <a:srgbClr val="6C3DB4"/>
                </a:solidFill>
                <a:latin typeface="프리젠테이션 5 Medium"/>
                <a:ea typeface="프리젠테이션 5 Medium"/>
                <a:cs typeface="프리젠테이션 5 Medium"/>
              </a:rPr>
              <a:t>"실행 결과 화면만 주고 → 이 결과를 만드는 코드를 짜시오"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유형이 예고되어 있다.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매 장 끝날 때마다 '결과 → 코드 역산' 연습을 습관으로 — 웹 실습실의 받아쓰기·자유 코딩이 그 훈련장.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7972425"/>
            <a:ext cx="16239744" cy="118300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8116443"/>
            <a:ext cx="15508224" cy="4022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다음 장 예고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8590673"/>
            <a:ext cx="15508224" cy="441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CH02 — 간단 계산기(콘솔)와 간단 그림판(윈폼)을 직접 만들며 변수·입출력을 익힌다.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