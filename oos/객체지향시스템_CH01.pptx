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저작권 안내. 인용 근거(저작권법 28조·37조 출처명시)와 자체 제작 원칙을 밝혀 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결론 먼저. '고치면 재빌드'는 실습 1-5에서 직접 함정에 빠져 보며 체득한다.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언어=도구라는 프레임. PC용·모바일용 구분 없이 요즘은 앱·응용 프로그램을 같은 말로 쓴다는 것도 언급.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TIOBE는 검색량 기반 지수라는 것, 순위는 매달 변한다는 것을 곁들여 설명.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 계보는 B 언어(1969경, 켄 톰프슨)에서 출발한다 — 교재엔 없는 한 줄. J++ 좌절 후 자체 언어로 승부한 이야기 — 캐러셀 EP.04의 서사와 연결되는 대목.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음악의 샵(♯, 반음 올림)과도 통하는 중의적 이름. 학생들이 가장 재미있어하는 지점.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여섯 가지는 연습문제 3번 그대로. 특히 '엄격함=단점이 아니라 대형 프로그램의 장점'이라는 역설을 강조.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정의 문장만으로는 감이 안 온다. 개발·실행에 필요한 도구와 기능을 한 플랫폼으로 묶은 것이라고 풀어 준다.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표 1-1(VS 버전-닷넷-C# 버전)은 외울 필요 없다고 교재도 명시. 3형제 구분만 잡는다.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요약 7번 도해와 동일한 흐름. 연습문제 4번(순서 나열)이 이 슬라이드 그대로.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같은 학기에 파이썬·C#을 병행하므로 이 대비가 실감난다. 시험에도 구분 문제로 나올 만한 지점.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VS는 C++·C#·VB·F#을 아우르는 IDE — 우리는 Visual C#만 쓴다. 연습문제 5번(무료 에디션: Community·Express).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프로젝트=소스 묶음이라는 개념(그림 1-23). .cs는 CSharp의 약자.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직접 친 코드는 3줄. '앞으로 이 3줄이 300줄이 된다'는 교재의 격려도 전달.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쉽게 말하면 네임스페이스는 학교 이름, 클래스는 그 안의 교실 이름. 교재 문장과 반대이니 코드로 직접 확인시킨다.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엄격한 문법(특징 ②)이 여기서 고맙게 느껴진다 — 특징과 실습을 연결.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다시 열 때는 [프로젝트 또는 솔루션 열기]로 First.sln (실습 1-7).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학기 후반 개별 프로젝트(회원관리 프로그램류)까지 이어지는 큰 그림을 한 번 상기시키고 마친다.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5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6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1280160" y="2777490"/>
            <a:ext cx="128016" cy="3086100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828800" y="2859786"/>
            <a:ext cx="146304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400" b="0" lang="ko-KR" altLang="en-US">
                <a:solidFill>
                  <a:srgbClr val="A79BC6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 · 컴퓨터및소프트웨어공학전공(박사과정)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435858"/>
            <a:ext cx="14630400" cy="14401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5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객체지향시스템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828800" y="5102352"/>
            <a:ext cx="987552" cy="473202"/>
          </a:xfrm>
          <a:prstGeom prst="roundRect">
            <a:avLst>
              <a:gd name="adj" fmla="val 20000"/>
            </a:avLst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1828800" y="5133213"/>
            <a:ext cx="987552" cy="4114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6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35808" y="5102352"/>
            <a:ext cx="1280160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900" b="0" lang="ko-KR" altLang="en-US">
                <a:solidFill>
                  <a:srgbClr val="CFC7E2"/>
                </a:solidFill>
                <a:latin typeface="페이퍼로지 6 SemiBold"/>
                <a:ea typeface="페이퍼로지 6 SemiBold"/>
                <a:cs typeface="페이퍼로지 6 SemiBold"/>
              </a:rPr>
              <a:t>CHAPTER 01  ·  C#의 탄생과 첫 실행</a:t>
            </a:r>
          </a:p>
        </p:txBody>
      </p:sp>
      <p:sp>
        <p:nvSpPr>
          <p:cNvPr id="8" name="Rectangle 7"/>
          <p:cNvSpPr/>
          <p:nvPr/>
        </p:nvSpPr>
        <p:spPr>
          <a:xfrm>
            <a:off x="1280160" y="6480810"/>
            <a:ext cx="15727680" cy="12344"/>
          </a:xfrm>
          <a:prstGeom prst="rect">
            <a:avLst/>
          </a:prstGeom>
          <a:solidFill>
            <a:srgbClr val="4A3B7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80160" y="6737985"/>
            <a:ext cx="14630400" cy="10287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70000"/>
              </a:lnSpc>
            </a:pPr>
            <a:r>
              <a:rPr sz="25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참고 교재  우재남, 『C# 프로그래밍 for Beginner』 (한빛아카데미)</a:t>
            </a:r>
          </a:p>
          <a:p>
            <a:pPr algn="l">
              <a:lnSpc>
                <a:spcPct val="170000"/>
              </a:lnSpc>
            </a:pPr>
            <a:r>
              <a:rPr sz="25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정리  김민  ·  대학원 학습·연구용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자료에 대하여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02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92223" y="2299144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교재는 </a:t>
            </a:r>
            <a:r>
              <a:rPr sz="22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수업 진도에 맞춘 참고용</a:t>
            </a: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이다 — 목차와 개념 체계를 참고하되, 내용은 직접 조사해 재구성·각색했다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24128" y="355930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024128" y="358501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92223" y="3286696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교재의 그림·내용 일부를 </a:t>
            </a:r>
            <a:r>
              <a:rPr sz="21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저작권법 제28조(공표된 저작물의 인용)</a:t>
            </a: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 따라 교육·연구 목적으로 발췌·인용하고, 각 슬라이드에 출처(교재 절·그림 번호)를 명시했다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24128" y="454685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024128" y="457257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792223" y="4274248"/>
            <a:ext cx="154716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도표·그래프·예시 그림은 교재 것을 쓰지 않고 </a:t>
            </a:r>
            <a:r>
              <a:rPr sz="29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전부 직접 제작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했다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5863590"/>
            <a:ext cx="16239744" cy="159448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B8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26464" y="603846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B88A2A"/>
                </a:solidFill>
                <a:latin typeface="페이퍼로지 8 ExtraBold"/>
                <a:ea typeface="페이퍼로지 8 ExtraBold"/>
                <a:cs typeface="페이퍼로지 8 ExtraBold"/>
              </a:rPr>
              <a:t>▲  이용 범위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6501384"/>
            <a:ext cx="15435071" cy="8126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자료는 </a:t>
            </a:r>
            <a:r>
              <a:rPr sz="19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대학원 개인 학습·연구 목적</a:t>
            </a: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으로만 제작·사용한다.</a:t>
            </a:r>
          </a:p>
          <a:p>
            <a:pPr algn="l">
              <a:lnSpc>
                <a:spcPct val="140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저작권자의 허락 없는 무단 복제·전재·재배포 및 상업적 이용을 금한다.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7766685"/>
            <a:ext cx="16239744" cy="1851660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89888" y="79621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참고 문헌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8589645"/>
            <a:ext cx="15508224" cy="9052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우재남, 『C# 프로그래밍 for Beginner』, 한빛아카데미  ·  수업 자료(CH01~09)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280160" y="2263140"/>
            <a:ext cx="7315200" cy="1645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0100" b="0" lang="ko-KR" altLang="en-US">
                <a:solidFill>
                  <a:srgbClr val="54418A"/>
                </a:solidFill>
                <a:latin typeface="페이퍼로지 8 ExtraBold"/>
                <a:ea typeface="페이퍼로지 8 ExtraBold"/>
                <a:cs typeface="페이퍼로지 8 ExtraBold"/>
              </a:rPr>
              <a:t>CH 01</a:t>
            </a:r>
          </a:p>
        </p:txBody>
      </p:sp>
      <p:sp>
        <p:nvSpPr>
          <p:cNvPr id="3" name="Rectangle 2"/>
          <p:cNvSpPr/>
          <p:nvPr/>
        </p:nvSpPr>
        <p:spPr>
          <a:xfrm>
            <a:off x="1353312" y="4166235"/>
            <a:ext cx="2194560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1280160" y="4526280"/>
            <a:ext cx="14264640" cy="113157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55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C#의 탄생과 첫 실행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5709285"/>
            <a:ext cx="1426464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A79BC6"/>
                </a:solidFill>
                <a:latin typeface="페이퍼로지 6 SemiBold"/>
                <a:ea typeface="페이퍼로지 6 SemiBold"/>
                <a:cs typeface="페이퍼로지 6 SemiBold"/>
              </a:rPr>
              <a:t>The Birth of C# and Your First Build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53312" y="6583680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C4B9D9"/>
                </a:solidFill>
                <a:latin typeface="프리젠테이션 5 Medium"/>
                <a:ea typeface="프리젠테이션 5 Medium"/>
                <a:cs typeface="프리젠테이션 5 Medium"/>
              </a:rPr>
              <a:t>·  프로그래밍 언어란 무엇인가   ·   C 혈통 이야기와 이름의 비밀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53312" y="7087743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C4B9D9"/>
                </a:solidFill>
                <a:latin typeface="프리젠테이션 5 Medium"/>
                <a:ea typeface="프리젠테이션 5 Medium"/>
                <a:cs typeface="프리젠테이션 5 Medium"/>
              </a:rPr>
              <a:t>·  C#의 특징 여섯 가지   ·   닷넷 3형제 구분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53312" y="7591806"/>
            <a:ext cx="1280160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C4B9D9"/>
                </a:solidFill>
                <a:latin typeface="프리젠테이션 5 Medium"/>
                <a:ea typeface="프리젠테이션 5 Medium"/>
                <a:cs typeface="프리젠테이션 5 Medium"/>
              </a:rPr>
              <a:t>·  코딩 → 빌드 → 실행   ·   비주얼 스튜디오로 첫 프로그램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 장에서 가져갈 것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50579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C#이 </a:t>
            </a:r>
            <a:r>
              <a:rPr sz="28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어떤 혈통의 언어</a:t>
            </a: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인지 — C → C++ → C#, 그리고 이름의 뜻을 말할 수 있다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45643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48214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35261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소스 코드가 실행 파일이 되는 </a:t>
            </a:r>
            <a:r>
              <a:rPr sz="29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빌드(컴파일+링크)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과정을 그린다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341114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366831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119943"/>
            <a:ext cx="15471648" cy="76123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비주얼 스튜디오로 </a:t>
            </a:r>
            <a:r>
              <a:rPr sz="29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프로젝트를 만들고 첫 프로그램을 실행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554980"/>
            <a:ext cx="16239744" cy="4063365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9888" y="575043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미리 보는 결론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6377940"/>
            <a:ext cx="15508224" cy="311696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C# 소스(.cs)는 </a:t>
            </a:r>
            <a:r>
              <a:rPr sz="29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빌드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를 거쳐야 실행 파일(.exe)이 된다.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그래서 한 글자라도 고쳤으면 </a:t>
            </a:r>
            <a:r>
              <a:rPr sz="29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반드시 다시 빌드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해야 한다 —</a:t>
            </a:r>
          </a:p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감각 하나가 1장 전체를 관통한다.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프로그래밍 언어 — 컴퓨터에게 말 거는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34924"/>
          </a:xfrm>
          <a:prstGeom prst="roundRect">
            <a:avLst>
              <a:gd name="adj" fmla="val 3000"/>
            </a:avLst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3458626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용어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1122" y="2571750"/>
            <a:ext cx="6056985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정의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637020" y="2571750"/>
            <a:ext cx="5407395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쉽게 말하면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106674"/>
            <a:ext cx="16239744" cy="925830"/>
          </a:xfrm>
          <a:prstGeom prst="roundRect">
            <a:avLst>
              <a:gd name="adj" fmla="val 1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106674"/>
            <a:ext cx="3385474" cy="925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프로그래밍 언어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7698" y="3106674"/>
            <a:ext cx="5983833" cy="925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컴퓨터가 이해하는 언어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673596" y="3106674"/>
            <a:ext cx="5334243" cy="925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소프트웨어·앱을 만드는 도구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32504"/>
            <a:ext cx="3385474" cy="925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소프트웨어 / 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7698" y="4032504"/>
            <a:ext cx="5983833" cy="925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프로그래밍 언어로 만든 결과물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673596" y="4032504"/>
            <a:ext cx="5334243" cy="925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엑셀, 한글, 스마트폰 앱 전부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58334"/>
            <a:ext cx="16239744" cy="925830"/>
          </a:xfrm>
          <a:prstGeom prst="roundRect">
            <a:avLst>
              <a:gd name="adj" fmla="val 1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958334"/>
            <a:ext cx="3385474" cy="925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프로그래머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7698" y="4958334"/>
            <a:ext cx="5983833" cy="925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언어로 소프트웨어를 만드는 사람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673596" y="4958334"/>
            <a:ext cx="5334243" cy="925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과목이 기르려는 사람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6686550"/>
            <a:ext cx="16239744" cy="1954530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89888" y="688200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얼마나 많을까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7509510"/>
            <a:ext cx="15508224" cy="10081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인간의 언어는 약 </a:t>
            </a:r>
            <a:r>
              <a:rPr sz="23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7,151개</a:t>
            </a: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(2022, ethnologue.com), 프로그래밍 언어도 </a:t>
            </a:r>
            <a:r>
              <a:rPr sz="23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700개 이상</a:t>
            </a: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많이 쓰이는 것은 C, C++, 자바, HTML, PHP, 파이썬, 그리고 </a:t>
            </a:r>
            <a:r>
              <a:rPr sz="23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C#</a:t>
            </a: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1.1~1.2절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언어의 인기 지형 — C#은 어디쯤?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1338560" cy="617220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B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1_tiob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88720" y="2713917"/>
            <a:ext cx="11009376" cy="5435237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8291322"/>
            <a:ext cx="11338560" cy="452628"/>
          </a:xfrm>
          <a:prstGeom prst="roundRect">
            <a:avLst>
              <a:gd name="adj" fmla="val 2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8291322"/>
            <a:ext cx="10826496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TIOBE 지수(2022 상반기) — 교재 그림 1-3의 수치로 직접 재구성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2801600" y="2571750"/>
            <a:ext cx="4462272" cy="6172200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167360" y="2767203"/>
            <a:ext cx="373075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읽는 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167360" y="3394710"/>
            <a:ext cx="3730752" cy="5225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 계열(C·C++·C#)을</a:t>
            </a: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합치면 </a:t>
            </a:r>
            <a:r>
              <a:rPr sz="23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27.6%</a:t>
            </a: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</a:t>
            </a: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여전히 최대 세력.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C#은 </a:t>
            </a:r>
            <a:r>
              <a:rPr sz="23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5위</a:t>
            </a: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</a:t>
            </a: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전년 대비 </a:t>
            </a:r>
            <a:r>
              <a:rPr sz="23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+0.95%p</a:t>
            </a: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로</a:t>
            </a: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상승 중인 언어다.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유니티 게임·윈도우 앱</a:t>
            </a: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수요가 순위를 떠받친다.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순위 암기 불필요 — 'C 가족이 강하고 C#은 상위권' 감각만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1.2절 · 그림 1-3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C 혈통 이야기 — 소송과 탄생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14350"/>
          </a:xfrm>
          <a:prstGeom prst="roundRect">
            <a:avLst>
              <a:gd name="adj" fmla="val 3000"/>
            </a:avLst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2159447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연도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841943" y="2571750"/>
            <a:ext cx="1320247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사건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086100"/>
            <a:ext cx="16239744" cy="617220"/>
          </a:xfrm>
          <a:prstGeom prst="roundRect">
            <a:avLst>
              <a:gd name="adj" fmla="val 1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280160" y="3086100"/>
            <a:ext cx="2086295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1969경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78519" y="3086100"/>
            <a:ext cx="13129320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벨 연구소 켄 톰프슨이 </a:t>
            </a:r>
            <a:r>
              <a:rPr sz="26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B 언어</a:t>
            </a: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개발 — C의 직계 선배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3703320"/>
            <a:ext cx="2086295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1972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78519" y="3703320"/>
            <a:ext cx="13129320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벨 연구소 데니스 리치가 </a:t>
            </a:r>
            <a:r>
              <a:rPr sz="26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C</a:t>
            </a: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개발 — 유닉스가 C로 만들어지며 주류로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320540"/>
            <a:ext cx="16239744" cy="617220"/>
          </a:xfrm>
          <a:prstGeom prst="roundRect">
            <a:avLst>
              <a:gd name="adj" fmla="val 1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280160" y="4320540"/>
            <a:ext cx="2086295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1983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78519" y="4320540"/>
            <a:ext cx="13129320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C에 객체지향을 얹은 </a:t>
            </a:r>
            <a:r>
              <a:rPr sz="26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C++</a:t>
            </a: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'한 단계 향상'의 ++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937760"/>
            <a:ext cx="2086295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1991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78519" y="4937760"/>
            <a:ext cx="13129320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제임스 고슬링, C++의 복잡함을 덜어낸 </a:t>
            </a:r>
            <a:r>
              <a:rPr sz="26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자바</a:t>
            </a: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개발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24128" y="5554980"/>
            <a:ext cx="16239744" cy="617220"/>
          </a:xfrm>
          <a:prstGeom prst="roundRect">
            <a:avLst>
              <a:gd name="adj" fmla="val 1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80160" y="5554980"/>
            <a:ext cx="2086295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1990s 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878519" y="5554980"/>
            <a:ext cx="13129320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마이크로소프트, 자바 확장판 </a:t>
            </a:r>
            <a:r>
              <a:rPr sz="26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J++</a:t>
            </a: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를 만들었다가 포기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280160" y="6172200"/>
            <a:ext cx="2086295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2000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878519" y="6172200"/>
            <a:ext cx="13129320" cy="6172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마이크로소프트, 닷넷 프레임워크의 언어 </a:t>
            </a:r>
            <a:r>
              <a:rPr sz="26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C#</a:t>
            </a: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발표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6943725"/>
            <a:ext cx="16239744" cy="1800225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389888" y="713917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C#의 성격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89888" y="7766685"/>
            <a:ext cx="15508224" cy="85382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9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C++를 계승하되 자바의 영향을 많이 받은</a:t>
            </a: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언어. 자바 흉내라는 시선도 있지만,</a:t>
            </a:r>
          </a:p>
          <a:p>
            <a:pPr algn="l">
              <a:lnSpc>
                <a:spcPct val="142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C/C++·자바·Visual Basic의 장점까지 흡수한 </a:t>
            </a:r>
            <a:r>
              <a:rPr sz="19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독자 언어</a:t>
            </a: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로 보는 쪽이 설득력 있다.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1969 B 언어는 강의 보강 — 교재는 C(1972)부터 시작한다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2.1절 · p.21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이름의 비밀 — #은 +가 네 개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4732020"/>
          </a:xfrm>
          <a:prstGeom prst="roundRect">
            <a:avLst>
              <a:gd name="adj" fmla="val 2000"/>
            </a:avLst>
          </a:prstGeom>
          <a:solidFill>
            <a:srgbClr val="FFFFFF"/>
          </a:solidFill>
          <a:ln w="12700">
            <a:solidFill>
              <a:srgbClr val="DBD6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2" name="Picture 11" descr="ch1_csharp_nam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41703" y="2664333"/>
            <a:ext cx="9804593" cy="4094226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1024128" y="6851142"/>
            <a:ext cx="16239744" cy="452628"/>
          </a:xfrm>
          <a:prstGeom prst="roundRect">
            <a:avLst>
              <a:gd name="adj" fmla="val 2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1280160" y="6851142"/>
            <a:ext cx="15727680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3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C → C++ → C#. # 기호는 + 네 개를 겹친 모양 — 'C++++'라는 은유 (직접 제작)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7560945"/>
            <a:ext cx="7936992" cy="1954530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389888" y="7746111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읽는 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755648" y="8301609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ounded Rectangle 17"/>
          <p:cNvSpPr/>
          <p:nvPr/>
        </p:nvSpPr>
        <p:spPr>
          <a:xfrm>
            <a:off x="9326880" y="7560945"/>
            <a:ext cx="7936992" cy="1954530"/>
          </a:xfrm>
          <a:prstGeom prst="roundRect">
            <a:avLst>
              <a:gd name="adj" fmla="val 6000"/>
            </a:avLst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692640" y="7746111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뜻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0058400" y="8301609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572768" y="8466201"/>
            <a:ext cx="6839712" cy="7715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씨샵</a:t>
            </a: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(C sharp)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8466201"/>
            <a:ext cx="6839712" cy="77152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C보다 훨씬 진보했다는 은유 — C++에 +를 2개 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1.1절 TIP · 2.1절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C#의 특징 여섯 가지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09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124265"/>
            <a:ext cx="7095744" cy="1213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간결한 문법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포인터 제거,</a:t>
            </a:r>
          </a:p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메모리는 가비지 컬렉터가 전담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90906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93477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461575"/>
            <a:ext cx="7095744" cy="1213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4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엄격한 문법</a:t>
            </a: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case에 break 없으면 오류,</a:t>
            </a:r>
          </a:p>
          <a:p>
            <a:pPr algn="l">
              <a:lnSpc>
                <a:spcPct val="135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초기화 안 된 변수도 오류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524637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527208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798885"/>
            <a:ext cx="7095744" cy="1213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완전한 객체지향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클래스·캡슐화·</a:t>
            </a:r>
          </a:p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다형성·상속 100% 지원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400032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400032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68128" y="2124265"/>
            <a:ext cx="7095744" cy="1213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멀티 스레드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병렬 처리로</a:t>
            </a:r>
          </a:p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대용량 작업을 빠르게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400032" y="390906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400032" y="393477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168128" y="3461575"/>
            <a:ext cx="7095744" cy="1213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다양한 응용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데스크톱·웹(ASP.NET)·</a:t>
            </a:r>
          </a:p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DB·유니티 게임까지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400032" y="524637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9400032" y="527208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168128" y="4798885"/>
            <a:ext cx="7095744" cy="121386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CLR 환경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공용 언어 런타임 위에서</a:t>
            </a:r>
          </a:p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실행, 타 언어와 통합 가능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6840855"/>
            <a:ext cx="16239744" cy="185166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B8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426464" y="7015734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B88A2A"/>
                </a:solidFill>
                <a:latin typeface="페이퍼로지 8 ExtraBold"/>
                <a:ea typeface="페이퍼로지 8 ExtraBold"/>
                <a:cs typeface="페이퍼로지 8 ExtraBold"/>
              </a:rPr>
              <a:t>▲  한계도 있다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426464" y="7478649"/>
            <a:ext cx="15435071" cy="1069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30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하드웨어 직접 제어는 제한적 — 그런 부분은 </a:t>
            </a:r>
            <a:r>
              <a:rPr sz="30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C/C++와 혼용</a:t>
            </a:r>
            <a:r>
              <a:rPr sz="30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해서 작성한다.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시험엔 '틀린 설명 고르기'로 나온다 — 유연한 문법(×), 절차지향(×)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2.3절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닷넷 프레임워크 — C# 도구를 한 벌로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1645920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6720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정의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89888" y="3394710"/>
            <a:ext cx="15508224" cy="6995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마이크로소프트에서 제공하는 </a:t>
            </a:r>
            <a:r>
              <a:rPr sz="29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Windows 프로그램 개발 및 실행 환경</a:t>
            </a:r>
            <a:r>
              <a:rPr sz="2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에 대한 이름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4526280"/>
            <a:ext cx="16239744" cy="2057400"/>
          </a:xfrm>
          <a:prstGeom prst="roundRect">
            <a:avLst>
              <a:gd name="adj" fmla="val 6000"/>
            </a:avLst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389888" y="472173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풀어 말하면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89888" y="5349240"/>
            <a:ext cx="15508224" cy="11109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C#으로 프로그램을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개발하고 실행하는 데 필요한 여러 도구와 기능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을</a:t>
            </a:r>
          </a:p>
          <a:p>
            <a:pPr algn="l">
              <a:lnSpc>
                <a:spcPct val="142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Microsoft가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하나의 플랫폼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으로 묶어 제공하는 것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6892290"/>
            <a:ext cx="16239744" cy="2520315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389888" y="708774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쉽게 말하면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89888" y="7715250"/>
            <a:ext cx="15508224" cy="157391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칼·도마·냄비를 따로 사지 않고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주방 세트 한 벌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로 받는 것 — 그 안의 실행 담당이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CLR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  <a:p>
            <a:pPr algn="l">
              <a:lnSpc>
                <a:spcPct val="142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Windows 10·Windows Server 2016 이후는 Windows 업데이트로 최신 버전이 자동 설치된다.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'풀어 말하면'은 강의 보강 — 교재엔 정의 한 줄뿐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2.4절 · p.25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닷넷 3형제 — 이름이 비슷해서 헷갈린다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11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34924"/>
          </a:xfrm>
          <a:prstGeom prst="roundRect">
            <a:avLst>
              <a:gd name="adj" fmla="val 3000"/>
            </a:avLst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3458626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이름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41122" y="2571750"/>
            <a:ext cx="1509857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등장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89891" y="2571750"/>
            <a:ext cx="9954524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정체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106674"/>
            <a:ext cx="16239744" cy="905256"/>
          </a:xfrm>
          <a:prstGeom prst="roundRect">
            <a:avLst>
              <a:gd name="adj" fmla="val 1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106674"/>
            <a:ext cx="338547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닷넷 프레임워크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7698" y="3106674"/>
            <a:ext cx="1436705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2002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26467" y="3106674"/>
            <a:ext cx="9881372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Windows 전용 개발·실행 환경. </a:t>
            </a:r>
            <a:r>
              <a:rPr sz="23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4.8이 마지막</a:t>
            </a: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수업이 쓰는 환경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11930"/>
            <a:ext cx="338547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닷넷 코어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77698" y="4011930"/>
            <a:ext cx="1436705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2014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26467" y="4011930"/>
            <a:ext cx="9881372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크로스 플랫폼(윈도우·리눅스·맥)용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917186"/>
            <a:ext cx="16239744" cy="905256"/>
          </a:xfrm>
          <a:prstGeom prst="roundRect">
            <a:avLst>
              <a:gd name="adj" fmla="val 1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917186"/>
            <a:ext cx="3385474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닷넷 (.NET)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77698" y="4917186"/>
            <a:ext cx="1436705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2020~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26467" y="4917186"/>
            <a:ext cx="9881372" cy="90525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둘을 통합한 이름(2020 .NET 5) — </a:t>
            </a:r>
            <a:r>
              <a:rPr sz="24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모바일까지는 .NET 6부터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6635115"/>
            <a:ext cx="16239744" cy="2057400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89888" y="683056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우리 수업 환경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7458075"/>
            <a:ext cx="15508224" cy="11109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.NET Framework 4.8 + C# 7.3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Visual Studio를 설치하면 함께 깔린다.</a:t>
            </a:r>
          </a:p>
          <a:p>
            <a:pPr algn="l">
              <a:lnSpc>
                <a:spcPct val="142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초보 단계에서 버전은 신경 쓰지 않아도 된다. Windows 10부터는 업데이트로 자동 설치.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교재는 '닷넷 5부터 모바일'로 적었다 — 수업 기준은 닷넷 6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2.4절 '여기서 잠깐'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코드가 .exe가 되기까지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12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ctangle 11"/>
          <p:cNvSpPr/>
          <p:nvPr/>
        </p:nvSpPr>
        <p:spPr>
          <a:xfrm>
            <a:off x="1024128" y="2571750"/>
            <a:ext cx="3840480" cy="102870"/>
          </a:xfrm>
          <a:prstGeom prst="rect">
            <a:avLst/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316735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① 코딩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16735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소스 파일 작성</a:t>
            </a:r>
          </a:p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(*.cs)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91456" y="321983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 lang="ko-KR" altLang="en-US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157216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5157216" y="2571750"/>
            <a:ext cx="3840480" cy="102870"/>
          </a:xfrm>
          <a:prstGeom prst="rect">
            <a:avLst/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449824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② 컴파일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49824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기계어로 번역</a:t>
            </a:r>
          </a:p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→ 오브젝트 파일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24544" y="321983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 lang="ko-KR" altLang="en-US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290304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Rectangle 21"/>
          <p:cNvSpPr/>
          <p:nvPr/>
        </p:nvSpPr>
        <p:spPr>
          <a:xfrm>
            <a:off x="9290304" y="2571750"/>
            <a:ext cx="3840480" cy="102870"/>
          </a:xfrm>
          <a:prstGeom prst="rect">
            <a:avLst/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582912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③ 링크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82912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하나로 결합</a:t>
            </a:r>
          </a:p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→ 실행 파일(*.exe)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057632" y="3219831"/>
            <a:ext cx="438912" cy="4526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3300" b="0" lang="ko-KR" altLang="en-US">
                <a:solidFill>
                  <a:srgbClr val="6B7A80"/>
                </a:solidFill>
                <a:latin typeface="페이퍼로지 8 ExtraBold"/>
                <a:ea typeface="페이퍼로지 8 ExtraBold"/>
                <a:cs typeface="페이퍼로지 8 ExtraBold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423392" y="2571750"/>
            <a:ext cx="3840480" cy="1748790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Rectangle 26"/>
          <p:cNvSpPr/>
          <p:nvPr/>
        </p:nvSpPr>
        <p:spPr>
          <a:xfrm>
            <a:off x="13423392" y="2571750"/>
            <a:ext cx="3840480" cy="102870"/>
          </a:xfrm>
          <a:prstGeom prst="rect">
            <a:avLst/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13716000" y="2777490"/>
            <a:ext cx="3255264" cy="39090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④ 실행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3716000" y="3209544"/>
            <a:ext cx="3255264" cy="96697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결과가</a:t>
            </a:r>
          </a:p>
          <a:p>
            <a:pPr algn="ctr">
              <a:lnSpc>
                <a:spcPct val="135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화면에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1024128" y="4680585"/>
            <a:ext cx="10058400" cy="3960495"/>
          </a:xfrm>
          <a:prstGeom prst="roundRect">
            <a:avLst>
              <a:gd name="adj" fmla="val 6000"/>
            </a:avLst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1389888" y="4876038"/>
            <a:ext cx="9326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빌드 = 컴파일 + 링크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389888" y="5503545"/>
            <a:ext cx="9326880" cy="30140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②와 ③은 보통 </a:t>
            </a:r>
            <a:r>
              <a:rPr sz="21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한꺼번에</a:t>
            </a: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처리한다 — 이것이 </a:t>
            </a:r>
            <a:r>
              <a:rPr sz="21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빌드(Build)</a:t>
            </a: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드라이버 비유: 나무·쇠(소스)를 가공하면 손잡이·몸통(오브젝트),</a:t>
            </a: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조립(링크)</a:t>
            </a: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해야 쓸 수 있는 드라이버(.exe)가 된다.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21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소스가 하나뿐이어도 이 과정은 반드시 거친다.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11521440" y="4680585"/>
            <a:ext cx="5742432" cy="3960495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11887200" y="4876038"/>
            <a:ext cx="50109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더 깊이 (참고)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887200" y="5503545"/>
            <a:ext cx="5010912" cy="301409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C#의 .exe는 사실 </a:t>
            </a:r>
            <a:r>
              <a:rPr sz="17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IL</a:t>
            </a: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(중간 언어) 상태의 어셈블리.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실행 순간 </a:t>
            </a:r>
            <a:r>
              <a:rPr sz="17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CLR</a:t>
            </a: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원시</a:t>
            </a: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코드로 재변환한다 — 자바</a:t>
            </a: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바이트 코드와 같은 원리.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내부 처리라 몰라도 된다.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TextBox 3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3.1~3.4절 · 그림 1-6~1-8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컴파일러 언어 vs 스크립트 언어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7936992" cy="3867912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컴파일러 언어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5648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0" y="2571750"/>
            <a:ext cx="7936992" cy="3867912"/>
          </a:xfrm>
          <a:prstGeom prst="roundRect">
            <a:avLst>
              <a:gd name="adj" fmla="val 6000"/>
            </a:avLst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92640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스크립트 언어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572768" y="3477006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일괄 번역 후 </a:t>
            </a:r>
            <a:r>
              <a:rPr sz="28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실행 파일</a:t>
            </a: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을 실행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477006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한 줄씩 해석하며 즉시 실행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382261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 · C++ · 자바 · </a:t>
            </a:r>
            <a:r>
              <a:rPr sz="28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C#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382261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파이썬</a:t>
            </a: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· 자바스크립트 · 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72768" y="5287518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실행 속도 빠름 / 배우는 데 오래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75520" y="5287518"/>
            <a:ext cx="6839712" cy="87439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실행 파일 없음 / 빨리 배움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6480810"/>
            <a:ext cx="16239744" cy="2160270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89888" y="667626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두 과목을 잇는 다리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7303770"/>
            <a:ext cx="15508224" cy="12138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영상처리(파이썬)는 </a:t>
            </a:r>
            <a:r>
              <a:rPr sz="28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한 줄씩 바로 실행</a:t>
            </a: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됐지만, 이 과목(C#)은 </a:t>
            </a:r>
            <a:r>
              <a:rPr sz="28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빌드를 거쳐야</a:t>
            </a: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돈다.</a:t>
            </a:r>
          </a:p>
          <a:p>
            <a:pPr algn="l">
              <a:lnSpc>
                <a:spcPct val="142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'수정 → 저장 → 끝'이던 습관에 '</a:t>
            </a:r>
            <a:r>
              <a:rPr sz="28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→ 재빌드</a:t>
            </a: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' 한 단계가 추가되는 것.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3.4절 '여기서 잠깐'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비주얼 스튜디오 — 무료로 전부 된다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14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6239744" cy="534924"/>
          </a:xfrm>
          <a:prstGeom prst="roundRect">
            <a:avLst>
              <a:gd name="adj" fmla="val 3000"/>
            </a:avLst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243584" y="2571750"/>
            <a:ext cx="5082600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에디션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5096" y="2571750"/>
            <a:ext cx="1509857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가격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713866" y="2571750"/>
            <a:ext cx="8330549" cy="5349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비고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24128" y="3106674"/>
            <a:ext cx="16239744" cy="864108"/>
          </a:xfrm>
          <a:prstGeom prst="roundRect">
            <a:avLst>
              <a:gd name="adj" fmla="val 1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" y="3106674"/>
            <a:ext cx="50094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Enterprise / Professional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01672" y="3106674"/>
            <a:ext cx="1436705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유료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0442" y="3106674"/>
            <a:ext cx="8257397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기능 많은 순 — 기업용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3970782"/>
            <a:ext cx="50094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Community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01672" y="3970782"/>
            <a:ext cx="1436705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무료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750442" y="3970782"/>
            <a:ext cx="8257397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2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유료판과 기능 차이 없음</a:t>
            </a: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개인·교육기관 제한 없이 사용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4834890"/>
            <a:ext cx="16239744" cy="864108"/>
          </a:xfrm>
          <a:prstGeom prst="roundRect">
            <a:avLst>
              <a:gd name="adj" fmla="val 1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280160" y="4834890"/>
            <a:ext cx="5009448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Express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01672" y="4834890"/>
            <a:ext cx="1436705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무료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750442" y="4834890"/>
            <a:ext cx="8257397" cy="86410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2015를 끝으로 단종 — Community로 대체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648081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024128" y="650652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92223" y="6321361"/>
            <a:ext cx="15471648" cy="6377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다운로드: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visualstudio.microsoft.com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→ Community 2022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24128" y="7242048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024128" y="7267765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3" y="7082599"/>
            <a:ext cx="15471648" cy="6377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워크로드는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[.NET 데스크톱 개발]만 체크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(약 6.2GB, 여유 10GB 권장)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24128" y="8003286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extBox 32"/>
          <p:cNvSpPr txBox="1"/>
          <p:nvPr/>
        </p:nvSpPr>
        <p:spPr>
          <a:xfrm>
            <a:off x="1024128" y="8029003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92223" y="7843837"/>
            <a:ext cx="15471648" cy="63779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로그인은 &lt;나중에&gt; 가능 — 단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30일 내 마이크로소프트 계정 로그인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필요(무료)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6" name="TextBox 35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설치 전 파일 탐색기에서 '파일 확장명 표시'를 켜 둘 것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4.1~4.2절 · 실습 1-1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첫 프로젝트 만들기 — 다섯 번의 클릭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91727"/>
            <a:ext cx="15471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실습 폴더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C:\CookC#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을 미리 만든다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374136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399853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194113"/>
            <a:ext cx="15471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[새 프로젝트 만들기] → 언어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[C#]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→ 템플릿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[콘솔 앱(.NET Framework)]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17652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20223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3996499"/>
            <a:ext cx="15471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이름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First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· 위치 C:\CookC# ·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[솔루션 및 프로젝트를 같은 디렉터리에 배치]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체크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4978908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024128" y="5004625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92223" y="4798885"/>
            <a:ext cx="15471648" cy="67894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프레임워크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4.8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→ &lt;만들기&gt; — 소스 파일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Program.cs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가 자동 생성된다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6017895"/>
            <a:ext cx="16239744" cy="128587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B8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426464" y="6192774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B88A2A"/>
                </a:solidFill>
                <a:latin typeface="페이퍼로지 8 ExtraBold"/>
                <a:ea typeface="페이퍼로지 8 ExtraBold"/>
                <a:cs typeface="페이퍼로지 8 ExtraBold"/>
              </a:rPr>
              <a:t>▲  가장 흔한 실수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26464" y="6655689"/>
            <a:ext cx="15435071" cy="50406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템플릿 목록의 그냥 </a:t>
            </a:r>
            <a:r>
              <a:rPr sz="23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[콘솔 앱]을 고르면 안 된다</a:t>
            </a: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반드시 뒤에 </a:t>
            </a:r>
            <a:r>
              <a:rPr sz="23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(.NET Framework)</a:t>
            </a: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가 붙은 것.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24128" y="7509510"/>
            <a:ext cx="16239744" cy="1234440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1389888" y="7653528"/>
            <a:ext cx="15508224" cy="4197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규모 관계 (연습문제 7번)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89888" y="8145246"/>
            <a:ext cx="15508224" cy="47525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솔루션 ⊃ 프로젝트 ⊃ 프로그램 소스</a:t>
            </a: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이 수업에선 솔루션 1 = 프로젝트 1이라 같다고 봐도 된다.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5.1절 · 실습 1-2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소스 1-2 — 100 빼기 50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10972800" cy="6223635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1024128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lang="ko-KR" altLang="en-US">
                <a:solidFill>
                  <a:srgbClr val="A79BC6"/>
                </a:solidFill>
                <a:latin typeface="페이퍼로지 6 SemiBold"/>
                <a:ea typeface="페이퍼로지 6 SemiBold"/>
                <a:cs typeface="페이퍼로지 6 SemiBold"/>
              </a:rPr>
              <a:t>Program.cs — 직접 친 부분은 가운데 세 줄뿐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10168128" cy="5503545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using System;                       // System 네임스페이스를 짧게 쓰겠다는 선언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using System.Collections.Generic;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using System.Linq;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using System.Text;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using System.Threading.Tasks;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namespace First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internal class Program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{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static void Main(string[] args)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{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    int result;                 // 정수형 변수 선언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    result = 100 - 50;          // 오른쪽을 계산해 왼쪽에 대입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    Console.WriteLine(result);  // 괄호 안 값을 화면에 출력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}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}</a:t>
            </a:r>
          </a:p>
          <a:p>
            <a:pPr>
              <a:lnSpc>
                <a:spcPct val="132000"/>
              </a:lnSpc>
            </a:pPr>
            <a:r>
              <a:rPr sz="125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2435840" y="2571750"/>
            <a:ext cx="4828032" cy="2160270"/>
          </a:xfrm>
          <a:prstGeom prst="roundRect">
            <a:avLst>
              <a:gd name="adj" fmla="val 2500"/>
            </a:avLst>
          </a:prstGeom>
          <a:solidFill>
            <a:srgbClr val="FBF0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ctangle 14"/>
          <p:cNvSpPr/>
          <p:nvPr/>
        </p:nvSpPr>
        <p:spPr>
          <a:xfrm>
            <a:off x="12435840" y="2571750"/>
            <a:ext cx="91440" cy="2160270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12801600" y="2674620"/>
            <a:ext cx="4096512" cy="30861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lang="ko-KR" altLang="en-US">
                <a:solidFill>
                  <a:srgbClr val="B88A2A"/>
                </a:solidFill>
                <a:latin typeface="페이퍼로지 8 ExtraBold"/>
                <a:ea typeface="페이퍼로지 8 ExtraBold"/>
                <a:cs typeface="페이퍼로지 8 ExtraBold"/>
              </a:rPr>
              <a:t>■  실행 결과 (Ctrl+F5)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38176" y="3024378"/>
            <a:ext cx="4023360" cy="1584198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500">
                <a:solidFill>
                  <a:srgbClr val="1E2A30"/>
                </a:solidFill>
                <a:latin typeface="Consolas"/>
                <a:ea typeface="Consolas"/>
                <a:cs typeface="Consolas"/>
              </a:rPr>
              <a:t>50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2435840" y="5040630"/>
            <a:ext cx="4828032" cy="3754755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2801600" y="5236083"/>
            <a:ext cx="4096512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읽는 요령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0" y="5863590"/>
            <a:ext cx="4096512" cy="28083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1~12행은 자동 생성 —</a:t>
            </a:r>
          </a:p>
          <a:p>
            <a:pPr algn="l">
              <a:lnSpc>
                <a:spcPct val="142000"/>
              </a:lnSpc>
            </a:pPr>
            <a:r>
              <a:rPr sz="1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당분간 건드리지 않는다.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`using System;`이 있어야</a:t>
            </a:r>
          </a:p>
          <a:p>
            <a:pPr algn="l">
              <a:lnSpc>
                <a:spcPct val="142000"/>
              </a:lnSpc>
            </a:pPr>
            <a:r>
              <a:rPr sz="1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`Console.WriteLine()`을</a:t>
            </a:r>
          </a:p>
          <a:p>
            <a:pPr algn="l">
              <a:lnSpc>
                <a:spcPct val="142000"/>
              </a:lnSpc>
            </a:pPr>
            <a:r>
              <a:rPr sz="1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짧게 쓸 수 있다.</a:t>
            </a:r>
          </a:p>
          <a:p>
            <a:pPr algn="l">
              <a:lnSpc>
                <a:spcPct val="142000"/>
              </a:lnSpc>
            </a:pPr>
          </a:p>
          <a:p>
            <a:pPr algn="l">
              <a:lnSpc>
                <a:spcPct val="142000"/>
              </a:lnSpc>
            </a:pPr>
            <a:r>
              <a:rPr sz="1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파란 글자는 </a:t>
            </a:r>
            <a:r>
              <a:rPr sz="14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예약어</a:t>
            </a:r>
            <a:r>
              <a:rPr sz="1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,</a:t>
            </a:r>
          </a:p>
          <a:p>
            <a:pPr algn="l">
              <a:lnSpc>
                <a:spcPct val="142000"/>
              </a:lnSpc>
            </a:pPr>
            <a:r>
              <a:rPr sz="14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세미콜론(;)이 문장의 끝</a:t>
            </a:r>
            <a:r>
              <a:rPr sz="14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—  대입 연산자(=)는 화살표(←)로 읽기 — 오른쪽을 다 계산해 왼쪽에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5.2절 · 소스 1-2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namespace는 프로젝트, class는 파일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17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8046720" cy="3806190"/>
          </a:xfrm>
          <a:prstGeom prst="roundRect">
            <a:avLst>
              <a:gd name="adj" fmla="val 2500"/>
            </a:avLst>
          </a:prstGeom>
          <a:solidFill>
            <a:srgbClr val="141E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674620"/>
            <a:ext cx="73152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300" b="0" lang="ko-KR" altLang="en-US">
                <a:solidFill>
                  <a:srgbClr val="A79BC6"/>
                </a:solidFill>
                <a:latin typeface="페이퍼로지 6 SemiBold"/>
                <a:ea typeface="페이퍼로지 6 SemiBold"/>
                <a:cs typeface="페이퍼로지 6 SemiBold"/>
              </a:rPr>
              <a:t>Program.cs의 뼈대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26464" y="3168396"/>
            <a:ext cx="7242048" cy="3086100"/>
          </a:xfrm>
          <a:prstGeom prst="rect">
            <a:avLst/>
          </a:prstGeom>
          <a:noFill/>
        </p:spPr>
        <p:txBody>
          <a:bodyPr wrap="none" anchor="t" lIns="0" rIns="0" tIns="0" bIns="0">
            <a:spAutoFit/>
          </a:bodyPr>
          <a:lstStyle/>
          <a:p>
            <a:pPr>
              <a:lnSpc>
                <a:spcPct val="132000"/>
              </a:lnSpc>
            </a:pPr>
            <a:r>
              <a:rPr sz="14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namespace First                  // 7행 — 프로젝트 이름</a:t>
            </a:r>
          </a:p>
          <a:p>
            <a:pPr>
              <a:lnSpc>
                <a:spcPct val="132000"/>
              </a:lnSpc>
            </a:pPr>
            <a:r>
              <a:rPr sz="14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{</a:t>
            </a:r>
          </a:p>
          <a:p>
            <a:pPr>
              <a:lnSpc>
                <a:spcPct val="132000"/>
              </a:lnSpc>
            </a:pPr>
            <a:r>
              <a:rPr sz="14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internal class Program       // 9행 — 파일명 Program.cs</a:t>
            </a:r>
          </a:p>
          <a:p>
            <a:pPr>
              <a:lnSpc>
                <a:spcPct val="132000"/>
              </a:lnSpc>
            </a:pPr>
            <a:r>
              <a:rPr sz="14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{</a:t>
            </a:r>
          </a:p>
          <a:p>
            <a:pPr>
              <a:lnSpc>
                <a:spcPct val="132000"/>
              </a:lnSpc>
            </a:pPr>
            <a:r>
              <a:rPr sz="14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static void Main(string[] args)</a:t>
            </a:r>
          </a:p>
          <a:p>
            <a:pPr>
              <a:lnSpc>
                <a:spcPct val="132000"/>
              </a:lnSpc>
            </a:pPr>
            <a:r>
              <a:rPr sz="14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{</a:t>
            </a:r>
          </a:p>
          <a:p>
            <a:pPr>
              <a:lnSpc>
                <a:spcPct val="132000"/>
              </a:lnSpc>
            </a:pPr>
            <a:r>
              <a:rPr sz="1400">
                <a:solidFill>
                  <a:srgbClr val="7E9A8F"/>
                </a:solidFill>
                <a:latin typeface="Consolas"/>
                <a:ea typeface="Consolas"/>
                <a:cs typeface="Consolas"/>
              </a:rPr>
              <a:t>            // 13~15행: 직접 친 세 줄</a:t>
            </a:r>
          </a:p>
          <a:p>
            <a:pPr>
              <a:lnSpc>
                <a:spcPct val="132000"/>
              </a:lnSpc>
            </a:pPr>
            <a:r>
              <a:rPr sz="14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    }</a:t>
            </a:r>
          </a:p>
          <a:p>
            <a:pPr>
              <a:lnSpc>
                <a:spcPct val="132000"/>
              </a:lnSpc>
            </a:pPr>
            <a:r>
              <a:rPr sz="14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    }                            // 17행 — 클래스 끝</a:t>
            </a:r>
          </a:p>
          <a:p>
            <a:pPr>
              <a:lnSpc>
                <a:spcPct val="132000"/>
              </a:lnSpc>
            </a:pPr>
            <a:r>
              <a:rPr sz="1400">
                <a:solidFill>
                  <a:srgbClr val="E8EEF2"/>
                </a:solidFill>
                <a:latin typeface="Consolas"/>
                <a:ea typeface="Consolas"/>
                <a:cs typeface="Consolas"/>
              </a:rPr>
              <a:t>}                                // 18행 — 네임스페이스 끝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509760" y="2571750"/>
            <a:ext cx="7754112" cy="514350"/>
          </a:xfrm>
          <a:prstGeom prst="roundRect">
            <a:avLst>
              <a:gd name="adj" fmla="val 3000"/>
            </a:avLst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729216" y="2571750"/>
            <a:ext cx="2662732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선언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30860" y="2571750"/>
            <a:ext cx="956828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행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226600" y="2571750"/>
            <a:ext cx="2817815" cy="51435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5000"/>
              </a:lnSpc>
            </a:pPr>
            <a:r>
              <a:rPr sz="2500" b="0" lang="ko-KR" altLang="en-US">
                <a:solidFill>
                  <a:srgbClr val="6C3DB4"/>
                </a:solidFill>
                <a:latin typeface="페이퍼로지 8 ExtraBold"/>
                <a:ea typeface="페이퍼로지 8 ExtraBold"/>
                <a:cs typeface="페이퍼로지 8 ExtraBold"/>
              </a:rPr>
              <a:t>이름의 출처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509760" y="3086100"/>
            <a:ext cx="7754112" cy="925830"/>
          </a:xfrm>
          <a:prstGeom prst="roundRect">
            <a:avLst>
              <a:gd name="adj" fmla="val 1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765792" y="3086100"/>
            <a:ext cx="2589580" cy="925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namespace First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67436" y="3086100"/>
            <a:ext cx="883676" cy="925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7~18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3176" y="3086100"/>
            <a:ext cx="2744663" cy="925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프로젝트 이름</a:t>
            </a: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First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65792" y="4011930"/>
            <a:ext cx="2589580" cy="925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class Program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2867436" y="4011930"/>
            <a:ext cx="883676" cy="925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8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9~17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4263176" y="4011930"/>
            <a:ext cx="2744663" cy="92583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23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파일명</a:t>
            </a: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Program.cs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09760" y="5040630"/>
            <a:ext cx="7754112" cy="1337310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875520" y="5184648"/>
            <a:ext cx="7022592" cy="454685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지금 볼 범위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875520" y="5711342"/>
            <a:ext cx="7022592" cy="54315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나머지는 자동 완성 — 직접 친 </a:t>
            </a:r>
            <a:r>
              <a:rPr sz="17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13~15행</a:t>
            </a:r>
            <a:r>
              <a:rPr sz="17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만 자세히 보면 된다.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24128" y="6737985"/>
            <a:ext cx="16239744" cy="2623185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B8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1426464" y="6912864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B88A2A"/>
                </a:solidFill>
                <a:latin typeface="페이퍼로지 8 ExtraBold"/>
                <a:ea typeface="페이퍼로지 8 ExtraBold"/>
                <a:cs typeface="페이퍼로지 8 ExtraBold"/>
              </a:rPr>
              <a:t>▲  교재 해설은 짝이 반대로 적혀 있다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426464" y="7375779"/>
            <a:ext cx="15435071" cy="1841373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교재 p.41은 '클래스 = 프로젝트 이름, 네임스페이스 = 파일명'으로 설명한다.</a:t>
            </a:r>
          </a:p>
          <a:p>
            <a:pPr algn="l">
              <a:lnSpc>
                <a:spcPct val="14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코드의 `namespace First`·`class Program`이 증거 — </a:t>
            </a:r>
            <a:r>
              <a:rPr sz="26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네임스페이스 = 프로젝트, 클래스 = 파일</a:t>
            </a: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맞다.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2" name="TextBox 31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짝을 바꿔 묻는 문제 주의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5.2절 · 실습 1-3 ② · p.41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빌드, 그리고 오류 읽는 법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18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7936992" cy="3415284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빌드하기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5648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0" y="2571750"/>
            <a:ext cx="7936992" cy="3415284"/>
          </a:xfrm>
          <a:prstGeom prst="roundRect">
            <a:avLst>
              <a:gd name="adj" fmla="val 6000"/>
            </a:avLst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92640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오류가 나면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572768" y="3477006"/>
            <a:ext cx="6839712" cy="11007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[빌드]-[솔루션 빌드]</a:t>
            </a:r>
          </a:p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(</a:t>
            </a:r>
            <a:r>
              <a:rPr sz="28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Ctrl+Shift+B</a:t>
            </a: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또는 F6)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477006"/>
            <a:ext cx="6839712" cy="11007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오류 목록에 </a:t>
            </a:r>
            <a:r>
              <a:rPr sz="26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CS1002 '; 이 필요합니다'</a:t>
            </a:r>
          </a:p>
          <a:p>
            <a:pPr algn="ctr">
              <a:lnSpc>
                <a:spcPct val="130000"/>
              </a:lnSpc>
            </a:pPr>
            <a:r>
              <a:rPr sz="26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— 파일·줄 번호까지 알려 준다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4608576"/>
            <a:ext cx="6839712" cy="11007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성공 시 왼쪽 아래</a:t>
            </a:r>
          </a:p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"빌드에 성공했습니다"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0" y="4608576"/>
            <a:ext cx="6839712" cy="1100709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오류를 더블클릭</a:t>
            </a: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하면 그 줄로 바로 이동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24128" y="6686550"/>
            <a:ext cx="16239744" cy="1954530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1389888" y="6882003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오류는 친구다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89888" y="7509510"/>
            <a:ext cx="15508224" cy="10081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일부러 세미콜론을 지우고 빌드해 보라 — 컴파일러가 </a:t>
            </a:r>
            <a:r>
              <a:rPr sz="23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어디가 왜 틀렸는지</a:t>
            </a: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짚어 준다.</a:t>
            </a: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수백 줄짜리 실무 코드에서 오류 메시지를 읽는 습관이 곧 실력이다.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5.3절 · 실습 1-4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실행 두 가지 — 그리고 가장 중요한 함정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19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7936992" cy="2438019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389888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방법 1 · 명령 프롬프트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55648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ounded Rectangle 13"/>
          <p:cNvSpPr/>
          <p:nvPr/>
        </p:nvSpPr>
        <p:spPr>
          <a:xfrm>
            <a:off x="9326880" y="2571750"/>
            <a:ext cx="7936992" cy="2438019"/>
          </a:xfrm>
          <a:prstGeom prst="roundRect">
            <a:avLst>
              <a:gd name="adj" fmla="val 6000"/>
            </a:avLst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92640" y="2756916"/>
            <a:ext cx="7205472" cy="49377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9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방법 2 · VS에서 바로 (권장)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3312414"/>
            <a:ext cx="6473952" cy="22631"/>
          </a:xfrm>
          <a:prstGeom prst="rect">
            <a:avLst/>
          </a:prstGeom>
          <a:solidFill>
            <a:srgbClr val="6B7A8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572768" y="3477006"/>
            <a:ext cx="6839712" cy="12550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CD로 bin\Debug까지 이동 →</a:t>
            </a:r>
          </a:p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`First` 입력(확장명 생략 가능)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0" y="3477006"/>
            <a:ext cx="6839712" cy="125501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Ctrl+F5</a:t>
            </a: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결과 창이 바로 뜬다</a:t>
            </a:r>
          </a:p>
          <a:p>
            <a:pPr algn="ctr">
              <a:lnSpc>
                <a:spcPct val="130000"/>
              </a:lnSpc>
            </a:pPr>
            <a:r>
              <a:rPr sz="28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"계속하려면 아무 키나..."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24128" y="4629150"/>
            <a:ext cx="16239744" cy="1851660"/>
          </a:xfrm>
          <a:prstGeom prst="roundRect">
            <a:avLst>
              <a:gd name="adj" fmla="val 5000"/>
            </a:avLst>
          </a:prstGeom>
          <a:solidFill>
            <a:srgbClr val="FBF0E8"/>
          </a:solidFill>
          <a:ln w="25400">
            <a:solidFill>
              <a:srgbClr val="B88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1426464" y="4804029"/>
            <a:ext cx="15435071" cy="43205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2600" b="0" lang="ko-KR" altLang="en-US">
                <a:solidFill>
                  <a:srgbClr val="B88A2A"/>
                </a:solidFill>
                <a:latin typeface="페이퍼로지 8 ExtraBold"/>
                <a:ea typeface="페이퍼로지 8 ExtraBold"/>
                <a:cs typeface="페이퍼로지 8 ExtraBold"/>
              </a:rPr>
              <a:t>▲  함정 — 고쳤는데 결과가 그대로?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26464" y="5266944"/>
            <a:ext cx="15435071" cy="10698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소스를 100−99로 고치고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저장만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한 채 실행하면 여전히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50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 나온다.</a:t>
            </a:r>
          </a:p>
          <a:p>
            <a:pPr algn="l">
              <a:lnSpc>
                <a:spcPct val="140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실행되는 건 소스가 아니라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예전에 빌드된 .exe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이기 때문 —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한 글자라도 고쳤으면 재빌드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24128" y="6737985"/>
            <a:ext cx="16239744" cy="1954530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1389888" y="69334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덤으로 얻는 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89888" y="7560945"/>
            <a:ext cx="15508224" cy="10081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명령 프롬프트에서 DIR·CD·COPY·DEL·MD·RD·CLS 같은 DOS 명령을 익혔고,</a:t>
            </a:r>
          </a:p>
          <a:p>
            <a:pPr algn="l">
              <a:lnSpc>
                <a:spcPct val="142000"/>
              </a:lnSpc>
            </a:pP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의뢰인에게는 </a:t>
            </a:r>
            <a:r>
              <a:rPr sz="23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First.exe 하나만 주면 배포 끝</a:t>
            </a:r>
            <a:r>
              <a:rPr sz="23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이라는 소프트웨어 유통의 원리도 보았다.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4400" y="8867394"/>
            <a:ext cx="91440" cy="884682"/>
          </a:xfrm>
          <a:prstGeom prst="rect">
            <a:avLst/>
          </a:prstGeom>
          <a:solidFill>
            <a:srgbClr val="E2DF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1207008" y="8867394"/>
            <a:ext cx="15910560" cy="88468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▲  이 함정이 1장의 핵심 교훈 — 시험·과제에서 반드시 만난다</a:t>
            </a:r>
          </a:p>
          <a:p>
            <a:pPr algn="l">
              <a:lnSpc>
                <a:spcPct val="13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·  교재 5.4절 · 실습 1-5~1-6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B1B4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347472" y="226314"/>
            <a:ext cx="4864608" cy="709803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" name="Picture 2" descr="kyungnam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7667" y="318897"/>
            <a:ext cx="421465" cy="524637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214323" y="293179"/>
            <a:ext cx="3913632" cy="57607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경남대학교 대학원 융합IT공학과</a:t>
            </a:r>
          </a:p>
          <a:p>
            <a:pPr algn="l">
              <a:lnSpc>
                <a:spcPct val="122000"/>
              </a:lnSpc>
            </a:pPr>
            <a:r>
              <a:rPr sz="1250" b="0" lang="ko-KR" altLang="en-US">
                <a:solidFill>
                  <a:srgbClr val="2B1B4D"/>
                </a:solidFill>
                <a:latin typeface="페이퍼로지 6 SemiBold"/>
                <a:ea typeface="페이퍼로지 6 SemiBold"/>
                <a:cs typeface="페이퍼로지 6 SemiBold"/>
              </a:rPr>
              <a:t>컴퓨터및소프트웨어공학전공(박사과정)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46455"/>
            <a:ext cx="7424928" cy="278777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1600" b="0" lang="ko-KR" altLang="en-US">
                <a:solidFill>
                  <a:srgbClr val="A79BC6"/>
                </a:solidFill>
                <a:latin typeface="프리젠테이션 5 Medium"/>
                <a:ea typeface="프리젠테이션 5 Medium"/>
                <a:cs typeface="프리젠테이션 5 Medium"/>
              </a:rPr>
              <a:t>객체지향시스템 · C#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" y="1152144"/>
            <a:ext cx="17593056" cy="8949690"/>
          </a:xfrm>
          <a:prstGeom prst="roundRect">
            <a:avLst>
              <a:gd name="adj" fmla="val 12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914400" y="1378458"/>
            <a:ext cx="12435840" cy="65836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3500" b="0" lang="ko-KR" altLang="en-US">
                <a:solidFill>
                  <a:srgbClr val="1E2A30"/>
                </a:solidFill>
                <a:latin typeface="페이퍼로지 8 ExtraBold"/>
                <a:ea typeface="페이퍼로지 8 ExtraBold"/>
                <a:cs typeface="페이퍼로지 8 ExtraBold"/>
              </a:rPr>
              <a:t>자가 점검 — 결과를 보고 코드를 떠올리기</a:t>
            </a:r>
          </a:p>
        </p:txBody>
      </p:sp>
      <p:sp>
        <p:nvSpPr>
          <p:cNvPr id="8" name="Rectangle 7"/>
          <p:cNvSpPr/>
          <p:nvPr/>
        </p:nvSpPr>
        <p:spPr>
          <a:xfrm>
            <a:off x="914400" y="2108835"/>
            <a:ext cx="768096" cy="51435"/>
          </a:xfrm>
          <a:prstGeom prst="rect">
            <a:avLst/>
          </a:prstGeom>
          <a:solidFill>
            <a:srgbClr val="B88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12435840" y="1460754"/>
            <a:ext cx="4754880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200" b="0" lang="ko-KR" altLang="en-US">
                <a:solidFill>
                  <a:srgbClr val="6B7A80"/>
                </a:solidFill>
                <a:latin typeface="페이퍼로지 6 SemiBold"/>
                <a:ea typeface="페이퍼로지 6 SemiBold"/>
                <a:cs typeface="페이퍼로지 6 SemiBold"/>
              </a:rPr>
              <a:t>CH 01 · C#의 탄생과 첫 실행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0" y="9717100"/>
            <a:ext cx="2926080" cy="2468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25000"/>
              </a:lnSpc>
            </a:pPr>
            <a:r>
              <a:rPr sz="2100" b="0" lang="ko-KR" altLang="en-US">
                <a:solidFill>
                  <a:srgbClr val="6B7A80"/>
                </a:solidFill>
                <a:latin typeface="프리젠테이션 5 Medium"/>
                <a:ea typeface="프리젠테이션 5 Medium"/>
                <a:cs typeface="프리젠테이션 5 Medium"/>
              </a:rPr>
              <a:t>20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24128" y="2571750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1024128" y="2597467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92223" y="2340292"/>
            <a:ext cx="15471648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123 × 456을 출력하도록 소스 1-1을 고쳐라 (SELF STUDY 1-1 → 56088)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24128" y="3477006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024128" y="3502723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92223" y="3245548"/>
            <a:ext cx="15471648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`int result = 100; Console.WriteLine(result); result = 200;` — 출력은? (</a:t>
            </a:r>
            <a:r>
              <a:rPr sz="19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100</a:t>
            </a:r>
            <a:r>
              <a:rPr sz="19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— 출력 뒤 대입은 영향 없음)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1024128" y="4382262"/>
            <a:ext cx="548640" cy="318897"/>
          </a:xfrm>
          <a:prstGeom prst="roundRect">
            <a:avLst>
              <a:gd name="adj" fmla="val 25000"/>
            </a:avLst>
          </a:prstGeom>
          <a:solidFill>
            <a:srgbClr val="6C3DB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1024128" y="4407979"/>
            <a:ext cx="548640" cy="26746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5000"/>
              </a:lnSpc>
            </a:pPr>
            <a:r>
              <a:rPr sz="2200" b="0" lang="ko-KR" altLang="en-US">
                <a:solidFill>
                  <a:srgbClr val="FFFFFF"/>
                </a:solidFill>
                <a:latin typeface="페이퍼로지 8 ExtraBold"/>
                <a:ea typeface="페이퍼로지 8 ExtraBold"/>
                <a:cs typeface="페이퍼로지 8 ExtraBold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92223" y="4150804"/>
            <a:ext cx="15471648" cy="78181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double형으로 </a:t>
            </a:r>
            <a:r>
              <a:rPr sz="25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3.14 × 3.14 = 9.8596</a:t>
            </a:r>
            <a:r>
              <a:rPr sz="25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을 출력하는 프로그램을 짜라 (심화문제 9번)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24128" y="5709285"/>
            <a:ext cx="16239744" cy="2108835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1389888" y="5904738"/>
            <a:ext cx="15508224" cy="473202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이 과목의 시험 스타일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89888" y="6532245"/>
            <a:ext cx="15508224" cy="116243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200" b="0" lang="ko-KR" altLang="en-US">
                <a:solidFill>
                  <a:srgbClr val="6C3DB4"/>
                </a:solidFill>
                <a:latin typeface="프리젠테이션 5 Medium"/>
                <a:ea typeface="프리젠테이션 5 Medium"/>
                <a:cs typeface="프리젠테이션 5 Medium"/>
              </a:rPr>
              <a:t>"실행 결과 화면만 주고 → 이 결과를 만드는 코드를 짜시오"</a:t>
            </a: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 유형이 예고되어 있다.</a:t>
            </a:r>
          </a:p>
          <a:p>
            <a:pPr algn="l">
              <a:lnSpc>
                <a:spcPct val="142000"/>
              </a:lnSpc>
            </a:pPr>
            <a:r>
              <a:rPr sz="22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매 장 끝날 때마다 '결과 → 코드 역산' 연습을 습관으로 — 웹 실습실의 받아쓰기·자유 코딩이 그 훈련장.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024128" y="7972425"/>
            <a:ext cx="16239744" cy="1183005"/>
          </a:xfrm>
          <a:prstGeom prst="roundRect">
            <a:avLst>
              <a:gd name="adj" fmla="val 6000"/>
            </a:avLst>
          </a:prstGeom>
          <a:solidFill>
            <a:srgbClr val="F2F0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1389888" y="8116443"/>
            <a:ext cx="15508224" cy="40222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lang="ko-KR" altLang="en-US">
                <a:solidFill>
                  <a:srgbClr val="2B1B4D"/>
                </a:solidFill>
                <a:latin typeface="페이퍼로지 8 ExtraBold"/>
                <a:ea typeface="페이퍼로지 8 ExtraBold"/>
                <a:cs typeface="페이퍼로지 8 ExtraBold"/>
              </a:rPr>
              <a:t>다음 장 예고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389888" y="8590673"/>
            <a:ext cx="15508224" cy="4413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2000"/>
              </a:lnSpc>
            </a:pPr>
            <a:r>
              <a:rPr sz="2000" b="0" lang="ko-KR" altLang="en-US">
                <a:solidFill>
                  <a:srgbClr val="1E2A30"/>
                </a:solidFill>
                <a:latin typeface="프리젠테이션 5 Medium"/>
                <a:ea typeface="프리젠테이션 5 Medium"/>
                <a:cs typeface="프리젠테이션 5 Medium"/>
              </a:rPr>
              <a:t>CH02 — 간단 계산기(콘솔)와 간단 그림판(윈폼)을 직접 만들며 변수·입출력을 익힌다.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