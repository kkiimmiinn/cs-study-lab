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저작권 안내. 인용 근거(저작권법 28조·37조 출처명시)와 자체 제작 원칙을 밝혀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결론 먼저: 문자열은 글자 배열, 메서드는 재료를 받아 결과를 돌려주는 자판기, 원본까지 바꾸려면 ref. 두 프로그램으로 앞뒤를 묶는다.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배열 복습(ary[0], ary[ary.Length - 1] → 10, 50)에서 출발. "IT CookBook. C#"은 공백 2칸과 마침표까지 세어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문자열 자체를 고치는 게 아니라 출력만 바꾼다는 점을 강조. SELF STUDY 8-1은 교재가 '소스 8-1 참조'라 적었지만 실제로는 이 소스를 고치는 문제.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동사(찾아라·바꿔라)에는 괄호, 명사(길이)에는 괄호가 없다는 비유로 기억시킨다.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True/False를 돌려주는 것(StartsWith·EndsWith·Contains)과 정수를 돌려주는 것(IndexOf·LastIndexOf·CompareTo)으로 나눠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Substring의 두 번째 인자는 끝 위치가 아니라 글자 수. ToUpper/ToLower는 한글·특수문자에 영향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메서드 모두 bool을 돌려주므로 if 조건에 바로 쓴다. !의 위치(결과 전체를 뒤집음)를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C#의 C가 22번 칸인 것을 손가락으로 세어 보게 한다. 위치를 1부터 세는 실수가 가장 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10행 Substring(3, 8)을 '3번부터 8번까지'로 읽으면 CookBo처럼 착각한다. 컴파일러 결과는 CookBook.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Trim은 단어 사이 공백을 남긴다는 점이 시험 포인트. 모두 지우는 방법은 한 글자씩 거르기와 Replace(" ", "") 두 가지.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bool은 콘솔에 True/False로 첫 글자 대문자. foreach는 문자열의 글자를 처음부터 하나씩 꺼내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char는 속으로 번호라 &lt;=로 범위 비교가 된다. 한글은 '가'(첫 글자)~'힣'(마지막 글자).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개수를 직접 검산해 보게 한다. 그림 8-1은 끝에 ~~가 없는 입력이라 기타가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C#이 주는 메서드(Console.WriteLine)도 있고 직접 만드는 메서드도 있다. 장점 네 가지는 시험 단골(교재 여기서 잠깐).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return;은 void 메서드에서 생략 가능. 메서드끼리는 클래스 안에 나란히 둔다(Main 안에 넣지 않는다). 파스칼 표기법은 권장이지 규칙이 아니라 소문자로 써도 오류는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Plus(100, 200)을 부르면 v1에 100, v2에 200이 차례로 들어간다. 그림 속 이름은 소문자 plus지만 소스는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호출할 때도 같은 순서·같은 형식으로. default: result = 0;이 없으면 값을 돌려주지 않는 경로가 생겨 CS0161.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지역 변수는 교실 칠판, 전역 변수는 학교 방송. C#의 전역 변수(메서드 밖) 앞에는 static이 붙는다(여기서 잠깐). 다른 메서드의 지역 변수를 쓰면 CS0103.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void = 아무것도 반환할 것이 없다. Main도 void라 return이 없어도 됐다. void 결과를 변수에 받으면 CS0029. .NET Framework의 new Random()은 시각으로 출발값을 정해, 순식간에 여러 개 만들면 같은 수가 반복될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그림 8-13을 세 단계로 풀었다. Main의 지역 변수 a와 Func1의 매개변수 a는 별개의 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주소값은 정확히 알 필요가 없어 100번지라고 가정(교재). ref는 Reference(참조)의 약자.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그림 8-15(값)와 8-16(참조 — x는 100번지, y는 200번지)을 나란히. swap은 ref로만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강의자료 91쪽에는 out이 없다 — 값의 전달과 ref 두 가지만. out은 ref처럼 주소를 넘기지만 초기화 의무가 호출 쪽이 아니라 메서드 쪽에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배열을 매개변수로 쓰면 ref가 없어도 자동으로 참조에 의한 전달. [프로그램 2]의 GetLotto가 이 원리로 배열 6칸을 채운다.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윈폼·터틀이라 콘솔 실습실에서는 돌리지 않는다(설명용). 이벤트 메서드 btn_draw_Click, btn_init_Click이 곧 CH09의 주인공.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공을 하나 꺼낼 때마다 이미 나온 공인지 확인하는 추첨기. idx가 5(여섯 번째)까지 차면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8도씩 45번 = 360도. 당첨 번호 n은 n×8도 방향, 길이 170·두께 10. 그림 8-2를 보면 0도가 위, 시계 방향으로 돈다. Array.Sort(lottoAry, 0, 6)는 0번부터 6칸 오름차순 정렬.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cnt[c - 'a']++ — char끼리 빼면 정수라 a→0 … z→25. 정렬은 Char.IsDigit로 나눈 두 배열에 같은 메서드를 두 번 쓴다(재사용성).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시험은 '결과 화면 → 코드' 역산형. 웹 실습실의 연습 문제 탭(SELF STUDY 4개 + 역산 2개)으로 반복한다.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2777490"/>
            <a:ext cx="128016" cy="308610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859786"/>
            <a:ext cx="14630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 · 컴퓨터및소프트웨어공학전공(박사과정)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35858"/>
            <a:ext cx="14630400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객체지향시스템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102352"/>
            <a:ext cx="987552" cy="473202"/>
          </a:xfrm>
          <a:prstGeom prst="roundRect">
            <a:avLst>
              <a:gd name="adj" fmla="val 20000"/>
            </a:avLst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0" y="5133213"/>
            <a:ext cx="9875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5102352"/>
            <a:ext cx="128016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lang="ko-KR" altLang="en-US">
                <a:solidFill>
                  <a:srgbClr val="CFC7E2"/>
                </a:solidFill>
                <a:latin typeface="페이퍼로지 6 SemiBold"/>
                <a:ea typeface="페이퍼로지 6 SemiBold"/>
                <a:cs typeface="페이퍼로지 6 SemiBold"/>
              </a:rPr>
              <a:t>CHAPTER 08  ·  문자열 가공과 나만의 메서드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6480810"/>
            <a:ext cx="15727680" cy="12344"/>
          </a:xfrm>
          <a:prstGeom prst="rect">
            <a:avLst/>
          </a:prstGeom>
          <a:solidFill>
            <a:srgbClr val="4A3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0160" y="6737985"/>
            <a:ext cx="14630400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참고 교재  우재남, 『C# 프로그래밍 for Beginner』 (한빛아카데미)</a:t>
            </a:r>
          </a:p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정리  김민  ·  대학원 학습·연구용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자료에 대하여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3" y="2299144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교재는 </a:t>
            </a:r>
            <a:r>
              <a:rPr sz="22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수업 진도에 맞춘 참고용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 — 목차와 개념 체계를 참고하되, 내용은 직접 조사해 재구성·각색했다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55930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358501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3" y="3286696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교재의 그림·내용 일부를 </a:t>
            </a:r>
            <a:r>
              <a:rPr sz="21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저작권법 제28조(공표된 저작물의 인용)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따라 교육·연구 목적으로 발췌·인용하고, 각 슬라이드에 출처(교재 절·그림 번호)를 명시했다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54685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8" y="457257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3" y="4274248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도표·그래프·예시 그림은 교재 것을 쓰지 않고 </a:t>
            </a:r>
            <a:r>
              <a:rPr sz="29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전부 직접 제작</a:t>
            </a: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863590"/>
            <a:ext cx="16239744" cy="15944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6464" y="603846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이용 범위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501384"/>
            <a:ext cx="15435071" cy="812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자료는 </a:t>
            </a:r>
            <a:r>
              <a:rPr sz="19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대학원 개인 학습·연구 목적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으로만 제작·사용한다.</a:t>
            </a:r>
          </a:p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저작권자의 허락 없는 무단 복제·전재·재배포 및 상업적 이용을 금한다.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766685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79621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참고 문헌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8589645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우재남, 『C# 프로그래밍 for Beginner』, 한빛아카데미  ·  수업 자료(CH01~09)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63140"/>
            <a:ext cx="7315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00" b="0" lang="ko-KR" altLang="en-US">
                <a:solidFill>
                  <a:srgbClr val="54418A"/>
                </a:solidFill>
                <a:latin typeface="페이퍼로지 8 ExtraBold"/>
                <a:ea typeface="페이퍼로지 8 ExtraBold"/>
                <a:cs typeface="페이퍼로지 8 ExtraBold"/>
              </a:rPr>
              <a:t>CH 08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3312" y="4166235"/>
            <a:ext cx="2194560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80160" y="4526280"/>
            <a:ext cx="142646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문자열 가공과 나만의 메서드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709285"/>
            <a:ext cx="142646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String Methods, Parameters and ref/out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6583680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문자열은 글자 배열   ·   내장 메서드 표 전체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7087743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[프로그램 1] 글자 종류 세기와 거꾸로 출력   ·   메서드의 모양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7591806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지역·전역 변수   ·   반환값   ·   값·ref·out 전달   ·   로또 거북이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가져갈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257996"/>
            <a:ext cx="8741664" cy="9464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문자열을 </a:t>
            </a:r>
            <a:r>
              <a:rPr sz="23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글자 배열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 보고 str[i]·Length·내장 메서드로 자르고 찾고 바꾼다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641598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667315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327844"/>
            <a:ext cx="8741664" cy="9464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반복되는 코드를 </a:t>
            </a:r>
            <a:r>
              <a:rPr sz="23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나만의 메서드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 묶는다 — 반환형·매개변수·return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711446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737163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397692"/>
            <a:ext cx="8741664" cy="9464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값 전달과 </a:t>
            </a:r>
            <a:r>
              <a:rPr sz="25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ref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전달의 차이를 </a:t>
            </a:r>
            <a:r>
              <a:rPr sz="25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메모리 칸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 설명한다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6017895"/>
            <a:ext cx="9509760" cy="267462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89888" y="6213348"/>
            <a:ext cx="87782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이 장의 두 프로그램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6840855"/>
            <a:ext cx="8778240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[프로그램 1]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글자 종류 세기와 거꾸로 출력 (콘솔)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[프로그램 2]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로또 번호를 그리는 거북이 (윈폼·터틀)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064240" y="2571750"/>
            <a:ext cx="6199632" cy="61207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fig8_2_lott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7180" y="2664333"/>
            <a:ext cx="4873752" cy="5482971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11064240" y="8239887"/>
            <a:ext cx="619963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320272" y="8239887"/>
            <a:ext cx="568756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8-2 발췌 — 번호는 난수라 매번 다르다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1절 · p.300 · 그림 8-1·8-2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문자열은 글자가 줄 선 배열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20315"/>
            <a:ext cx="16239744" cy="22631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8_3_ind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022" y="2612898"/>
            <a:ext cx="5271955" cy="162534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4330827"/>
            <a:ext cx="16239744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4330827"/>
            <a:ext cx="1572768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8-3 발췌 — 공백도 한 칸(첨자 2)을 차지한다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4989195"/>
            <a:ext cx="9509760" cy="370332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5092065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8-1 — Length 속성으로 길이 구하기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5585841"/>
            <a:ext cx="8705088" cy="298323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str = "IT CookBook. C#";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len;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len = str.Length;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Console.WriteLine("문자열  : {0} ", str);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Console.WriteLine("문자열 길이 : {0} ", len);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0" y="4989195"/>
            <a:ext cx="6291072" cy="144018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0972800" y="4989195"/>
            <a:ext cx="91440" cy="144018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338560" y="5092065"/>
            <a:ext cx="555955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75136" y="5441823"/>
            <a:ext cx="5486400" cy="8641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문자열  : IT CookBook. C#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문자열 길이 :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0" y="6635115"/>
            <a:ext cx="6291072" cy="205740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338560" y="6830568"/>
            <a:ext cx="555955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쉽게 말하면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7458075"/>
            <a:ext cx="5559552" cy="11109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문자열은 글자 한 자씩 태운 </a:t>
            </a:r>
            <a:r>
              <a:rPr sz="17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기차</a:t>
            </a: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 칸 번호는 </a:t>
            </a:r>
            <a:r>
              <a:rPr sz="17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0번부터</a:t>
            </a: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공백도 한 칸. Length는 속성이라 </a:t>
            </a:r>
            <a:r>
              <a:rPr sz="17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괄호가 없다</a:t>
            </a: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str.Length()처럼 괄호를 붙이면 CS1955 오류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2.1절 · p.302~ · 그림 8-3 · 소스 8-1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8-2 — 한 글자씩 꺼내 바꿔 출력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46291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Project08_2 — 'o'이면 '$'를 대신 출력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39090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str;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Console.Write("문자열 입력 ==&gt; ");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 = Console.ReadLine();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Console.Write("출력 문자열 ==&gt; ");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str.Length; i++)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(str[i] == 'o')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Console.Write("{0}", '$');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else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Console.Write("{0}", str[i]);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7406640"/>
            <a:ext cx="10058400" cy="128587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7406640"/>
            <a:ext cx="91440" cy="128587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7509510"/>
            <a:ext cx="93268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7859268"/>
            <a:ext cx="9253728" cy="70980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문자열 입력 ==&gt; IT CookBook for Beginner C# 입니다. ^^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출력 문자열 ==&gt; IT C$$kB$$k f$r Beginner C# 입니다. ^^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21440" y="2571750"/>
            <a:ext cx="5742432" cy="298323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887200" y="2767203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읽는 요령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0" y="3394710"/>
            <a:ext cx="5010912" cy="20368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9행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i &lt; str.Length — 배열 순회와 같다</a:t>
            </a: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11행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str[i]는 char라 'o'와 비교</a:t>
            </a: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12행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바꾸는 게 아니라 </a:t>
            </a:r>
            <a:r>
              <a:rPr sz="21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대신 출력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521440" y="5760720"/>
            <a:ext cx="5742432" cy="2931795"/>
          </a:xfrm>
          <a:prstGeom prst="roundRect">
            <a:avLst>
              <a:gd name="adj" fmla="val 6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887200" y="5956173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SELF STUDY 8-1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0" y="6583680"/>
            <a:ext cx="5010912" cy="1985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C#은완전재미있어요 → </a:t>
            </a:r>
            <a:r>
              <a:rPr sz="19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C$은$전$미$어$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0부터 세어 짝수 번째는 그대로, 홀수 번째는 $ — 조건을 </a:t>
            </a:r>
            <a:r>
              <a:rPr sz="19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i % 2 == 0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 바꾸면 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str[i] = '$'; 처럼 대입하면 CS0200 — 문자열 첨자는 읽기 전용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2.1절 · 소스 8-2 · SELF STUDY 8-1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내장 메서드를 쓰는 형식 — 메서드와 속성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133731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26464" y="2715768"/>
            <a:ext cx="15435071" cy="10698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7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string 문자열_변수_이름;</a:t>
            </a:r>
          </a:p>
          <a:p>
            <a:pPr>
              <a:lnSpc>
                <a:spcPct val="132000"/>
              </a:lnSpc>
            </a:pPr>
            <a:r>
              <a:rPr sz="17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문자열_변수_이름.문자열_메서드( 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4217670"/>
            <a:ext cx="7936992" cy="4032503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89888" y="440283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메서드 (Method)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55648" y="495833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9326880" y="4217670"/>
            <a:ext cx="7936992" cy="4032503"/>
          </a:xfrm>
          <a:prstGeom prst="roundRect">
            <a:avLst>
              <a:gd name="adj" fmla="val 6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92640" y="440283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속성 (Property)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495833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572768" y="5122926"/>
            <a:ext cx="6839712" cy="689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특정한 기능을 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5122926"/>
            <a:ext cx="6839712" cy="689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객체의 상태를 나타낸다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843016"/>
            <a:ext cx="6839712" cy="689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메서드명( )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괄호가 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5843016"/>
            <a:ext cx="6839712" cy="689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변수_이름.속성명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괄호가 없다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6563106"/>
            <a:ext cx="6839712" cy="689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str.Replace( )  ·  str.Split( 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6563106"/>
            <a:ext cx="6839712" cy="689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str.Length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7283196"/>
            <a:ext cx="6839712" cy="689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다른 언어에선 함수 · 멤버 함수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7283196"/>
            <a:ext cx="6839712" cy="689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다른 말로 필드(Field)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메서드는 문자열에게 시키는 동사, 속성은 문자열이 가진 명사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p.304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내장 메서드 한눈에 ① — 꺼내기·확인·찾기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232184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메서드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4340" y="2571750"/>
            <a:ext cx="378342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기능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6673" y="2571750"/>
            <a:ext cx="654417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예시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9763" y="2571750"/>
            <a:ext cx="183465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결과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3086100"/>
            <a:ext cx="16239744" cy="67894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0160" y="3086100"/>
            <a:ext cx="2248692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str[i]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0916" y="3086100"/>
            <a:ext cx="371026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i번째 글자(char)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3249" y="3086100"/>
            <a:ext cx="6471025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"IT CookBook"[3]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6339" y="3086100"/>
            <a:ext cx="1761500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65042"/>
            <a:ext cx="2248692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Length (속성)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0916" y="3765042"/>
            <a:ext cx="371026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글자 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3249" y="3765042"/>
            <a:ext cx="6471025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"IT CookBook. C#".Length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6339" y="3765042"/>
            <a:ext cx="1761500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4443984"/>
            <a:ext cx="16239744" cy="67894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80160" y="4443984"/>
            <a:ext cx="2248692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StartsWith( 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0916" y="4443984"/>
            <a:ext cx="371026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처음이 그 문자열인가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3249" y="4443984"/>
            <a:ext cx="6471025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"IT CookBook".StartsWith("A")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46339" y="4443984"/>
            <a:ext cx="1761500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False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122926"/>
            <a:ext cx="2248692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EndsWith( 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0916" y="5122926"/>
            <a:ext cx="371026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끝이 그 문자열인가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249" y="5122926"/>
            <a:ext cx="6471025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"Apple".EndsWith("e")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6339" y="5122926"/>
            <a:ext cx="1761500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True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" y="5801868"/>
            <a:ext cx="16239744" cy="67894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80160" y="5801868"/>
            <a:ext cx="2248692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IndexOf( 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40916" y="5801868"/>
            <a:ext cx="371026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처음 나오는 위치 (없으면 -1)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3249" y="5801868"/>
            <a:ext cx="6471025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"banana".IndexOf("an") / IndexOf("x")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6339" y="5801868"/>
            <a:ext cx="1761500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 / -1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6480810"/>
            <a:ext cx="2248692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LastIndexOf( 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40916" y="6480810"/>
            <a:ext cx="371026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마지막에 나오는 위치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3249" y="6480810"/>
            <a:ext cx="6471025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"banana".LastIndexOf("an")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6339" y="6480810"/>
            <a:ext cx="1761500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4128" y="7159752"/>
            <a:ext cx="16239744" cy="67894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80160" y="7159752"/>
            <a:ext cx="2248692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Contains( 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0916" y="7159752"/>
            <a:ext cx="371026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포함 여부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3249" y="7159752"/>
            <a:ext cx="6471025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"C# Programming".Contains("C#")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6339" y="7159752"/>
            <a:ext cx="1761500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True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7838693"/>
            <a:ext cx="2248692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CompareTo( 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0916" y="7838693"/>
            <a:ext cx="371026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사전 순 비교 (앞 −, 같음 0, 뒤 +)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3249" y="7838693"/>
            <a:ext cx="6471025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"C# Programming".CompareTo("C# IT CookBook")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6339" y="7838693"/>
            <a:ext cx="1761500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결과는 전부 실제 컴파일러 출력 · 위치는 언제나 0부터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p.304~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내장 메서드 한눈에 ② — 바꾸기·자르기·쪼개기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199704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메서드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9545" y="2571750"/>
            <a:ext cx="313383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기능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2289" y="2571750"/>
            <a:ext cx="573219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예시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23391" y="2571750"/>
            <a:ext cx="362102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결과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3086100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0160" y="3086100"/>
            <a:ext cx="192389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Replace( 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6121" y="3086100"/>
            <a:ext cx="306067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A를 B로 모두 바꾼 새 문자열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8865" y="3086100"/>
            <a:ext cx="565903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"C#을 공부 중… C#은 즐겁습니다. ^^".Replace("C#", "씨샵")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59968" y="3086100"/>
            <a:ext cx="354787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씨샵을 공부 중… 씨샵은 즐겁습니다. ^^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847338"/>
            <a:ext cx="192389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Substring( 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6121" y="3847338"/>
            <a:ext cx="306067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(시작 위치, 글자 수)만큼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8865" y="3847338"/>
            <a:ext cx="565903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"IT CookBook C# Programming".Substring(3, 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59968" y="3847338"/>
            <a:ext cx="354787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CookBook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4608576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80160" y="4608576"/>
            <a:ext cx="192389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Split( 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16121" y="4608576"/>
            <a:ext cx="306067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구분 문자로 쪼개 배열로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8865" y="4608576"/>
            <a:ext cx="565903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"IT,CookBook,C#".Split(',')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59968" y="4608576"/>
            <a:ext cx="354787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3칸: IT · CookBook · C#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369814"/>
            <a:ext cx="192389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ToUpper( 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16121" y="5369814"/>
            <a:ext cx="306067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영문을 대문자로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8865" y="5369814"/>
            <a:ext cx="565903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  한글  ABCD  efgh  $#@!  ".ToUpper()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59968" y="5369814"/>
            <a:ext cx="354787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 한글  ABCD  EFGH  $#@! 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" y="6131052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80160" y="6131052"/>
            <a:ext cx="192389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ToLower( 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6121" y="6131052"/>
            <a:ext cx="306067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영문을 소문자로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88865" y="6131052"/>
            <a:ext cx="565903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같은 문자열.ToLower()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59968" y="6131052"/>
            <a:ext cx="354787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 한글  abcd  efgh  $#@!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6892290"/>
            <a:ext cx="192389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Trim( 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16121" y="6892290"/>
            <a:ext cx="306067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앞뒤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공백만 제거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88865" y="6892290"/>
            <a:ext cx="565903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같은 문자열.Trim()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459968" y="6892290"/>
            <a:ext cx="354787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한글  ABCD  efgh  $#@!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4128" y="7653528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80160" y="7653528"/>
            <a:ext cx="1923897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Char.IsDigit( 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16121" y="7653528"/>
            <a:ext cx="306067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글자 하나가 숫자인가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88865" y="7653528"/>
            <a:ext cx="565903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Char.IsDigit(c) — 소스 8-9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59968" y="7653528"/>
            <a:ext cx="354787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123456 → 숫자입니다.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Replace·Substring·Trim 등은 원본을 바꾸지 않고 새 문자열을 돌려준다 — 변수에 받아야 한다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p.304~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8-3 — 괄호로 감싸기 (StartsWith·EndsWith)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Project08_3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str;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Console.Write("문자열 입력 ==&gt; 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 = Console.ReadLine();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Console.Write("출력 문자열 ==&gt; 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(!str.StartsWith("("))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Console.Write("(");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str.Length; i++)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Console.Write("{0}", str[i]);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(!str.EndsWith(")"))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Console.Write(")");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21440" y="2571750"/>
            <a:ext cx="5742432" cy="154305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521440" y="2571750"/>
            <a:ext cx="91440" cy="154305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887200" y="2674620"/>
            <a:ext cx="50109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23776" y="3024378"/>
            <a:ext cx="4937760" cy="96697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문자열 입력 ==&gt; C# Programming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출력 문자열 ==&gt; (C# Programming)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21440" y="4371975"/>
            <a:ext cx="5742432" cy="432054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887200" y="4567428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읽는 요령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0" y="5194935"/>
            <a:ext cx="5010912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10행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! 는 부정 — '(로 시작하지 </a:t>
            </a:r>
            <a:r>
              <a:rPr sz="22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않으면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</a:t>
            </a: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13행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가운데 글자는 그대로</a:t>
            </a: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16행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EndsWith도 True/False</a:t>
            </a: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이미 괄호가 있는 </a:t>
            </a:r>
            <a:r>
              <a:rPr sz="22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(C# Programming)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을 넣어도 괄호가 두 번 붙지 않는다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교재 예: "IT CookBook".StartsWith("A") → False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소스 8-3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8-4 — 몇 번째 칸에? (IndexOf·LastIndexOf)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972800" cy="349758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10241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Project08_4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10168128" cy="27774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str = "C#을 공부하는 중, C#은 재밌어요. C# 짱!";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Console.WriteLine("문자열 ==&gt; " + str);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Console.Write("제일 처음 나오는 C# 위치 ==&gt; 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Console.WriteLine(str.IndexOf("C#"));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Console.Write("마지막에 나오는 C# 위치 ==&gt; 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Console.WriteLine(str.LastIndexOf("C#"));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275070"/>
            <a:ext cx="10972800" cy="180022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6275070"/>
            <a:ext cx="91440" cy="180022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6377940"/>
            <a:ext cx="102412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6727698"/>
            <a:ext cx="10168128" cy="122415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문자열 ==&gt; C#을 공부하는 중, C#은 재밌어요. C# 짱!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제일 처음 나오는 C# 위치 ==&gt; 0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마지막에 나오는 C# 위치 ==&gt; 22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435840" y="2571750"/>
            <a:ext cx="4828032" cy="612076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801600" y="2767203"/>
            <a:ext cx="40965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위치 세는 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0" y="3394710"/>
            <a:ext cx="4096512" cy="5174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위치는 </a:t>
            </a:r>
            <a:r>
              <a:rPr sz="26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0부터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센다. 공백·쉼표·마침표·한글도 모두 한 칸.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처음 C# → </a:t>
            </a:r>
            <a:r>
              <a:rPr sz="26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마지막 C# → </a:t>
            </a:r>
            <a:r>
              <a:rPr sz="26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22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찾는 문자열이 없으면 </a:t>
            </a:r>
            <a:r>
              <a:rPr sz="26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-1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"banana".IndexOf("x") → -1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교재 화면의 '사용자가 입력한 값' 말풍선과 달리 이 소스는 입력이 없다(3행 고정 문자열)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소스 8-4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8-5 — 바꾸기·자르기·쪼개기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Project08_5 — Replace · Substring ·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str, strRep, strSub;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string[] strAry;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Console.Write("문자열 입력 ==&gt; 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 = Console.ReadLine();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strRep = str.Replace(" ", "$");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strSub = str.Substring(3, 8);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strAry = str.Split(' '); // 공백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Console.WriteLine("입력 문자열 ==&gt; " + str);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Console.WriteLine("바꾼 문자열 ==&gt; " + strRep);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Console.WriteLine("일부 문자열 ==&gt; " + strSub);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strAry.Length; i++)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Console.WriteLine("분리한 문자열" + i + "==&gt; " + strAry[i]);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21440" y="2571750"/>
            <a:ext cx="5742432" cy="344614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521440" y="2571750"/>
            <a:ext cx="91440" cy="344614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887200" y="2674620"/>
            <a:ext cx="50109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23776" y="3024378"/>
            <a:ext cx="4937760" cy="287007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문자열 입력 ==&gt; IT CookBook C# Programming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입력 문자열 ==&gt; IT CookBook C# Programming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바꾼 문자열 ==&gt; IT$CookBook$C#$Programming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일부 문자열 ==&gt; CookBook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분리한 문자열0==&gt; IT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분리한 문자열1==&gt; CookBook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분리한 문자열2==&gt; C#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분리한 문자열3==&gt; Programming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21440" y="6223635"/>
            <a:ext cx="5742432" cy="246888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923776" y="6398514"/>
            <a:ext cx="4937760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교재 캡처 불일치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23776" y="6861429"/>
            <a:ext cx="4937760" cy="16870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 화면은 </a:t>
            </a:r>
            <a:r>
              <a:rPr sz="23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CookBo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지만 Substring(3, 8)은 3번 칸부터 </a:t>
            </a:r>
            <a:r>
              <a:rPr sz="23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8글자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실제 출력은 </a:t>
            </a:r>
            <a:r>
              <a:rPr sz="23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CookBook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Split 결과는 배열 — strAry.Length만큼 반복해 꺼낸다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소스 8-5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Trim은 앞뒤만, 모든 공백은 Replace (소스 8-6·8-7)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42176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8-7 — 공백을 모두 없애는 두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34975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str = "  한글  ABCD  efgh  $#@!  ";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resStr1 = "", resStr2="";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Console.WriteLine("원본 문자열 ==&gt; [" + str + "]");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str.Length; i++)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(str[i] != ' ')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resStr1 += str[i];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Console.WriteLine("공백제거(직접 한 글자씩)  ==&gt; [" + resStr1 + "]");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resStr2 = str.Replace(" ", "");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Console.WriteLine("공백제거(Replace() 메서드)  ==&gt; [" + resStr2 + "]");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995160"/>
            <a:ext cx="10058400" cy="169735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6995160"/>
            <a:ext cx="91440" cy="169735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7098030"/>
            <a:ext cx="93268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7447788"/>
            <a:ext cx="9253728" cy="112128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원본 문자열 ==&gt; [  한글  ABCD  efgh  $#@!  ]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공백제거(직접 한 글자씩)  ==&gt; [한글ABCDefgh$#@!]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공백제거(Replace() 메서드)  ==&gt; [한글ABCDefgh$#@!]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21440" y="2571750"/>
            <a:ext cx="5742432" cy="226314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521440" y="2571750"/>
            <a:ext cx="91440" cy="226314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887200" y="2674620"/>
            <a:ext cx="50109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소스 8-6 실행 결과 (Trim)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23776" y="3024378"/>
            <a:ext cx="4937760" cy="16870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대문자로  ==&gt; [  한글  ABCD  EFGH  $#@!  ]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소문자로  ==&gt; [  한글  abcd  efgh  $#@!  ]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공백제거  ==&gt; [한글  ABCD  efgh  $#@!]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521440" y="5040630"/>
            <a:ext cx="5742432" cy="3651885"/>
          </a:xfrm>
          <a:prstGeom prst="roundRect">
            <a:avLst>
              <a:gd name="adj" fmla="val 6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887200" y="5236083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SELF STUDY 8-2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0" y="5863590"/>
            <a:ext cx="5010912" cy="27054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숫자를 *로 — Tel은 010-1234-1234입니다. → </a:t>
            </a:r>
            <a:r>
              <a:rPr sz="25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Tel은 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*-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-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입니다.</a:t>
            </a:r>
          </a:p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판별은 </a:t>
            </a:r>
            <a:r>
              <a:rPr sz="25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'0' &lt;= c &amp;&amp; c &lt;= '9'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두 비교를 &amp;&amp;로 잇는다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[ ]로 감싸 공백을 눈에 보이게 · resStr1은 ""로 시작해야 += 가능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소스 8-6·8-7 · SELF STUDY 8-2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비교·포함·숫자 판별 (소스 8-8·8-9)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46291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8-9 — Char.IsDigit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39090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str 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bool numYN = true;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Console.Write("문자열 입력 ==&gt; ");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 = Console.ReadLine();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Console.Write(str + " --&gt; ");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foreach (char c in str )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(!Char.IsDigit(c))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numYN = false;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(!numYN)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Console.WriteLine("숫자가 아닙니다.");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Console.WriteLine("숫자입니다.");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7355205"/>
            <a:ext cx="9144000" cy="133731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7355205"/>
            <a:ext cx="91440" cy="133731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7458075"/>
            <a:ext cx="84124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7807833"/>
            <a:ext cx="8339328" cy="76123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9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문자열 입력 ==&gt; 123456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123456 --&gt; 숫자입니다.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문자열 입력 ==&gt; 1234abcd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1234abcd --&gt; 숫자가 아닙니다.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2571750"/>
            <a:ext cx="6656832" cy="308610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972800" y="2767203"/>
            <a:ext cx="59253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소스 8-8 — CompareTo · Contains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3394710"/>
            <a:ext cx="592531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"C# Programming".CompareTo("C# IT CookBook") → </a:t>
            </a:r>
            <a:r>
              <a:rPr sz="20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네 번째 글자 P가 I보다 사전 순 뒤라서 양수</a:t>
            </a: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Contains("C#") → </a:t>
            </a:r>
            <a:r>
              <a:rPr sz="20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True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07040" y="5863590"/>
            <a:ext cx="6656832" cy="282892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972800" y="6059043"/>
            <a:ext cx="59253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8-9 읽는 요령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686550"/>
            <a:ext cx="5925312" cy="18825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4행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일단 '숫자다' 깃발을 올리고, </a:t>
            </a:r>
            <a:r>
              <a:rPr sz="21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12~13행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숫자가 아닌 글자를 만나면 깃발을 내린다. Char.IsDigit(c)는 Char 클래스의 메서드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CompareTo 규칙: 앞이면 음수 · 같으면 0 · 뒤면 양수 ("Apple".CompareTo("Banana") → -1)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소스 8-8·8-9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1] 완성 — 소스 8-10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20315"/>
            <a:ext cx="10607040" cy="61722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23185"/>
            <a:ext cx="9875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Project08_10 — 글자 종류 세기와 거꾸로 출력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16961"/>
            <a:ext cx="9802368" cy="54521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str;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lowerCnt = 0, upperCnt = 0, numCnt = 0, hanCnt = 0, etcCnt = 0;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Console.Write("문자열 입력 ==&gt; ");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 = Console.ReadLine();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foreach (char c in str)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('a' &lt;= c &amp;&amp; c &lt;= 'z')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lowerCnt++;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else if ('A' &lt;= c &amp;&amp; c &lt;= 'Z')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upperCnt++;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else if ('0' &lt;= c &amp;&amp; c &lt;= '9')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numCnt++;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else if ('가' &lt;= c &amp;&amp; c &lt;= '힣')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hanCnt++;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else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etcCnt++;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Console.WriteLine("소문자:{0}, 대문자:{1}, 숫자:{2}, 한글:{3}, 기타:{4}", lowerCnt, upperCnt, numCnt, hanCnt, etcCnt);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Console.WriteLine();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Console.Write("거꾸로 출력 ==&gt; ");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str.Length -1; i &gt;= 0 ; i--)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Console.Write(str[i]);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Console.WriteLine();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2520315"/>
            <a:ext cx="5193792" cy="617220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435840" y="2715768"/>
            <a:ext cx="44622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읽는 요령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0" y="3343275"/>
            <a:ext cx="4462272" cy="5225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4행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개수 변수 5개를 0으로</a:t>
            </a:r>
          </a:p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9행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foreach — 한 글자씩 c에</a:t>
            </a:r>
          </a:p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11~20행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if ~ else if 사다리 — 위에서 걸리면 아래는 안 본다</a:t>
            </a:r>
          </a:p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17행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'가'~'힣' 사이면 한글</a:t>
            </a:r>
          </a:p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26행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Length − 1부터 0까지 거꾸로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26행을 i = str.Length로 시작하면 없는 칸을 읽어 실행 중 오류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2.3절 · p.311 · 소스 8-10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1] 실행 결과와 판별 규칙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180022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571750"/>
            <a:ext cx="91440" cy="180022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89888" y="2674620"/>
            <a:ext cx="15508224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024378"/>
            <a:ext cx="15435071" cy="122415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문자열 입력 ==&gt; C#은 어떤 Programming 언어보다 100배로 재미있어요. C#은 1등~~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소문자:10, 대문자:3, 숫자:4, 한글:16, 기타:12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거꾸로 출력 ==&gt; ~~등1 은#C .요어있미재 로배001 다보어언 gnimmargorP 떤어 은#C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46291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43584" y="4629150"/>
            <a:ext cx="248424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종류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6737" y="4629150"/>
            <a:ext cx="5569793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판별 조건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75443" y="4629150"/>
            <a:ext cx="68689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예시 입력에서 센 글자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143500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5143500"/>
            <a:ext cx="241108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영문 소문자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3313" y="5143500"/>
            <a:ext cx="5496641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'a' &lt;= c &amp;&amp; c &lt;= 'z'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12019" y="5143500"/>
            <a:ext cx="6795820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r·o·g·r·a·m·m·i·n·g →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904738"/>
            <a:ext cx="241108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영문 대문자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3313" y="5904738"/>
            <a:ext cx="5496641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'A' &lt;= c &amp;&amp; c &lt;= 'Z'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12019" y="5904738"/>
            <a:ext cx="6795820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 · P · C →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6665976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80160" y="6665976"/>
            <a:ext cx="241108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숫자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3313" y="6665976"/>
            <a:ext cx="5496641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'0' &lt;= c &amp;&amp; c &lt;= '9'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12019" y="6665976"/>
            <a:ext cx="6795820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 · 0 · 0 · 1 →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7427214"/>
            <a:ext cx="241108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한글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3313" y="7427214"/>
            <a:ext cx="5496641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'가' &lt;= c &amp;&amp; c &lt;= '힣'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2019" y="7427214"/>
            <a:ext cx="6795820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" y="8188452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280160" y="8188452"/>
            <a:ext cx="241108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기타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3313" y="8188452"/>
            <a:ext cx="5496641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위 어디에도 안 걸리면 (else)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2019" y="8188452"/>
            <a:ext cx="6795820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공백 7 · # 2 · . 1 · ~ 2 → 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그림 8-1 캡처의 '기타10'은 콜론 누락 — ~~ 없는 입력의 실제 출력은 '기타:10'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2.3절 · 그림 8-1 · 소스 8-10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메서드 — 넣으면 돌려주는 요술상자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3435858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5691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자판기 없이 · 소스 8-11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5648" y="331241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326880" y="2571750"/>
            <a:ext cx="7936992" cy="3435858"/>
          </a:xfrm>
          <a:prstGeom prst="roundRect">
            <a:avLst>
              <a:gd name="adj" fmla="val 6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0" y="275691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자판기로 · 소스 8-12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331241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572768" y="3477006"/>
            <a:ext cx="6839712" cy="730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물 → 컵 → 커피 → 물 붓기 → 젓기를 </a:t>
            </a:r>
            <a:r>
              <a:rPr sz="19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Main에 전부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477006"/>
            <a:ext cx="6839712" cy="730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 과정을 </a:t>
            </a:r>
            <a:r>
              <a:rPr sz="23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CoffeeMachine(int button)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238243"/>
            <a:ext cx="6839712" cy="730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손님이 늘면 덩어리를 </a:t>
            </a:r>
            <a:r>
              <a:rPr sz="25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통째로 복사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4238243"/>
            <a:ext cx="6839712" cy="730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Main은 </a:t>
            </a:r>
            <a:r>
              <a:rPr sz="25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CoffeeMachine(coffee);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한 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999481"/>
            <a:ext cx="6839712" cy="730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고칠 곳이 복사한 만큼 늘어난다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4999481"/>
            <a:ext cx="6839712" cy="7303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고칠 곳은 메서드 한 군데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6223635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43584" y="6223635"/>
            <a:ext cx="443301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메서드를 쓰면 좋은 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5507" y="6223635"/>
            <a:ext cx="1092890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6737985"/>
            <a:ext cx="16239744" cy="88468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80160" y="6737985"/>
            <a:ext cx="4359859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코드의 모듈화 · 간략화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2083" y="6737985"/>
            <a:ext cx="10855756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기능별로 나눠 조합하고, 반복 문장을 밖으로 빼 소스가 짧아진다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7622667"/>
            <a:ext cx="4359859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코드의 재사용성 · 수정 용이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2083" y="7622667"/>
            <a:ext cx="10855756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한 번 짠 메서드를 계속 쓰고, 오류는 한 군데만 고친다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직원(Main)은 버튼(매개변수)만 누르고, 커피는 자판기(메서드)가 탄다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3.1~3.2절 · p.313~ · 그림 8-4·8-5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8-12 — 커피 자판기 메서드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메서드 — void, 매개변수 button 하나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CoffeeMachine(int button)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Console.WriteLine("# 1.(자동으로) 뜨거운 물을 준비한다");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Console.WriteLine("# 2.(자동으로) 종이컵을 준비한다");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switch (button)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1: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Console.WriteLine("# 3.(자동으로) 보통커피를 탄다"); break;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2: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Console.WriteLine("# 3.(자동으로) 설탕커피를 탄다"); break;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3: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Console.WriteLine("# 3.(자동으로) 블랙커피를 탄다"); break;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default: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Console.WriteLine("# 3.(자동으로) 아무거나 탄다"); break;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Console.WriteLine("# 4.(자동으로) 물을 붓는다");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Console.WriteLine("# 5.(자동으로) 스푼으로 저어서 녹인다");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2571750"/>
            <a:ext cx="6656832" cy="31889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972800" y="2674620"/>
            <a:ext cx="59253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Main — 버튼 번호만 넘긴다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9376" y="3168396"/>
            <a:ext cx="5852160" cy="2468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coffee;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Console.Write("어떤 커피 드릴까요? (1:보통, 2:설탕, 3:블랙) ");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coffee = int.Parse(Console.ReadLine());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CoffeeMachine(coffee);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Console.WriteLine("손님~ 커피 여기 있습니다.");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7040" y="5966460"/>
            <a:ext cx="6656832" cy="272605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607040" y="5966460"/>
            <a:ext cx="91440" cy="272605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972800" y="6069330"/>
            <a:ext cx="59253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9376" y="6419088"/>
            <a:ext cx="5852160" cy="214998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어떤 커피 드릴까요? (1:보통, 2:설탕, 3:블랙) 2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1.(자동으로) 뜨거운 물을 준비한다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2.(자동으로) 종이컵을 준비한다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3.(자동으로) 설탕커피를 탄다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4.(자동으로) 물을 붓는다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5.(자동으로) 스푼으로 저어서 녹인다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손님~ 커피 여기 있습니다.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손님 셋 = 세 번 호출(소스 8-13) → foreach (char c in "ABC")로 줄이면 SELF STUDY 8-3 · 이름은 파스칼 표기법(CoffeeMachine)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3.1절 · 소스 8-12·8-13 · SELF STUDY 8-3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메서드의 모양 — Plus( )와 호출 순서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412480" cy="61207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8_7_plu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403" y="2664333"/>
            <a:ext cx="7253930" cy="548297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8239887"/>
            <a:ext cx="841248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8239887"/>
            <a:ext cx="790041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8-7 발췌 — 반환형 · 이름 · 매개변수와 ❶~❹ 흐름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2571750"/>
            <a:ext cx="7388352" cy="43205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241280" y="2674620"/>
            <a:ext cx="66568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8-14 — Project08_14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77856" y="3168396"/>
            <a:ext cx="6583680" cy="3600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internal class Program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static int Plus(int v1, int v2)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int result;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result = v1 + v2;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return result;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static void Main(string[] args)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int hap;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hap = Plus(100, 200);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Console.WriteLine("100과 200의 Plus() 메서드 결과는 : {0}", hap);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7098030"/>
            <a:ext cx="7388352" cy="159448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875520" y="7098030"/>
            <a:ext cx="91440" cy="159448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241280" y="7200900"/>
            <a:ext cx="665683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77856" y="7550658"/>
            <a:ext cx="6583680" cy="101841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100과 200의 Plus() 메서드 결과는 : 300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❶ 호출 → ❷ 실행 → ❸ 결과 반환 → ❹ hap에 대입 · 받는 변수와 반환형은 같은 형식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3.2절 · p.320~ · 그림 8-6~8-8 · 소스 8-14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8-15 — 매개변수 3개짜리 계산기 Calc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390906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반환형 int · 매개변수 (int, char, int)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242048" cy="31889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int Calc(int v1, char op, int v2)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result;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switch (op)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'+': result = v1 + v2; break;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'-': result = v1 - v2; break;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'*': result = v1 * v2; break;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'/': result = v1 / v2; break;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default: result = 0; break;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result;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686550"/>
            <a:ext cx="8046720" cy="200596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6686550"/>
            <a:ext cx="91440" cy="200596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6789420"/>
            <a:ext cx="731520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7139178"/>
            <a:ext cx="7242048" cy="142989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첫 번째 숫자를 입력  : 10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연산자 (+, -, *, /) : *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두 번째 숫자를 입력  : 4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계산 결과 : 40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571750"/>
            <a:ext cx="7754112" cy="43205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875520" y="2674620"/>
            <a:ext cx="702259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Main — 입력 받아 Calc 호출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2096" y="3168396"/>
            <a:ext cx="6949440" cy="3600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res;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char oper;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n1, n2;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Console.Write("첫 번째 숫자를 입력  : ");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n1 = int.Parse(Console.ReadLine());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Console.Write("연산자 (+, -, *, /) : ");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oper = Console.ReadLine()[0];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Console.Write("두 번째 숫자를 입력  : ");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n2 = int.Parse(Console.ReadLine());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res = Calc(n1, oper, n2);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Console.WriteLine("계산 결과 : {0}", res);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7098030"/>
            <a:ext cx="7754112" cy="159448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875520" y="7293483"/>
            <a:ext cx="702259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28행 한 줄 포인트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7920990"/>
            <a:ext cx="7022592" cy="6480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Console.ReadLine()[0] — 입력 문자열의 </a:t>
            </a:r>
            <a:r>
              <a:rPr sz="16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0번째 글자</a:t>
            </a: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char로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정수 나눗셈은 몫만 — 7 / 2를 넣으면 계산 결과 : 3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3.2절 · 소스 8-15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지역 변수와 전역 변수 — 소스 8-16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3086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8_9_scop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699" y="2664333"/>
            <a:ext cx="4325578" cy="244830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205222"/>
            <a:ext cx="804672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205222"/>
            <a:ext cx="753465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8-9 발췌 — 생존 범위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5863590"/>
            <a:ext cx="8046720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43584" y="5863590"/>
            <a:ext cx="181416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구분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6665" y="5863590"/>
            <a:ext cx="245790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지역 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484" y="5863590"/>
            <a:ext cx="245790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전역 변수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6377940"/>
            <a:ext cx="8046720" cy="74066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6377940"/>
            <a:ext cx="1741017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선언 위치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3241" y="6377940"/>
            <a:ext cx="2384755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메서드 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0060" y="6377940"/>
            <a:ext cx="2384755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메서드 밖 (static)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7118604"/>
            <a:ext cx="1741017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쓸 수 있는 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3241" y="7118604"/>
            <a:ext cx="2384755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 메서드만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0060" y="7118604"/>
            <a:ext cx="2384755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모든 메서드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7859268"/>
            <a:ext cx="8046720" cy="74066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80160" y="7859268"/>
            <a:ext cx="1741017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이름이 같으면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3241" y="7859268"/>
            <a:ext cx="2384755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메서드 안에선 지역 우선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0060" y="7859268"/>
            <a:ext cx="2384755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선언 없는 곳에서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2571750"/>
            <a:ext cx="7754112" cy="41148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875520" y="2674620"/>
            <a:ext cx="702259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Project08_16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2096" y="3168396"/>
            <a:ext cx="6949440" cy="33947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internal class Program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static int a = 100;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static void Func1()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int a = 200;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Console.WriteLine("func1()에서 a의 값==&gt; {0}", a);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static void Main(string[] args)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Func1();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Console.WriteLine("Main()에서 a의 값==&gt; {0}", a);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60" y="6892290"/>
            <a:ext cx="7754112" cy="128587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9509760" y="6892290"/>
            <a:ext cx="91440" cy="128587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875520" y="6995160"/>
            <a:ext cx="702259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2096" y="7344918"/>
            <a:ext cx="6949440" cy="70980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func1()에서 a의 값==&gt; 200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Main()에서 a의 값==&gt; 100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화면의 'Func1()에서'는 캡처 표기 — 코드 문자열이 소문자라 실제는 'func1()에서'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4절 · p.325~ · 그림 8-9·8-10 · 소스 8-16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반환값이 있는 메서드, 없는 메서드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483489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8-17 — void와 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242048" cy="4114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internal class Program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static void Func1()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Console.WriteLine("void형 메서드는 돌려줄 게 없음.");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    // return;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static int Func2()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return 100;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static void Main(string[] args)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int a;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Func1();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a = Func2();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Console.WriteLine("int형 메서드에서 돌려준 값 ==&gt; {0}", a);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7560945"/>
            <a:ext cx="8046720" cy="113157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7560945"/>
            <a:ext cx="91440" cy="113157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7663815"/>
            <a:ext cx="731520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8013573"/>
            <a:ext cx="7242048" cy="55549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void형 메서드는 돌려줄 게 없음.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int형 메서드에서 돌려준 값 ==&gt; 100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571750"/>
            <a:ext cx="7754112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729216" y="2571750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1280038" y="2571750"/>
            <a:ext cx="281781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반환값 있음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6765" y="2571750"/>
            <a:ext cx="250765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반환값 없음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3086100"/>
            <a:ext cx="7754112" cy="72009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765792" y="3086100"/>
            <a:ext cx="103875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선언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16614" y="3086100"/>
            <a:ext cx="2744663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static int Func2()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73341" y="3086100"/>
            <a:ext cx="243449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static void Func1()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5792" y="3806190"/>
            <a:ext cx="103875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끝내기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16614" y="3806190"/>
            <a:ext cx="2744663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return 100; (반드시 값)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573341" y="3806190"/>
            <a:ext cx="243449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return; 또는 생략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4526280"/>
            <a:ext cx="7754112" cy="72009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765792" y="4526280"/>
            <a:ext cx="103875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부르기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16614" y="4526280"/>
            <a:ext cx="2744663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 = Func2();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73341" y="4526280"/>
            <a:ext cx="243449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Func1(); — 이름만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60" y="5503545"/>
            <a:ext cx="7754112" cy="318897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875520" y="5698998"/>
            <a:ext cx="702259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여러 값은 배열로 (소스 8-18)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6326505"/>
            <a:ext cx="7022592" cy="22425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static </a:t>
            </a:r>
            <a:r>
              <a:rPr sz="23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int[]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DrawDice() — 배열도 값 하나라 문제없다. rnd.Next(5, 11)은 5~10, rnd.Next(1, 7)은 1~6. </a:t>
            </a:r>
            <a:r>
              <a:rPr sz="23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난수라 매번 다름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예) 5회 던졌음 ==&gt; 4  5  2  3  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SELF STUDY 8-4: 주사위 3개 배열을 돌려받아 세 수가 같으면 종료 — Random은 메서드 밖 전역 하나로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5.1절 · p.328~ · 그림 8-11·8-12 · 소스 8-17·8-18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값의 전달 — 복사본이 넘어간다 (소스 8-19)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680960" cy="43205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6949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Project08_19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6876288" cy="3600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internal class Program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static void Func1(int a)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a = a + 1;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Console.WriteLine("전달받은 a ==&gt; {0}", a);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static void Main(string[] args)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int a = 10;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Func1(a);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Console.WriteLine("Func1() 실행 후의 a ==&gt; {0}", a);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7098030"/>
            <a:ext cx="7680960" cy="159448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7098030"/>
            <a:ext cx="91440" cy="159448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7200900"/>
            <a:ext cx="694944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7550658"/>
            <a:ext cx="6876288" cy="101841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전달받은 a ==&gt; 11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Func1() 실행 후의 a ==&gt;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571750"/>
            <a:ext cx="7936992" cy="3497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① Func1(a) 호출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2983230"/>
            <a:ext cx="2011680" cy="7200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0" y="2983230"/>
            <a:ext cx="201168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734181"/>
            <a:ext cx="29260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Main의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8016" y="2983230"/>
            <a:ext cx="102412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0" y="2983230"/>
            <a:ext cx="2011680" cy="720090"/>
          </a:xfrm>
          <a:prstGeom prst="roundRect">
            <a:avLst>
              <a:gd name="adj" fmla="val 12000"/>
            </a:avLst>
          </a:prstGeom>
          <a:solidFill>
            <a:srgbClr val="FBF0E8"/>
          </a:solidFill>
          <a:ln w="285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801600" y="2983230"/>
            <a:ext cx="201168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0" y="3734181"/>
            <a:ext cx="29260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Func1의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69312" y="2942082"/>
            <a:ext cx="2194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10을 </a:t>
            </a:r>
            <a:r>
              <a:rPr sz="20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복사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해 새 칸에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166235"/>
            <a:ext cx="7936992" cy="3497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② a = a + 1;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4577715"/>
            <a:ext cx="2011680" cy="7200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509760" y="4577715"/>
            <a:ext cx="201168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5328666"/>
            <a:ext cx="29260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Main의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58016" y="4577715"/>
            <a:ext cx="102412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801600" y="4577715"/>
            <a:ext cx="2011680" cy="720090"/>
          </a:xfrm>
          <a:prstGeom prst="roundRect">
            <a:avLst>
              <a:gd name="adj" fmla="val 12000"/>
            </a:avLst>
          </a:prstGeom>
          <a:solidFill>
            <a:srgbClr val="FBF0E8"/>
          </a:solidFill>
          <a:ln w="285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801600" y="4577715"/>
            <a:ext cx="201168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0" y="5328666"/>
            <a:ext cx="29260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Func1의 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69312" y="4536567"/>
            <a:ext cx="2194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복사본만 바뀐다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5760720"/>
            <a:ext cx="7936992" cy="3497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③ Func1 끝 → Main 복귀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60" y="6172200"/>
            <a:ext cx="2011680" cy="7200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509760" y="6172200"/>
            <a:ext cx="201168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6923151"/>
            <a:ext cx="29260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Main의 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58016" y="6172200"/>
            <a:ext cx="102412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801600" y="6172200"/>
            <a:ext cx="2011680" cy="7200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2801600" y="6172200"/>
            <a:ext cx="201168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없음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0" y="6923151"/>
            <a:ext cx="29260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Func1의 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069312" y="6131052"/>
            <a:ext cx="2194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원본은 그대로 </a:t>
            </a:r>
            <a:r>
              <a:rPr sz="20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26880" y="7406640"/>
            <a:ext cx="7936992" cy="128587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692640" y="7550658"/>
            <a:ext cx="7205472" cy="4371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쉽게 말하면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8059864"/>
            <a:ext cx="7205472" cy="509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시험지 </a:t>
            </a:r>
            <a:r>
              <a:rPr sz="18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복사본</a:t>
            </a: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을 건넨 것 — 복사본에 낙서해도 원본은 멀쩡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두 a는 이름만 같은 서로 다른 칸 · 지금까지의 메서드는 모두 이 방식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5.2절 · p.332~ · 그림 8-13 · 소스 8-19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참조의 전달 — ref는 칸의 주소를 넘긴다 (소스 8-20)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680960" cy="43205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6949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Project08_20 — 3행과 13행에 ref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6876288" cy="3600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internal class Program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static void Func1(ref int a)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a = a + 1;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Console.WriteLine("전달받은 a ==&gt; {0}", a);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static void Main(string[] args)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int a = 10;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Func1(ref a);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Console.WriteLine("Func1() 실행 후의 a ==&gt; {0}", a);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7098030"/>
            <a:ext cx="7680960" cy="159448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7098030"/>
            <a:ext cx="91440" cy="159448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7200900"/>
            <a:ext cx="694944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7550658"/>
            <a:ext cx="6876288" cy="101841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전달받은 a ==&gt; 11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Func1() 실행 후의 a ==&gt;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571750"/>
            <a:ext cx="7936992" cy="3497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① Func1(ref a) 호출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2983230"/>
            <a:ext cx="2011680" cy="7200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0" y="2983230"/>
            <a:ext cx="201168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734181"/>
            <a:ext cx="29260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Main의 a · 100번지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8016" y="2983230"/>
            <a:ext cx="102412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0" y="2983230"/>
            <a:ext cx="2011680" cy="720090"/>
          </a:xfrm>
          <a:prstGeom prst="roundRect">
            <a:avLst>
              <a:gd name="adj" fmla="val 12000"/>
            </a:avLst>
          </a:prstGeom>
          <a:solidFill>
            <a:srgbClr val="FBF0E8"/>
          </a:solidFill>
          <a:ln w="285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801600" y="2983230"/>
            <a:ext cx="201168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100번지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0" y="3734181"/>
            <a:ext cx="29260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Func1의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69312" y="2942082"/>
            <a:ext cx="2194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값 대신 </a:t>
            </a:r>
            <a:r>
              <a:rPr sz="20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주소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166235"/>
            <a:ext cx="7936992" cy="3497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② a = a + 1;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4577715"/>
            <a:ext cx="2011680" cy="720090"/>
          </a:xfrm>
          <a:prstGeom prst="roundRect">
            <a:avLst>
              <a:gd name="adj" fmla="val 12000"/>
            </a:avLst>
          </a:prstGeom>
          <a:solidFill>
            <a:srgbClr val="FBF0E8"/>
          </a:solidFill>
          <a:ln w="285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509760" y="4577715"/>
            <a:ext cx="201168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5328666"/>
            <a:ext cx="29260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Main의 a · 100번지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58016" y="4577715"/>
            <a:ext cx="102412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801600" y="4577715"/>
            <a:ext cx="2011680" cy="7200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801600" y="4577715"/>
            <a:ext cx="201168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100번지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0" y="5328666"/>
            <a:ext cx="29260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Func1의 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69312" y="4536567"/>
            <a:ext cx="2194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주소를 따라가 </a:t>
            </a:r>
            <a:r>
              <a:rPr sz="20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원본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을 바꾼다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5760720"/>
            <a:ext cx="7936992" cy="3497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③ Func1 끝 → Main 복귀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60" y="6172200"/>
            <a:ext cx="2011680" cy="7200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509760" y="6172200"/>
            <a:ext cx="201168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6923151"/>
            <a:ext cx="29260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Main의 a · 100번지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58016" y="6172200"/>
            <a:ext cx="102412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 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801600" y="6172200"/>
            <a:ext cx="2011680" cy="7200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2801600" y="6172200"/>
            <a:ext cx="201168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없음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0" y="6923151"/>
            <a:ext cx="29260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Func1의 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069312" y="6131052"/>
            <a:ext cx="21945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실체는 Main에 하나 → </a:t>
            </a:r>
            <a:r>
              <a:rPr sz="20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26880" y="7406640"/>
            <a:ext cx="7936992" cy="128587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692640" y="7550658"/>
            <a:ext cx="7205472" cy="4371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쉽게 말하면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8059864"/>
            <a:ext cx="7205472" cy="509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사물함 번호</a:t>
            </a: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알려 준 것 — 그 번호로 가서 바꾸면 원본이 바뀐다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ref는 정의부·호출부 양쪽에 — 호출에서 빠뜨리면 CS1620, 초기화 안 한 변수를 넘기면 CS0165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5.2절 · 그림 8-14 · 소스 8-20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8-21 — 맞바꾸기, 값 전달 vs ref 전달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315200" cy="390906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6583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교환 메서드 두 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6510528" cy="31889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Func1(char x, char y)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char imsi;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imsi = x;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x = y;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y = imsi;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Func2(ref char x, ref char y)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char imsi;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imsi = x;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x = y;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y = imsi;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571750"/>
            <a:ext cx="8485632" cy="390906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0" y="2674620"/>
            <a:ext cx="77541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Main — 같은 값으로 두 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576" y="3168396"/>
            <a:ext cx="7680960" cy="31889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char x = 'A', y = 'Z';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Console.WriteLine("원래 값           : x = {0}, y = {1}", x, y);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Func1(x, y);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Console.WriteLine("값을 전달한 후    : x = {0}, y = {1}", x, y);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x = 'A';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y = 'Z';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Console.WriteLine("원래 값           : x = {0}, y = {1}", x, y);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Func2(ref x, ref y);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Console.WriteLine("참조를 전달한 후  : x = {0}, y = {1}", x, y);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6686550"/>
            <a:ext cx="8485632" cy="200596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778240" y="6686550"/>
            <a:ext cx="91440" cy="200596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0" y="6789420"/>
            <a:ext cx="77541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7139178"/>
            <a:ext cx="7680960" cy="142989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원래 값           : x = A, y = Z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값을 전달한 후    : x = A, y = Z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원래 값           : x = A, y = Z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참조를 전달한 후  : x = Z, y = 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6686550"/>
            <a:ext cx="7315200" cy="200596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89888" y="6882003"/>
            <a:ext cx="65836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왜 다를까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7509510"/>
            <a:ext cx="6583680" cy="10595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값 전달은 </a:t>
            </a:r>
            <a:r>
              <a:rPr sz="19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복사본끼리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교환 → Main은 A, Z 그대로. ref는 </a:t>
            </a:r>
            <a:r>
              <a:rPr sz="19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주소를 따라가 원본끼리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교환 → Z, 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imsi = 컵 두 개의 음료를 바꿀 때 필요한 빈 컵 하나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5.2절 · 그림 8-15·8-16 · 소스 8-21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보강 — out은 결과를 받아 오는 전용 칸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412480" cy="41148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교재 8장 범위 밖 보강 — 컴파일러로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607808" cy="33947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internal class Program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static void Divide(int a, int b, out int q, out int r)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q = a / b;      // out 매개변수는 반드시 값을 넣어야 한다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r = a % b;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static void Main(string[] args)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int mok, nam;   // 초기화하지 않아도 out으로 넘길 수 있다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Divide(17, 5, out mok, out nam);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Console.WriteLine("17 / 5 ==&gt; 몫 : {0}, 나머지 : {1}", mok, nam);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892290"/>
            <a:ext cx="8412480" cy="123444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6892290"/>
            <a:ext cx="91440" cy="123444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6995160"/>
            <a:ext cx="768096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7344918"/>
            <a:ext cx="7607808" cy="6583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17 / 5 ==&gt; 몫 : 3, 나머지 :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571750"/>
            <a:ext cx="7205472" cy="3497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① Divide(17, 5, out mok, out nam)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2983230"/>
            <a:ext cx="2011680" cy="7200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241280" y="2983230"/>
            <a:ext cx="201168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빈칸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3734181"/>
            <a:ext cx="29260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Main의 mok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89536" y="2983230"/>
            <a:ext cx="102412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533120" y="2983230"/>
            <a:ext cx="2011680" cy="7200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533120" y="2983230"/>
            <a:ext cx="201168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빈칸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0" y="3734181"/>
            <a:ext cx="29260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Main의 nam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00832" y="2942082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초기화 없이 넘겨도 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166235"/>
            <a:ext cx="7205472" cy="3497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② q = 17 / 5;  r = 17 % 5;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0" y="4577715"/>
            <a:ext cx="2011680" cy="720090"/>
          </a:xfrm>
          <a:prstGeom prst="roundRect">
            <a:avLst>
              <a:gd name="adj" fmla="val 12000"/>
            </a:avLst>
          </a:prstGeom>
          <a:solidFill>
            <a:srgbClr val="FBF0E8"/>
          </a:solidFill>
          <a:ln w="285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241280" y="4577715"/>
            <a:ext cx="201168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5328666"/>
            <a:ext cx="29260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Main의 mok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89536" y="4577715"/>
            <a:ext cx="1024128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533120" y="4577715"/>
            <a:ext cx="2011680" cy="720090"/>
          </a:xfrm>
          <a:prstGeom prst="roundRect">
            <a:avLst>
              <a:gd name="adj" fmla="val 12000"/>
            </a:avLst>
          </a:prstGeom>
          <a:solidFill>
            <a:srgbClr val="FBF0E8"/>
          </a:solidFill>
          <a:ln w="28575">
            <a:solidFill>
              <a:srgbClr val="2A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3533120" y="4577715"/>
            <a:ext cx="201168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75920" y="5328666"/>
            <a:ext cx="29260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Main의 nam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800832" y="4536567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메서드가 </a:t>
            </a:r>
            <a:r>
              <a:rPr sz="16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반드시</a:t>
            </a: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채운다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0" y="5863590"/>
            <a:ext cx="7205472" cy="282892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424160" y="6059043"/>
            <a:ext cx="647395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가장 많이 쓰는 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686550"/>
            <a:ext cx="6473952" cy="18825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int.TryParse("123", out num) → true, num = 123. "12a"면 false — Parse처럼 멈추지 않는다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out 칸에 값을 넣지 않고 메서드가 끝나면 CS0177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보강 문법 (교재 8장 슬라이드에 없음)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배열은 자동 참조 — 값 · ref · out 한 장 비교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6949440" cy="42176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6217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교재 p.84 여기서 잠깐 — 배열 매개변수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6144768" cy="34975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internal class Program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static void Func1( int[] a 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a[0] = a[0] + 1;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Console.WriteLine("전달받은 a[0] ==&gt; {0}", a[0]);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static void Main(string[] args)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int[] a = { 10 };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Func1(a);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Console.WriteLine("Func1() 실행 후의 a[0] ==&gt; {0}", a[0]);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995160"/>
            <a:ext cx="6949440" cy="169735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6995160"/>
            <a:ext cx="91440" cy="169735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7098030"/>
            <a:ext cx="621792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7447788"/>
            <a:ext cx="6144768" cy="112128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전달받은 a[0] ==&gt; 11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Func1() 실행 후의 a[0] ==&gt; 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571750"/>
            <a:ext cx="8851392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31936" y="2571750"/>
            <a:ext cx="203947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1110325" y="2571750"/>
            <a:ext cx="168542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값 전달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34659" y="2571750"/>
            <a:ext cx="150839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ref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81966" y="2571750"/>
            <a:ext cx="186244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out (보강)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086100"/>
            <a:ext cx="8851392" cy="72009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668512" y="3086100"/>
            <a:ext cx="1966325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넘어가는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46901" y="3086100"/>
            <a:ext cx="161227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값의 복사본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71235" y="3086100"/>
            <a:ext cx="1435242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칸의 주소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18542" y="3086100"/>
            <a:ext cx="178929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칸의 주소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3806190"/>
            <a:ext cx="1966325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호출 전 초기화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46901" y="3806190"/>
            <a:ext cx="161227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필요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71235" y="3806190"/>
            <a:ext cx="1435242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필수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18542" y="3806190"/>
            <a:ext cx="178929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필요 없음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4526280"/>
            <a:ext cx="8851392" cy="72009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668512" y="4526280"/>
            <a:ext cx="1966325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메서드 안 대입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46901" y="4526280"/>
            <a:ext cx="161227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자유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71235" y="4526280"/>
            <a:ext cx="1435242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자유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18542" y="4526280"/>
            <a:ext cx="178929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필수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68512" y="5246370"/>
            <a:ext cx="1966325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원본 변화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46901" y="5246370"/>
            <a:ext cx="161227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없음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71235" y="5246370"/>
            <a:ext cx="1435242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있음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18542" y="5246370"/>
            <a:ext cx="178929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있음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5966460"/>
            <a:ext cx="8851392" cy="72009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668512" y="5966460"/>
            <a:ext cx="1966325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표기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46901" y="5966460"/>
            <a:ext cx="161227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F(a)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71235" y="5966460"/>
            <a:ext cx="1435242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F(ref 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218542" y="5966460"/>
            <a:ext cx="178929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F(out a)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68512" y="6686550"/>
            <a:ext cx="1966325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쓰는 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46901" y="6686550"/>
            <a:ext cx="161227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대부분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71235" y="6686550"/>
            <a:ext cx="1435242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swap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218542" y="6686550"/>
            <a:ext cx="178929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결과 여러 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0" y="7509510"/>
            <a:ext cx="8851392" cy="118300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814816" y="7509510"/>
            <a:ext cx="8046720" cy="11830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배열은 ref 없이도 원본이 바뀐다 — GetLotto(int[] ary)의 원리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교재 상자 제목 '배열을 배개 변수로'는 '매개 변수'의 오타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5.2~5.3절 · 여기서 잠깐(p.84)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2] 로또 거북이 — 화면과 만드는 순서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6583680" cy="3086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8_17_for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448" y="2664333"/>
            <a:ext cx="3727039" cy="244830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205222"/>
            <a:ext cx="658368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205222"/>
            <a:ext cx="607161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8-17 발췌 — 화면 구성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5915025"/>
            <a:ext cx="6583680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43584" y="5915025"/>
            <a:ext cx="153619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컨트롤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7" y="5915025"/>
            <a:ext cx="193121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(Name)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8812" y="5915025"/>
            <a:ext cx="179953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2A5C8A"/>
                </a:solidFill>
                <a:latin typeface="페이퍼로지 8 ExtraBold"/>
                <a:ea typeface="페이퍼로지 8 ExtraBold"/>
                <a:cs typeface="페이퍼로지 8 ExtraBold"/>
              </a:rPr>
              <a:t>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6429375"/>
            <a:ext cx="6583680" cy="72009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6429375"/>
            <a:ext cx="1463039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TextBox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55263" y="6429375"/>
            <a:ext cx="185806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tb_lotto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5388" y="6429375"/>
            <a:ext cx="172638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(코드가 채움)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7149465"/>
            <a:ext cx="1463039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5263" y="7149465"/>
            <a:ext cx="185806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btn_draw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5388" y="7149465"/>
            <a:ext cx="172638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그리기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7869555"/>
            <a:ext cx="6583680" cy="72009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80160" y="7869555"/>
            <a:ext cx="1463039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55263" y="7869555"/>
            <a:ext cx="1858060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btn_init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5388" y="7869555"/>
            <a:ext cx="172638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초기화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29600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6" y="2350579"/>
            <a:ext cx="826617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Windows Forms 앱(.NET Framework)</a:t>
            </a: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Project08_22, C:\CookC#, 4.8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45643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29600" y="348214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7696" y="3235261"/>
            <a:ext cx="826617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[프로젝트]-[NuGet 패키지 관리] → </a:t>
            </a:r>
            <a:r>
              <a:rPr sz="18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Nakov.TurtleGraphics</a:t>
            </a: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설치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34111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29600" y="436683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97696" y="4119943"/>
            <a:ext cx="826617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도구 상자에서 TextBox 1개 · Button 2개를 왼쪽 위에 세로로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5225796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229600" y="5251513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5004625"/>
            <a:ext cx="826617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속성 창(F4)에서 (Name)과 Text 입력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6110478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229600" y="6136195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97696" y="5889307"/>
            <a:ext cx="826617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버튼 더블클릭 → Click 이벤트에 코드 (맨 위 using Nakov.TurtleGraphics;)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7200900"/>
            <a:ext cx="9034272" cy="149161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631936" y="7375779"/>
            <a:ext cx="8229600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확인할 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31936" y="7838694"/>
            <a:ext cx="8229600" cy="709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(Name)은 소스 8-22 코드에 쓰인 이름에서 확인한 것 — Size·Font 등은 교재 슬라이드에 없다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터틀 설치 절차는 CH04 실습 4-1과 같다 · 창 제목·크기는 코드에서 설정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5.3절 · p.337~ · 그림 8-17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8-22 ① — 겹치지 않게 6개 뽑기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20315"/>
            <a:ext cx="9509760" cy="61722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23185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Project08_22 — 13~41행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16961"/>
            <a:ext cx="8705088" cy="54521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bool IsNumberInArray(int[] ar, int num)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bool dupYN = false;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ar.Length; i++)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(ar[i] == num)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dupYN = true;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dupYN;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Random rnd = new Random();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GetLotto(int[] ary)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idx = 0;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pickNum;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while (true)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pickNum = rnd.Next(1, 45);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(IsNumberInArray(ary, pickNum))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continue;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ary[idx] = pickNum;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(idx &gt;= 5)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break;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idx++;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55680" y="2520315"/>
            <a:ext cx="6108192" cy="339471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521440" y="2715768"/>
            <a:ext cx="53766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읽는 요령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3343275"/>
            <a:ext cx="5376672" cy="24483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IsNumberInArray — 이미 있으면 true (</a:t>
            </a:r>
            <a:r>
              <a:rPr sz="19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bool 반환 메서드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)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static Random rnd — 전역 하나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GetLotto(int[] ary) — ref 없이 채운다 (</a:t>
            </a:r>
            <a:r>
              <a:rPr sz="19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배열 = 자동 참조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)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중복이면 continue, 6개 차면 break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55680" y="6172200"/>
            <a:ext cx="6108192" cy="252031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558016" y="6347079"/>
            <a:ext cx="5303520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교재 코드 주의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8016" y="6809994"/>
            <a:ext cx="5303520" cy="1738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rnd.Next(1, 45)는 </a:t>
            </a:r>
            <a:r>
              <a:rPr sz="24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1~44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45는 절대 안 나온다. 1~45를 뽑으려면 rnd.Next(1, 46)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Next(최소, 최대)는 최소 이상 최대 미만 (CH04 p.66)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5.3절 · 소스 8-22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8-22 ② — 거북이가 번호를 그린다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20315"/>
            <a:ext cx="8046720" cy="61722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23185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43~60행 — 뽑기 · 정렬 ·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16961"/>
            <a:ext cx="7242048" cy="54521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btn_draw_Click(object sender, EventArgs e)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swidth = 600, sheight = 600;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this.Text = "거북이 로또 추첨";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this.ClientSize = new Size(sheight, swidth);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Turtle.Delay = 50;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int[] lottoAry = new int[6];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GetLotto(lottoAry);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Array.Sort(lottoAry, 0, 6);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lottoText = "";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foreach (int n in lottoAry)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lottoText += n.ToString() + " ";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tb_lotto.Text = lottoText;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// (오른쪽으로 이어짐)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520315"/>
            <a:ext cx="7845552" cy="61722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784080" y="2623185"/>
            <a:ext cx="7114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62~86행 — 회색 45선, 당첨 6선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0656" y="3116961"/>
            <a:ext cx="7040880" cy="54521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Turtle.PenSize = 5;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45; i++)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Turtle.PenColor = Color.Gray;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Turtle.PenUp();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Turtle.MoveTo(0, 0);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Turtle.PenDown();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Turtle.RotateTo(i * 8);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Turtle.Forward(150);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Turtle.PenSize = 10;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lottoAry.Length; i++)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int R = rnd.Next(0, 256);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int G = rnd.Next(0, 256);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int B = rnd.Next(0, 256);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Turtle.PenColor = Color.FromArgb(R, G, B);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Turtle.PenUp();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Turtle.MoveTo(0, 0);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Turtle.PenDown();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Turtle.RotateTo(lottoAry[i] * 8);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Turtle.Forward(170);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번호도 선 색도 Random — 실행할 때마다 화면이 다르다 (그림 8-2의 1 5 12 15 24 35는 한 번의 예)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5.3절 · 소스 8-22 · 그림 8-2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응용 — 빈도 세기와 섞인 데이터 정렬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31889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빈도 세기 — 26칸 배열을 돌려준다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242048" cy="2468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int[] CountAlpha(string s)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int[] cnt = new int[26];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low = s.ToLower();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foreach (char c in low)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('a' &lt;= c &amp;&amp; c &lt;= 'z')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cnt[c - 'a']++;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cnt;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5915025"/>
            <a:ext cx="8046720" cy="277749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5915025"/>
            <a:ext cx="91440" cy="277749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6017895"/>
            <a:ext cx="731520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6367653"/>
            <a:ext cx="7242048" cy="220141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9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문자열 입력 ==&gt; Hello CSharp World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a : 1회 *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c : 1회 *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d : 1회 *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e : 1회 *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h : 2회 **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l : 3회 ***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o : 2회 **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p : 1회 *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r : 2회 **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s : 1회 *</a:t>
            </a:r>
          </a:p>
          <a:p>
            <a:pPr>
              <a:lnSpc>
                <a:spcPct val="132000"/>
              </a:lnSpc>
            </a:pPr>
            <a:r>
              <a:rPr sz="9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w : 1회 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571750"/>
            <a:ext cx="7845552" cy="41148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784080" y="2674620"/>
            <a:ext cx="7114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정렬 메서드 — 배열이라 원본이 정렬된다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0656" y="3168396"/>
            <a:ext cx="7040880" cy="33947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9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SortChars(char[] ary, int n)</a:t>
            </a:r>
          </a:p>
          <a:p>
            <a:pPr>
              <a:lnSpc>
                <a:spcPct val="132000"/>
              </a:lnSpc>
            </a:pPr>
            <a:r>
              <a:rPr sz="9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9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char imsi;</a:t>
            </a:r>
          </a:p>
          <a:p>
            <a:pPr>
              <a:lnSpc>
                <a:spcPct val="132000"/>
              </a:lnSpc>
            </a:pPr>
            <a:r>
              <a:rPr sz="9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9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n - 1; i++)</a:t>
            </a:r>
          </a:p>
          <a:p>
            <a:pPr>
              <a:lnSpc>
                <a:spcPct val="132000"/>
              </a:lnSpc>
            </a:pPr>
            <a:r>
              <a:rPr sz="9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9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for (int k = i + 1; k &lt; n; k++)</a:t>
            </a:r>
          </a:p>
          <a:p>
            <a:pPr>
              <a:lnSpc>
                <a:spcPct val="132000"/>
              </a:lnSpc>
            </a:pPr>
            <a:r>
              <a:rPr sz="9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9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if (ary[i] &gt; ary[k])</a:t>
            </a:r>
          </a:p>
          <a:p>
            <a:pPr>
              <a:lnSpc>
                <a:spcPct val="132000"/>
              </a:lnSpc>
            </a:pPr>
            <a:r>
              <a:rPr sz="9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{</a:t>
            </a:r>
          </a:p>
          <a:p>
            <a:pPr>
              <a:lnSpc>
                <a:spcPct val="132000"/>
              </a:lnSpc>
            </a:pPr>
            <a:r>
              <a:rPr sz="9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imsi = ary[i];</a:t>
            </a:r>
          </a:p>
          <a:p>
            <a:pPr>
              <a:lnSpc>
                <a:spcPct val="132000"/>
              </a:lnSpc>
            </a:pPr>
            <a:r>
              <a:rPr sz="9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ary[i] = ary[k];</a:t>
            </a:r>
          </a:p>
          <a:p>
            <a:pPr>
              <a:lnSpc>
                <a:spcPct val="132000"/>
              </a:lnSpc>
            </a:pPr>
            <a:r>
              <a:rPr sz="9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ary[k] = imsi;</a:t>
            </a:r>
          </a:p>
          <a:p>
            <a:pPr>
              <a:lnSpc>
                <a:spcPct val="132000"/>
              </a:lnSpc>
            </a:pPr>
            <a:r>
              <a:rPr sz="9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}</a:t>
            </a:r>
          </a:p>
          <a:p>
            <a:pPr>
              <a:lnSpc>
                <a:spcPct val="132000"/>
              </a:lnSpc>
            </a:pPr>
            <a:r>
              <a:rPr sz="9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9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9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6892290"/>
            <a:ext cx="7845552" cy="180022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418320" y="6892290"/>
            <a:ext cx="91440" cy="180022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784080" y="6995160"/>
            <a:ext cx="711403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0656" y="7344918"/>
            <a:ext cx="7040880" cy="122415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데이터 입력 ==&gt; K7A3Z1C9B5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문자만 정렬 ==&gt; ABCKZ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숫자만 정렬 ==&gt; 13579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교재 응용예제 13(p.349)·14(p.352)의 주제로 직접 만든 풀이 — 교재 코드 아님, 컴파일러로 검증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응용예제 13·14 주제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자가 점검 — 결과를 보고 코드를 떠올리기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08 · 문자열 가공과 나만의 메서드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371153"/>
            <a:ext cx="15471648" cy="7200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C#은완전재미있어요 → C$은$전$미$어$  (SELF STUDY 8-1 — </a:t>
            </a:r>
            <a:r>
              <a:rPr sz="26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i % 2 == 0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41528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44100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214687"/>
            <a:ext cx="15471648" cy="7200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Tel은 010-1234-1234입니다. → Tel은 </a:t>
            </a:r>
            <a:r>
              <a:rPr sz="26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*-</a:t>
            </a:r>
            <a:r>
              <a:rPr sz="26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-</a:t>
            </a:r>
            <a:r>
              <a:rPr sz="26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입니다.  (SELF STUDY 8-2)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258818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284535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058221"/>
            <a:ext cx="15471648" cy="7200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교환 전 a = 3, b = 7 → 교환 후 a = 7, b = 3  (</a:t>
            </a:r>
            <a:r>
              <a:rPr sz="26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ref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 Swap)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5102351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2A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4128" y="512806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2223" y="4901755"/>
            <a:ext cx="15471648" cy="7200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"banana".IndexOf("x") → </a:t>
            </a:r>
            <a:r>
              <a:rPr sz="22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-1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 ·  "IT CookBook C# Programming".Substring(3, 8) → </a:t>
            </a:r>
            <a:r>
              <a:rPr sz="2200" b="0" lang="ko-KR" altLang="en-US">
                <a:solidFill>
                  <a:srgbClr val="2A5C8A"/>
                </a:solidFill>
                <a:latin typeface="프리젠테이션 5 Medium"/>
                <a:ea typeface="프리젠테이션 5 Medium"/>
                <a:cs typeface="프리젠테이션 5 Medium"/>
              </a:rPr>
              <a:t>CookBook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6172200"/>
            <a:ext cx="16239744" cy="128587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89888" y="6316218"/>
            <a:ext cx="15508224" cy="4371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연습문제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6825424"/>
            <a:ext cx="15508224" cy="509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 연습문제(p.345~348)는 원천 자료에 전사되지 않아 싣지 않았다 — SELF STUDY 4개와 확인 문제로 대신한다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7612380"/>
            <a:ext cx="16239744" cy="123444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389888" y="7756398"/>
            <a:ext cx="15508224" cy="419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다음 장 예고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8248116"/>
            <a:ext cx="15508224" cy="4752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CH09 버튼이 있는 창 만들기 — 이벤트 메서드와 (object sender, EventArgs e) 매개변수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