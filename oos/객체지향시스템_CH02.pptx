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안내. 인용 근거(저작권법 28조·37조 출처명시)와 자체 제작 원칙을 밝혀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 먼저. 2장은 '미리 만들어 보는' 장이라 모든 문법을 이해하지 못해도 괜찮다고 안심시키고 시작한다.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윈폼(WinForm)은 Windows Form의 줄임말, GUI를 만드는 C#의 기능이라는 것까지만 짚고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템플릿은 반드시 (.NET Framework)가 붙은 콘솔 앱. 실습 2-1 끝에서 일부러 VS를 닫고, 실습 2-2에서 .sln으로 다시 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직접 친 부분은 Main 안쪽뿐, using·namespace·class는 1장과 같은 자동 생성. result를 다시 쓰면 이전 값은 지워진다는 것도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그릇 준비(선언) → 값 넣기(대입) → 부어서 더하기(계산) 세 장면을 그림 2-7~2-9 순서로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따옴표 안은 글자 그대로, 따옴표 밖 +는 이어 붙이기. 아래 '더 깊이'는 교재 밖 보강 — 웹 실습실 plus_order 예제로 직접 확인시킨다.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Ctrl+F5는 빌드까지 함께 한다. 빌드 실패가 뜨면 오류 목록을 더블클릭해 그 줄로 이동(1장 복습).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따옴표 밖의 공백은 코드 모양일 뿐 출력에 영향이 없다. 시험의 '결과 보고 코드 짜기'에서 공백 개수까지 맞추는 연습.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변수 a에 100을 넣는다 → 변수 a에 넣을 값을 키보드로 입력받는다. 이 한 문장의 변화가 3절 전체다.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새 프로젝트 Project02_2. 실행하면 커서만 깜박이고, 숫자-Enter-숫자-Enter를 치면 결과가 나온다. 주석은 # 이 아니라 //.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요약 6: ReadLine이 실행되면 커서만 깜박이므로 Write로 도움말을 출력해 주는 것이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Convert.ToInt32를 그대로 둬도 int가 double에 자동으로 들어가 0.5는 나오지만, 그러면 2.5 같은 소수는 입력할 수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코드 설명: 3·4행 실수 변수 선언, 28·29행 나머지, 31·32행 제곱. 연산자 앞뒤 공백 1칸이 결과 모양을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Project02_3 생성 → Ctrl+F5로 빈 창 Form1 실행. 코드 한 줄 없이도 창 하나짜리 프로그램이 된다는 것을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 사진은 자료 폴더의 car1.jpg를 쓴다. 크기 모드는 Normal 그대로. 버튼을 놓으면 이름이 자동으로 button1, button2가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감추기 버튼은 [Form1.cs [디자인]] 탭으로 돌아와 더블클릭. 실행 후 두 버튼을 번갈아 눌러 확인. '참조 1개' 회색 글자는 무시.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전역 변수(= 멤버 변수 = 필드)는 거실 공용 선반, 메서드 안 변수는 각 방의 개인 서랍. 자세한 건 8장이라고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폼 빈 곳을 클릭해야 폼 자체가 선택된다. 폼을 더블클릭하면 기본 이벤트(Load)가 생길 뿐이라 MouseDown은 번개 목록에서 고른다.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코드만 붙이고 번개 아이콘 연결을 안 하면 빌드는 되는데 반응이 없다. 드래그 중 선이 안 보이는 건 정상 — 떼는 순간에만 그린다.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선을 오래 남기려면 좌표를 저장해 Paint 이벤트에서 다시 그려야 한다 — 이후 단계의 학습 포인트로 남겨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그림 2-37의 선이 검게 보이는 건 흑백 인쇄 때문으로 보인다. 교재 코드는 Color.Blue.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(Name)을 먼저 btn_red로 바꾸고 나서 더블클릭해야 메서드 이름이 btn_red_Click이 된다. 폼 제목은 간단 그림판(Ver 0.2).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RadioButton의 (Name)은 풀이 코드의 메서드 이름에서 거꾸로 알아낸 것. figure 초깃값이 0이므로 rdo_line의 Checked를 True로 두기를 권장.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선택이 바뀌면 풀린 라디오와 선택된 라디오 모두 CheckedChanged가 발생. 더 확실히 하려면 if (rdo_circle.Checked) figure = 1; 처럼 Checked 값을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6번 오답 on·off·View·Hide는 C#의 bool 값이 아니다. 8번(심화)은 앞 두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출제 스타일은 '실행 결과 화면만 주고 코드를 짜시오'. 웹 실습실의 hand 문제 5개가 이 유형이다.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Relationship Id="rId4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jpg"/><Relationship Id="rId4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2777490"/>
            <a:ext cx="128016" cy="30861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859786"/>
            <a:ext cx="14630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 · 컴퓨터및소프트웨어공학전공(박사과정)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35858"/>
            <a:ext cx="14630400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객체지향시스템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102352"/>
            <a:ext cx="987552" cy="473202"/>
          </a:xfrm>
          <a:prstGeom prst="roundRect">
            <a:avLst>
              <a:gd name="adj" fmla="val 20000"/>
            </a:avLst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133213"/>
            <a:ext cx="9875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5102352"/>
            <a:ext cx="128016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lang="ko-KR" altLang="en-US">
                <a:solidFill>
                  <a:srgbClr val="CFC7E2"/>
                </a:solidFill>
                <a:latin typeface="페이퍼로지 6 SemiBold"/>
                <a:ea typeface="페이퍼로지 6 SemiBold"/>
                <a:cs typeface="페이퍼로지 6 SemiBold"/>
              </a:rPr>
              <a:t>CHAPTER 02  ·  콘솔 계산기와 윈폼 그림판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6480810"/>
            <a:ext cx="15727680" cy="12344"/>
          </a:xfrm>
          <a:prstGeom prst="rect">
            <a:avLst/>
          </a:prstGeom>
          <a:solidFill>
            <a:srgbClr val="4A3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6737985"/>
            <a:ext cx="146304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참고 교재  우재남, 『C# 프로그래밍 for Beginner』 (한빛아카데미)</a:t>
            </a:r>
          </a:p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정리  김민  ·  대학원 학습·연구용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자료에 대하여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3" y="2299144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</a:t>
            </a:r>
            <a:r>
              <a:rPr sz="22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수업 진도에 맞춘 참고용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 — 목차와 개념 체계를 참고하되, 내용은 직접 조사해 재구성·각색했다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930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8501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3" y="3286696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그림·내용 일부를 </a:t>
            </a:r>
            <a:r>
              <a:rPr sz="21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저작권법 제28조(공표된 저작물의 인용)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따라 교육·연구 목적으로 발췌·인용하고, 각 슬라이드에 출처(교재 절·그림 번호)를 명시했다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54685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57257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3" y="4274248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도표·그래프·예시 그림은 교재 것을 쓰지 않고 </a:t>
            </a:r>
            <a:r>
              <a:rPr sz="29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전부 직접 제작</a:t>
            </a: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863590"/>
            <a:ext cx="1623974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03846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이용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501384"/>
            <a:ext cx="15435071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자료는 </a:t>
            </a:r>
            <a:r>
              <a:rPr sz="19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대학원 개인 학습·연구 목적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으로만 제작·사용한다.</a:t>
            </a:r>
          </a:p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저작권자의 허락 없는 무단 복제·전재·재배포 및 상업적 이용을 금한다.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76668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9621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참고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858964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우재남, 『C# 프로그래밍 for Beginner』, 한빛아카데미  ·  수업 자료(CH01~09)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6314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00" b="0" lang="ko-KR" altLang="en-US">
                <a:solidFill>
                  <a:srgbClr val="54418A"/>
                </a:solidFill>
                <a:latin typeface="페이퍼로지 8 ExtraBold"/>
                <a:ea typeface="페이퍼로지 8 ExtraBold"/>
                <a:cs typeface="페이퍼로지 8 ExtraBold"/>
              </a:rPr>
              <a:t>CH 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3312" y="4166235"/>
            <a:ext cx="2194560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4526280"/>
            <a:ext cx="142646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콘솔 계산기와 윈폼 그림판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09285"/>
            <a:ext cx="142646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Console Calculator &amp; WinForms Paint — Variables, ReadLine,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6583680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변수 그릇과 Console.WriteLine   ·   빌드와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087743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ReadLine으로 입력받기   ·   double과 응용예제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7591806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윈폼 PictureBox   ·   MouseDown·MouseUp 그림판   ·   색 버튼과 도형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가져갈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50579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변수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값을 담고 계산해 </a:t>
            </a:r>
            <a:r>
              <a:rPr sz="27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Console.WriteLine()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으로 출력한다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5643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8214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35261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Console.ReadLine()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으로 받은 문자열을 </a:t>
            </a:r>
            <a:r>
              <a:rPr sz="27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Convert.ToInt32()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로 바꿔 계산한다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34111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36683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119943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윈폼에 컨트롤을 놓고 </a:t>
            </a:r>
            <a:r>
              <a:rPr sz="27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속성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을 바꾸고 </a:t>
            </a:r>
            <a:r>
              <a:rPr sz="27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이벤트 메서드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채워 그림판을 완성한다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554980"/>
            <a:ext cx="16239744" cy="313753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89888" y="575043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미리 보는 결론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6377940"/>
            <a:ext cx="15508224" cy="21911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콘솔은 </a:t>
            </a:r>
            <a:r>
              <a:rPr sz="20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변수에 담고 → 계산하고 → 출력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윈폼은 </a:t>
            </a:r>
            <a:r>
              <a:rPr sz="20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컨트롤을 놓고 → 속성을 바꾸고 → 이벤트 메서드를 채운다.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문법은 3장부터 자세히 — 이 장은 완성품을 먼저 만들어 보는 장이다.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2장 전체 (SECTION 01~04 · 요약 · 연습문제 · 응용예제)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두 개의 완성품 먼저 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04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730083"/>
            <a:ext cx="7607808" cy="334550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233922"/>
            <a:ext cx="793699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233922"/>
            <a:ext cx="742492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2-1 발췌 — 간단 계산기 출력 결과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571750"/>
            <a:ext cx="7936992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p05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6850" y="2664333"/>
            <a:ext cx="3117051" cy="347700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326880" y="6233922"/>
            <a:ext cx="793699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82912" y="6233922"/>
            <a:ext cx="742492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2-2 발췌 — 간단 그림판 출력 결과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6943725"/>
            <a:ext cx="7936992" cy="174879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89888" y="7139178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콘솔 = 글자만 오가는 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7766685"/>
            <a:ext cx="7205472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두 수를 입력하면 사칙연산 결과가 한 줄씩 나온다.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6943725"/>
            <a:ext cx="7936992" cy="174879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0" y="7139178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윈폼 = 버튼·그림이 있는 GUI 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7766685"/>
            <a:ext cx="7205472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마우스로 선을 긋고 〈화면 초기화〉로 지운다.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2.1절 · 그림 2-1~2-2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작성 순서와 콘솔 앱 만들기 — Project02_1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3840480" cy="138874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3840480" cy="10287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16735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① 프로젝트 만들기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5" y="3209544"/>
            <a:ext cx="3255264" cy="6069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콘솔 앱</a:t>
            </a:r>
          </a:p>
          <a:p>
            <a:pPr algn="ctr">
              <a:lnSpc>
                <a:spcPct val="135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(.NET Framework)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3039808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7216" y="2571750"/>
            <a:ext cx="3840480" cy="138874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157216" y="2571750"/>
            <a:ext cx="3840480" cy="10287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49824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② 코딩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3209544"/>
            <a:ext cx="3255264" cy="6069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Program.cs에</a:t>
            </a:r>
          </a:p>
          <a:p>
            <a:pPr algn="ctr">
              <a:lnSpc>
                <a:spcPct val="135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3039808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90304" y="2571750"/>
            <a:ext cx="3840480" cy="138874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290304" y="2571750"/>
            <a:ext cx="3840480" cy="10287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582912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③ 빌드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3209544"/>
            <a:ext cx="3255264" cy="6069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컴파일 + 링크</a:t>
            </a:r>
          </a:p>
          <a:p>
            <a:pPr algn="ctr">
              <a:lnSpc>
                <a:spcPct val="135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.exe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57632" y="3039808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423392" y="2571750"/>
            <a:ext cx="3840480" cy="138874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3423392" y="2571750"/>
            <a:ext cx="3840480" cy="10287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3716000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④ 실행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0" y="3209544"/>
            <a:ext cx="3255264" cy="6069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Ctrl+F5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4269105"/>
            <a:ext cx="8046720" cy="44748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p10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060" y="4361688"/>
            <a:ext cx="6320856" cy="3837051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024128" y="8291322"/>
            <a:ext cx="804672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80160" y="8291322"/>
            <a:ext cx="753465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2-5 발췌 — 새 프로젝트 구성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82912" y="442341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582912" y="444912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51008" y="4130230"/>
            <a:ext cx="6912864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이름 </a:t>
            </a:r>
            <a:r>
              <a:rPr sz="25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Project02_1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82912" y="545211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582912" y="547782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51008" y="5158930"/>
            <a:ext cx="6912864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위치 </a:t>
            </a:r>
            <a:r>
              <a:rPr sz="25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C:\CookC#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(〈…〉 버튼)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82912" y="648081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582912" y="650652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51008" y="6187630"/>
            <a:ext cx="6912864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☑ 솔루션 및 프로젝트를 같은 디렉터리에 배치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82912" y="750951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582912" y="753522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51008" y="7216330"/>
            <a:ext cx="6912864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프레임워크 </a:t>
            </a:r>
            <a:r>
              <a:rPr sz="22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.NET Framework 4.8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→ 〈만들기〉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SELF STUDY 2-1 — Test2·Test3을 같은 순서로 빠르게 만들어 보기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실습 2-1 · 그림 2-3~2-5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2-1 — 변수 세 개로 사칙연산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622363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Program.cs — Main 안 (Project02_1)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550354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a, b;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result;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 = 100;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 = 50;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result = a + b;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Console.WriteLine(a + "+" + b + "=" + result);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result = a - b;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Console.WriteLine(a + "-" + b + "=" + result);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result = a * b;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Console.WriteLine(a + "*" + b + "=" + result);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result = a / b;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Console.WriteLine(a + "/" + b + "=" + result);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80192" y="2571750"/>
            <a:ext cx="6583680" cy="174879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680192" y="2571750"/>
            <a:ext cx="91440" cy="174879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045952" y="2674620"/>
            <a:ext cx="585216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(Ctrl+F5)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82528" y="3024378"/>
            <a:ext cx="5779008" cy="117271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100+50=150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100-50=50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100*50=5000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100/50=2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80192" y="4577715"/>
            <a:ext cx="6583680" cy="421767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045952" y="4773168"/>
            <a:ext cx="585216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읽는 요령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5952" y="5400675"/>
            <a:ext cx="5852160" cy="32712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3·4행 </a:t>
            </a:r>
            <a:r>
              <a:rPr sz="21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선언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그릇 3개 준비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6·7행 </a:t>
            </a:r>
            <a:r>
              <a:rPr sz="21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대입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=는 오른쪽 값을 왼쪽에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9행 계산 → 10행 출력, 이 패턴을 네 번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18행 </a:t>
            </a:r>
            <a:r>
              <a:rPr sz="21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int / int = 몫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(소수점 버림)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따옴표는 곧은 따옴표(") — 둥근 따옴표가 섞이면 컴파일 오류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실습 2-2 · 소스 2-1 · 그림 2-12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변수 = 값을 담는 그릇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315200" cy="622363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1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238" y="2664333"/>
            <a:ext cx="6628979" cy="558584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342757"/>
            <a:ext cx="731520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342757"/>
            <a:ext cx="68031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2-9 발췌 — 덧셈 작업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51392" y="2571750"/>
            <a:ext cx="8412480" cy="28803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17152" y="2767203"/>
            <a:ext cx="768096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쉽게 말하면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394710"/>
            <a:ext cx="7680960" cy="1933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변수는 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이름표 붙은 컵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이다.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 a; 는 컵 꺼내기, a = 100; 은 컵에 붓기.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51392" y="5760720"/>
            <a:ext cx="8412480" cy="303466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53728" y="5935599"/>
            <a:ext cx="760780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여기서 잠깐 — 진짜 그릇과 다른 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6398514"/>
            <a:ext cx="7607808" cy="22528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진짜 그릇이면 부은 뒤 a, b가 비지만, 변수는 </a:t>
            </a:r>
            <a:r>
              <a:rPr sz="25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값이 복사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되어 그대로 남는다.</a:t>
            </a:r>
          </a:p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그래서 10행에서 a와 b를 다시 출력할 수 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그림 2-7~2-9 · 여기서 잠깐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Console.WriteLine( )과 + 기호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396049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17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142" y="2664333"/>
            <a:ext cx="5827972" cy="332270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079617"/>
            <a:ext cx="914400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079617"/>
            <a:ext cx="86319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2-10 발췌 — Console.WriteLine() 메서드의 작동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80192" y="2571750"/>
            <a:ext cx="6583680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899648" y="2571750"/>
            <a:ext cx="193121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조각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69772" y="2571750"/>
            <a:ext cx="179953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종류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08224" y="2571750"/>
            <a:ext cx="153619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출력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80192" y="3086100"/>
            <a:ext cx="6583680" cy="65836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936224" y="3086100"/>
            <a:ext cx="18580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06348" y="3086100"/>
            <a:ext cx="172638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변수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0" y="3086100"/>
            <a:ext cx="14630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36224" y="3744468"/>
            <a:ext cx="18580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"+"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06348" y="3744468"/>
            <a:ext cx="172638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문자열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0" y="3744468"/>
            <a:ext cx="14630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80192" y="4402836"/>
            <a:ext cx="6583680" cy="65836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936224" y="4402836"/>
            <a:ext cx="18580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06348" y="4402836"/>
            <a:ext cx="172638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변수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0" y="4402836"/>
            <a:ext cx="14630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36224" y="5061204"/>
            <a:ext cx="18580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"="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06348" y="5061204"/>
            <a:ext cx="172638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문자열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0" y="5061204"/>
            <a:ext cx="14630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=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80192" y="5719572"/>
            <a:ext cx="6583680" cy="65836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936224" y="5719572"/>
            <a:ext cx="18580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06348" y="5719572"/>
            <a:ext cx="172638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변수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0" y="5719572"/>
            <a:ext cx="14630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4128" y="6789420"/>
            <a:ext cx="16239744" cy="200596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389888" y="698487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더 깊이 — + 는 왼쪽부터 계산된다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89888" y="7612380"/>
            <a:ext cx="15508224" cy="10595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숫자끼리 먼저 만나면 덧셈, 문자열을 만난 뒤로는 이어 붙이기.  10 + 20 + "=" + 10 + 20 → </a:t>
            </a:r>
            <a:r>
              <a:rPr sz="24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30=1020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(컴파일러 확인). 계산식은 괄호로 묶거나 result에 먼저 담자.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그림 2-10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빌드하고 실행하기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424160" cy="380619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19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623" y="2664333"/>
            <a:ext cx="8913169" cy="316839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925312"/>
            <a:ext cx="1042416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925312"/>
            <a:ext cx="99120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2-11 발췌 — 프로젝트의 빌드 성공 메시지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0" y="2571750"/>
            <a:ext cx="5376672" cy="380619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252960" y="2767203"/>
            <a:ext cx="464515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빌드 성공이면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0" y="3394710"/>
            <a:ext cx="4645152" cy="28597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출력 창에 </a:t>
            </a:r>
            <a:r>
              <a:rPr sz="19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빌드: 성공 1, 실패 0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상태 표시줄에 </a:t>
            </a:r>
            <a:r>
              <a:rPr sz="19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빌드에 성공했습니다.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결과물은 bin\Debug 폴더의 Project02_1.exe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635115"/>
            <a:ext cx="16239744" cy="493776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43584" y="6635115"/>
            <a:ext cx="215944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동작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1943" y="6635115"/>
            <a:ext cx="865534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메뉴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36199" y="6635115"/>
            <a:ext cx="410821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단축키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128891"/>
            <a:ext cx="16239744" cy="53492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7128891"/>
            <a:ext cx="2086295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8519" y="7128891"/>
            <a:ext cx="8582192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[파일] – [모두 저장]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72775" y="7128891"/>
            <a:ext cx="403506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Ctrl+S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7663815"/>
            <a:ext cx="2086295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빌드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78519" y="7663815"/>
            <a:ext cx="8582192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[빌드] – [솔루션 빌드]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72775" y="7663815"/>
            <a:ext cx="403506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Ctrl+Shift+B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8198739"/>
            <a:ext cx="16239744" cy="53492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80160" y="8198739"/>
            <a:ext cx="2086295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8519" y="8198739"/>
            <a:ext cx="8582192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[디버그] – [디버그하지 않고 시작]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72775" y="8198739"/>
            <a:ext cx="403506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Ctrl+F5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'계속하려면 아무 키나…'는 우리 코드가 아니라 VS가 붙이는 문구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실습 2-3~2-4 · 그림 2-11~2-12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SELF STUDY 2-2 — 1234와 456, 띄어서 출력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51435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정답 코드 — 따옴표 안에 공백 2칸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436608" cy="44234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a, b;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result;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 = 1234;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 = 456;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result = a + b;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Console.WriteLine(a + "  +  " + b + "  =  " + result);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result = a - b;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Console.WriteLine(a + "  -  " + b + "  =  " + result);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result = a * b;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Console.WriteLine(a + "  *  " + b + "  =  " + result);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result = a / b;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Console.WriteLine(a + "  /  " + b + "  =  " + result);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77472" y="2571750"/>
            <a:ext cx="5486400" cy="174879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777472" y="2571750"/>
            <a:ext cx="91440" cy="174879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143232" y="2674620"/>
            <a:ext cx="47548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79808" y="3024378"/>
            <a:ext cx="4681728" cy="117271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1234  +  456  =  1690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1234  -  456  =  778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1234  *  456  =  562704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1234  /  456  = 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77472" y="4577715"/>
            <a:ext cx="5486400" cy="421767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143232" y="4773168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풀이 요점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43232" y="5400675"/>
            <a:ext cx="4754880" cy="32712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a, b 값만 바꾸고 공백은 따옴표 </a:t>
            </a:r>
            <a:r>
              <a:rPr sz="19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안에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넣는다.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 화면의 칸을 세면 연산자·등호 앞뒤가 각각 </a:t>
            </a:r>
            <a:r>
              <a:rPr sz="19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2칸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1234 / 456 = 2.7…이지만 정수 나눗셈이라 </a:t>
            </a:r>
            <a:r>
              <a:rPr sz="19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SELF STUDY 2-2 · 그림 2-13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Console.ReadLine( ) — 키보드 입력은 무조건 문자열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6583680" cy="40119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23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263" y="2664333"/>
            <a:ext cx="4035409" cy="306552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822442"/>
            <a:ext cx="6583680" cy="76123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822442"/>
            <a:ext cx="6071616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2-14 발췌 — 키보드로 값을 직접 입력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571750"/>
            <a:ext cx="9144000" cy="20059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485632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서식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3168396"/>
            <a:ext cx="8339328" cy="12858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string 문자열_변수_이름;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문자열_변수_이름 = Console.ReadLine();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정수형_변수_이름 = Convert.ToInt32(문자열_변수_이름);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4834890"/>
            <a:ext cx="9144000" cy="396049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85632" y="5030343"/>
            <a:ext cx="84124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택배 상자와 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5657850"/>
            <a:ext cx="8412480" cy="30140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ReadLine은 </a:t>
            </a:r>
            <a:r>
              <a:rPr sz="21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택배 상자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100을 쳐도 글자 "100"으로 온다.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Convert.ToInt32는 </a:t>
            </a:r>
            <a:r>
              <a:rPr sz="21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상자를 뜯어 숫자를 꺼내는 칼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그래서 string 변수를 따로 준비해 받고, 정수로 바꿔 계산한다.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6840855"/>
            <a:ext cx="6583680" cy="195453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26464" y="7015734"/>
            <a:ext cx="577900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커서만 깜박이면?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7478649"/>
            <a:ext cx="5779008" cy="1172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멈춘 게 아니라 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입력을 기다리는 중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a = Console.ReadLine(); 처럼 int에 바로 넣으면 컴파일 오류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2.3절 · 그림 2-14~2-16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2-2 — 입력받아 계산하기 (Project02_2)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46291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Program.cs — 교재 표기 그대로 (17행 이후 생략)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39090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a, b;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result;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str;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 = Console.ReadLine();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 = Convert.ToInt32(str);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 = Console.ReadLine();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 = Convert.ToInt32(str);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result = a + b;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Console.WriteLine(a + "+" + b + "=" + result);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// 이다음은 [소스 2-1]의 12~19행과 동일함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45952" y="2571750"/>
            <a:ext cx="6217920" cy="226314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045952" y="2571750"/>
            <a:ext cx="91440" cy="226314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411712" y="2674620"/>
            <a:ext cx="548640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(100, 50 입력)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48288" y="3024378"/>
            <a:ext cx="5413248" cy="16870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50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100+50=150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100-50=50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100*50=5000</a:t>
            </a:r>
          </a:p>
          <a:p>
            <a:pPr>
              <a:lnSpc>
                <a:spcPct val="132000"/>
              </a:lnSpc>
            </a:pPr>
            <a:r>
              <a:rPr sz="13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100/50=2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45952" y="5092065"/>
            <a:ext cx="6217920" cy="370332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411712" y="5287518"/>
            <a:ext cx="5486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줄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11712" y="5915025"/>
            <a:ext cx="5486400" cy="275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6행 </a:t>
            </a:r>
            <a:r>
              <a:rPr sz="23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string str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입력용 문자열 그릇</a:t>
            </a: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8행 ReadLine — Enter까지 한 줄</a:t>
            </a: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9행 </a:t>
            </a:r>
            <a:r>
              <a:rPr sz="23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Convert.ToInt32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정수로</a:t>
            </a: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11~12행 str을 다시 써서 b까지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7458075"/>
            <a:ext cx="9509760" cy="133731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26464" y="7458075"/>
            <a:ext cx="8705088" cy="1337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Convert.Toint32 (소문자 i) → 오류. C#은 대소문자를 구분한다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2.3절 · 실습 2-5 · 소스 2-2 · 그림 2-17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2-3 — 안내문을 띄우고 입력받기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875520" cy="447484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144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Program.cs — 교재 표기 그대로 (17행 이후 생략)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070848" cy="375475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a, b;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result;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str;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Console.Write("첫번째 계산할 값을 입력하세요 ==&gt; ");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 = Console.ReadLine();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 = Convert.ToInt32(str);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Console.Write("두번째 계산할 값을 입력하세요 ==&gt; ");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 = Console.ReadLine();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 = Convert.ToInt32(str);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result = a + b;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// 이다음은 [소스 2-2]의 15행 이하와 동일함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11712" y="2571750"/>
            <a:ext cx="5852160" cy="216027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411712" y="2571750"/>
            <a:ext cx="91440" cy="216027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777472" y="2674620"/>
            <a:ext cx="512064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(400, 200 입력)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4048" y="3024378"/>
            <a:ext cx="5047488" cy="158419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첫번째 계산할 값을 입력하세요 ==&gt; 400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두번째 계산할 값을 입력하세요 ==&gt; 200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400+200=600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400-200=200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400*200=80000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400/200=2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11712" y="5040630"/>
            <a:ext cx="5852160" cy="493776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631168" y="5040630"/>
            <a:ext cx="3423513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메서드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93593" y="5040630"/>
            <a:ext cx="155082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줄바꿈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11712" y="5534406"/>
            <a:ext cx="5852160" cy="72009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667744" y="5534406"/>
            <a:ext cx="3350361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Console.WriteLine()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30169" y="5534406"/>
            <a:ext cx="147767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67744" y="6254496"/>
            <a:ext cx="3350361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Console.Write()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30169" y="6254496"/>
            <a:ext cx="147767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안 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7252335"/>
            <a:ext cx="16239744" cy="154305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426464" y="7427214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안내문 끝의 공백 한 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6464" y="7890129"/>
            <a:ext cx="15435071" cy="761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"…입력하세요 ==&gt; " — 이 공백이 있어야 입력한 값이 화살표에 붙지 않는다.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Write는 줄바꿈 없이 출력 — 커서가 안내문 바로 뒤에서 기다린다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2.3절 · 소스 2-3 · 그림 2-18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SELF STUDY 2-3 — 0이 아니라 0.5가 나오게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Main 안 핵심 — 덧셈·뺄셈·곱셈은 소스 2-3과 같다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436608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double a, b;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double result;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string str;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Console.Write("첫번째 계산할 값을 입력하세요 ==&gt; ");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str = Console.ReadLine();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 = Convert.ToDouble(str);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Console.Write("두번째 계산할 값을 입력하세요 ==&gt; ");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str = Console.ReadLine();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 = Convert.ToDouble(str);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result = a / b;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Console.WriteLine(a + "/" + b + "=" + result);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77472" y="2571750"/>
            <a:ext cx="5486400" cy="216027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777472" y="2571750"/>
            <a:ext cx="91440" cy="216027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143232" y="2674620"/>
            <a:ext cx="47548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(200, 400 입력)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79808" y="3024378"/>
            <a:ext cx="4681728" cy="158419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첫번째 계산할 값을 입력하세요 ==&gt; 200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두번째 계산할 값을 입력하세요 ==&gt; 400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200+400=600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200-400=-200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200*400=80000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200/400=0.5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77472" y="4989195"/>
            <a:ext cx="5486400" cy="174879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143232" y="5184648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43232" y="5812155"/>
            <a:ext cx="475488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 / int는 소수점 이하를 버린다 → 200/400 =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6943725"/>
            <a:ext cx="16239744" cy="185166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26464" y="7118604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함정 — result만 double로 바꾸면?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7581519"/>
            <a:ext cx="15435071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 / b가 </a:t>
            </a:r>
            <a:r>
              <a:rPr sz="25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int끼리 먼저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계산돼 0이 된 뒤 double에 담긴다 → 여전히 0. 나누는 두 값이 실수여야 한다.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2.3절 · SELF STUDY 2-3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응용예제 01 — 나머지와 제곱까지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875520" cy="37033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144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응용예제 01 핵심 부분 (전체 33행)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070848" cy="29832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double a, b;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double result;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입력 부분은 SELF STUDY 2-3과 같다 (Convert.ToDouble)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result = a / b;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Console.WriteLine(a + " / " + b + " = " + result);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result = a % b;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Console.WriteLine(a + " % " + b + " = " + result);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result = Math.Pow(a, b);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Console.WriteLine(a + " ^ " + b + " = " + result);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11712" y="2571750"/>
            <a:ext cx="5852160" cy="257175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411712" y="2571750"/>
            <a:ext cx="91440" cy="257175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777472" y="2674620"/>
            <a:ext cx="512064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(5, 10.5 입력)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4048" y="3024378"/>
            <a:ext cx="5047488" cy="199567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첫번째 계산할 값을 입력하세요 ==&gt; 5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두번째 계산할 값을 입력하세요 ==&gt; 10.5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 + 10.5 = 15.5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5 - 10.5 = -5.5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 * 10.5 = 52.5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 / 10.5 = 0.476190476190476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5 % 10.5 = 5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 ^ 10.5 = 21836601.3427714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583680"/>
            <a:ext cx="16239744" cy="493776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43584" y="6583680"/>
            <a:ext cx="248424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연산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6737" y="6583680"/>
            <a:ext cx="573219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코드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40" y="6583680"/>
            <a:ext cx="670657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5와 10.5의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077456"/>
            <a:ext cx="16239744" cy="61722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7077456"/>
            <a:ext cx="241108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나머지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3313" y="7077456"/>
            <a:ext cx="56590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 %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4416" y="7077456"/>
            <a:ext cx="6633423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 (몫 0, 나머지 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7694676"/>
            <a:ext cx="2411089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3313" y="7694676"/>
            <a:ext cx="565903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Math.Pow(a, 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4416" y="7694676"/>
            <a:ext cx="6633423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21836601.3427714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C#엔 제곱 연산자가 없다 — ^는 출력 글자일 뿐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p.89~90 · 응용예제 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윈폼 — 창이 뜨는 프로그램 만들기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680960" cy="277749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67203"/>
            <a:ext cx="69494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윈폼(WinForm)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394710"/>
            <a:ext cx="6949440" cy="18310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Windows Form의 줄임말. 윈도우 창이 나오는 </a:t>
            </a:r>
            <a:r>
              <a:rPr sz="23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GUI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프로그램.</a:t>
            </a: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웹 브라우저·그림판·엑셀·한글이 모두 GUI다.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5657850"/>
            <a:ext cx="7680960" cy="493776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43584" y="5657850"/>
            <a:ext cx="2326233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용어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8729" y="5657850"/>
            <a:ext cx="447690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6151626"/>
            <a:ext cx="7680960" cy="65836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80160" y="6151626"/>
            <a:ext cx="225308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컨트롤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5305" y="6151626"/>
            <a:ext cx="440375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창에 올리는 부품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6809994"/>
            <a:ext cx="225308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속성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5305" y="6809994"/>
            <a:ext cx="440375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컨트롤의 설정값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468362"/>
            <a:ext cx="7680960" cy="65836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7468362"/>
            <a:ext cx="225308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5305" y="7468362"/>
            <a:ext cx="440375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클릭 같은 작은 사건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17152" y="2571750"/>
            <a:ext cx="8046720" cy="380619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p35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986" y="2664333"/>
            <a:ext cx="6681051" cy="285978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9217152" y="5616702"/>
            <a:ext cx="8046720" cy="76123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473184" y="5616702"/>
            <a:ext cx="7534656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2-20 발췌 — Windows Forms 앱(.NET Framework) 선택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17152" y="6635115"/>
            <a:ext cx="8046720" cy="216027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619488" y="6809994"/>
            <a:ext cx="724204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템플릿 이름 주의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8" y="7272909"/>
            <a:ext cx="7242048" cy="1378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그냥 [Windows Forms 앱]이 아니라 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(.NET Framework)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가 붙은 쪽을 고른다.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2.4절 · 실습 2-6 ①~⑤ · 그림 2-19~2-22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실습 2-6 — PictureBox와 버튼 놓기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339471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39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526" y="2664333"/>
            <a:ext cx="4969203" cy="244830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205222"/>
            <a:ext cx="9144000" cy="76123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205222"/>
            <a:ext cx="8631936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2-24 발췌 — ▶ → 이미지 선택 → 로컬 리소스 → 가져오기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6172200"/>
            <a:ext cx="9144000" cy="26231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p4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033" y="6264783"/>
            <a:ext cx="3092189" cy="1985391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024128" y="8342757"/>
            <a:ext cx="914400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80160" y="8342757"/>
            <a:ext cx="86319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2-26 발췌 — Button 2개 끌어다 놓기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80192" y="2623185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680192" y="2648902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48288" y="2247709"/>
            <a:ext cx="5815584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[도구 상자] → [공용 컨트롤] → 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PictureBox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폼에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80192" y="3816477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680192" y="3842194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48288" y="3441001"/>
            <a:ext cx="5815584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▶ → 〈이미지 선택〉 → 로컬 리소스 → 〈가져오기〉 → 〈확인〉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80192" y="5009769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680192" y="5035486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48288" y="4634293"/>
            <a:ext cx="5815584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그림·폼 크기 조절 후 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Button 2개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사진 아래에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80192" y="6203061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680192" y="6228778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48288" y="5827585"/>
            <a:ext cx="5815584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[속성] 창 [모양] – [Text]를 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보이기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/ 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감추기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80192" y="7396353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680192" y="7422070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48288" y="7020877"/>
            <a:ext cx="5815584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〈보이기〉 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더블클릭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→ button1_Click에 한 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[속성] 창이 안 보이면 [보기] – [속성] (F4) · 도구 상자는 압정 버튼으로 고정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2.4절 · p.73 · 실습 2-6 ⑥~⑫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2-4 · 2-5 — Visible 한 줄씩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30861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Form1.cs — 더블클릭으로 생긴 메서드 안에 한 줄씩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23660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button1_Click(object sender, EventArgs e)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pictureBox1.Visible = true;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button2_Click(object sender, EventArgs e)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pictureBox1.Visible = false;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5966460"/>
            <a:ext cx="9144000" cy="473202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43584" y="5966460"/>
            <a:ext cx="248716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컨트롤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9664" y="5966460"/>
            <a:ext cx="267004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(Name)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8624" y="5966460"/>
            <a:ext cx="267004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439662"/>
            <a:ext cx="9144000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80160" y="6439662"/>
            <a:ext cx="241401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PictureBox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6439662"/>
            <a:ext cx="259689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pictureBox1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6439662"/>
            <a:ext cx="259689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— (Image: 사진)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7015734"/>
            <a:ext cx="241401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7015734"/>
            <a:ext cx="259689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7015734"/>
            <a:ext cx="259689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보이기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7591806"/>
            <a:ext cx="9144000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80160" y="7591806"/>
            <a:ext cx="241401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7591806"/>
            <a:ext cx="259689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7591806"/>
            <a:ext cx="2596896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감추기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80192" y="2571750"/>
            <a:ext cx="65836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p43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5565" y="2664333"/>
            <a:ext cx="2652933" cy="347700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0680192" y="6233922"/>
            <a:ext cx="658368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936224" y="6233922"/>
            <a:ext cx="607161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2-28 발췌 — 최종 폼 화면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80192" y="6892290"/>
            <a:ext cx="6583680" cy="190309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1082528" y="7067169"/>
            <a:ext cx="577900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(Name) ≠ 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82528" y="7530084"/>
            <a:ext cx="5779008" cy="11212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글자를 '보이기'로 바꿔도 이름은 </a:t>
            </a:r>
            <a:r>
              <a:rPr sz="23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button1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그래서 button1_Click.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메서드 이름 = 컨트롤이름_Click · Visible = true 보임 / false 숨김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p.74~75 · 소스 2-4~2-5 · 그림 2-28~2-30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선 긋기 계획 — 누를 때 시작점, 뗄 때 끝점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852160" cy="46291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49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349" y="2664333"/>
            <a:ext cx="3517717" cy="368274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439662"/>
            <a:ext cx="5852160" cy="76123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439662"/>
            <a:ext cx="5340096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2-31 발췌 — 클릭 → 드래그 → 드롭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88352" y="2571750"/>
            <a:ext cx="9875520" cy="37033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54112" y="2674620"/>
            <a:ext cx="9144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의사 코드 (한글 이름은 설명용)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3168396"/>
            <a:ext cx="9070848" cy="29832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시작_x, 시작_y, 끝_x, 끝_y;      // 전역 변수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마우스를 클릭하는 순간 (MouseDown)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시작_x = 현재_X_좌표;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시작_y = 현재_Y_좌표;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마우스를 떼는 순간 (MouseUp)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끝_x = 현재_X_좌표;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끝_y = 현재_Y_좌표;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Graphics g = CreateGraphics();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Pen pen = new Pen(색상, 두께);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g.DrawLine(pen, 시작_x, 시작_y, 끝_x, 끝_y);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88352" y="6480810"/>
            <a:ext cx="9875520" cy="473202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07808" y="6480810"/>
            <a:ext cx="528888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35609" y="6480810"/>
            <a:ext cx="37088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88352" y="6954012"/>
            <a:ext cx="9875520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44384" y="6954012"/>
            <a:ext cx="521573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Graphics g = CreateGraphics();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72185" y="6954012"/>
            <a:ext cx="363565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그림 그릴 </a:t>
            </a:r>
            <a:r>
              <a:rPr sz="24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도화지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준비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7509510"/>
            <a:ext cx="521573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Pen pen = new Pen(색상, 두께);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72185" y="7509510"/>
            <a:ext cx="363565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선을 그릴 </a:t>
            </a:r>
            <a:r>
              <a:rPr sz="24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88352" y="8065007"/>
            <a:ext cx="9875520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644384" y="8065007"/>
            <a:ext cx="5215737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g.DrawLine(pen, …);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72185" y="8065007"/>
            <a:ext cx="3635654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선 긋기 — </a:t>
            </a:r>
            <a:r>
              <a:rPr sz="24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인자 5개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7406640"/>
            <a:ext cx="5852160" cy="138874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389888" y="7550658"/>
            <a:ext cx="5120640" cy="47217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전역 변수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8094840"/>
            <a:ext cx="5120640" cy="577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메서드 밖에 선언 — 두 메서드가 공유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Graphics · Pen · DrawLine — 선 긋기 공식은 거의 고정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p.76~77 · 그림 2-31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실습 2-7 — 폼 설계와 이벤트 연결 (Project02_4)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229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55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817" y="2664333"/>
            <a:ext cx="5400222" cy="31683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925312"/>
            <a:ext cx="8229600" cy="76123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925312"/>
            <a:ext cx="7717536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2-34 발췌 — 번개 아이콘 → MouseDown 빈칸 더블클릭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65792" y="2571750"/>
            <a:ext cx="7498080" cy="473202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985248" y="2571750"/>
            <a:ext cx="15105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대상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34748" y="2571750"/>
            <a:ext cx="166055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속성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34211" y="2571750"/>
            <a:ext cx="30102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65792" y="3044952"/>
            <a:ext cx="7498080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021824" y="3044952"/>
            <a:ext cx="143743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71324" y="3044952"/>
            <a:ext cx="158739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70787" y="3044952"/>
            <a:ext cx="2937052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간단 그림판(Ver 0.1)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21824" y="3600450"/>
            <a:ext cx="143743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71324" y="3600450"/>
            <a:ext cx="158739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크기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70787" y="3600450"/>
            <a:ext cx="2937052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정사각형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65792" y="4155948"/>
            <a:ext cx="7498080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021824" y="4155948"/>
            <a:ext cx="143743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71324" y="4155948"/>
            <a:ext cx="158739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70787" y="4155948"/>
            <a:ext cx="2937052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화면 초기화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21824" y="4711446"/>
            <a:ext cx="143743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71324" y="4711446"/>
            <a:ext cx="1587398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BackColor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70787" y="4711446"/>
            <a:ext cx="2937052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사용자 지정 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65792" y="5503545"/>
            <a:ext cx="7498080" cy="118300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168128" y="5503545"/>
            <a:ext cx="6693408" cy="11830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폼의 MouseDown·MouseUp은 더블클릭이 아니라 번개 아이콘 목록에서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" y="6892290"/>
            <a:ext cx="16239744" cy="452628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43584" y="6892290"/>
            <a:ext cx="183465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대상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17148" y="6892290"/>
            <a:ext cx="2484241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이벤트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0302" y="6892290"/>
            <a:ext cx="573219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연결 방법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1404" y="6892290"/>
            <a:ext cx="4433011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메서드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" y="7344918"/>
            <a:ext cx="16239744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280160" y="7344918"/>
            <a:ext cx="17615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53724" y="7344918"/>
            <a:ext cx="241108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MouseDown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6878" y="7344918"/>
            <a:ext cx="56590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번개 아이콘 → 빈칸 더블클릭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647980" y="7344918"/>
            <a:ext cx="435985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Form1_MouseDown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7797546"/>
            <a:ext cx="17615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53724" y="7797546"/>
            <a:ext cx="241108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MouseUp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6878" y="7797546"/>
            <a:ext cx="56590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번개 아이콘 → 빈칸 더블클릭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647980" y="7797546"/>
            <a:ext cx="435985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Form1_MouseUp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4128" y="8250174"/>
            <a:ext cx="16239744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280160" y="8250174"/>
            <a:ext cx="17615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53724" y="8250174"/>
            <a:ext cx="241108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Click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6878" y="8250174"/>
            <a:ext cx="56590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버튼 더블클릭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647980" y="8250174"/>
            <a:ext cx="435985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button1_Click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p.77~81 · 실습 2-7 ①~⑧ · 그림 2-32~2-35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2-6 · 2-7 — 좌표 저장과 선 긋기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46291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Form1.cs — 전역 변수 + 두 이벤트 메서드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436608" cy="39090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x1, y1, x2, y2;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Form1_MouseDown(object sender, MouseEventArgs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x1 = e.X;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y1 = e.Y;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Form1_MouseUp(object sender, MouseEventArgs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x2 = e.X;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y2 = e.Y;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Graphics g = CreateGraphics();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Pen pen = new Pen(Color.Blue, 10);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g.DrawLine(pen, x1, y1, x2, y2);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77472" y="2571750"/>
            <a:ext cx="5486400" cy="622363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143232" y="2767203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줄 읽기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43232" y="3394710"/>
            <a:ext cx="4754880" cy="5277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전역 변수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x1~y2 — 두 메서드가 공유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MouseEventArgs e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마우스 정보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e.X, e.Y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누른(뗀) 위치 좌표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Color.Blue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파란 펜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두께(픽셀)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DrawLine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(x1, y1)에서 (x2, y2)까지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7458075"/>
            <a:ext cx="10241280" cy="133731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426464" y="7632954"/>
            <a:ext cx="943660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자주 하는 실수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8095869"/>
            <a:ext cx="9436608" cy="5554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좌표 변수를 MouseDown </a:t>
            </a:r>
            <a:r>
              <a:rPr sz="25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안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선언 → MouseUp이 못 본다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좌표계: 폼 왼쪽 위가 (0, 0), 아래로 갈수록 y가 커진다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p.79~81 · 소스 2-6~2-7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2-8 — 화면 초기화, 그리고 실행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18516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button1_Click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11315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button1_Click(object sender, EventArgs e)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this.Refresh();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4680585"/>
            <a:ext cx="9144000" cy="411480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4876038"/>
            <a:ext cx="84124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this.Refresh()가 지우는 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5503545"/>
            <a:ext cx="8412480" cy="3168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this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= 현재 윈폼 화면(Form1).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CreateGraphics로 그린 선은 폼에 저장되지 않고 </a:t>
            </a:r>
            <a:r>
              <a:rPr sz="21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화면에만 찍힌다.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Refresh로 폼을 다시 그리면 선이 사라진다.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같은 이유로 창을 최소화했다 복원하면 선이 지워질 수 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80192" y="2571750"/>
            <a:ext cx="6583680" cy="622363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p62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3142" y="2664333"/>
            <a:ext cx="4737780" cy="5277231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680192" y="8034147"/>
            <a:ext cx="6583680" cy="76123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936224" y="8034147"/>
            <a:ext cx="6071616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2-37 발췌 — 간단 그림판 실행 화면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버튼 배경색 — 속성 아이콘 → [모양] BackColor ▼ → [사용자 지정] 탭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p.81~82 · 소스 2-8 · 그림 2-36~2-37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SELF STUDY 2-4 — 빨간 선, 두께 5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30861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Form1_MouseUp — 7행만 바꾼다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436608" cy="23660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Form1_MouseUp(object sender, MouseEventArgs e)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x2 = e.X;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y2 = e.Y;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Graphics g = CreateGraphics();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Pen pen = new Pen(Color.Red, 5);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g.DrawLine(pen, x1, y1, x2, y2);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77472" y="2571750"/>
            <a:ext cx="5486400" cy="308610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143232" y="2767203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풀이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43232" y="3394710"/>
            <a:ext cx="475488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펜을 준비하는 </a:t>
            </a:r>
            <a:r>
              <a:rPr sz="19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7행 한 줄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만 바꾸면 된다.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색 = Color. 뒤 이름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두께 = 두 번째 인자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5966460"/>
            <a:ext cx="7936992" cy="2386584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89888" y="615162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바꾸기 전 (소스 2-7)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55648" y="670712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9326880" y="5966460"/>
            <a:ext cx="7936992" cy="2386584"/>
          </a:xfrm>
          <a:prstGeom prst="roundRect">
            <a:avLst>
              <a:gd name="adj" fmla="val 6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92640" y="615162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바꾼 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0" y="670712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572768" y="6871716"/>
            <a:ext cx="6839712" cy="586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new Pen(Color.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Blue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6871716"/>
            <a:ext cx="6839712" cy="586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new Pen(Color.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Red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7488936"/>
            <a:ext cx="6839712" cy="586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파란 선 · 두께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7488936"/>
            <a:ext cx="6839712" cy="586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빨간 선 · 두께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Project02_4 전체를 C# 7.3으로 빌드해 오류 없음 확인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p.82 · SELF STUDY 2-4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응용예제 02 — 색 버튼으로 펜 갈아 끼우기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622363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Form1.cs — Pen을 전역으로 꺼냈다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550354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x1, y1, x2, y2;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Pen pen = new Pen(Color.Black, 10);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btn_red_Click(object sender, EventArgs e)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pen = new Pen(Color.Red, 10);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btn_yellow_Click(object sender, EventArgs e)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pen = new Pen(Color.Yellow, 10);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btn_blue_Click(object sender, EventArgs e)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pen = new Pen(Color.Blue, 10);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Form1_MouseUp(object sender, MouseEventArgs e)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x2 = e.X;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y2 = e.Y;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Graphics g = CreateGraphics();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g.DrawLine(pen, x1, y1, x2, y2);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Form1_MouseDown, button1_Click은 간단 그림판과 같다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45952" y="2571750"/>
            <a:ext cx="6217920" cy="34975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p6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8254" y="2664333"/>
            <a:ext cx="2853315" cy="285978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1045952" y="5616702"/>
            <a:ext cx="621792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301984" y="5616702"/>
            <a:ext cx="570585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응용예제 02 실행 예 — 수업 자료 발췌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45952" y="6326505"/>
            <a:ext cx="6217920" cy="452628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265408" y="6326505"/>
            <a:ext cx="3043123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(Name)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47443" y="6326505"/>
            <a:ext cx="229697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045952" y="6779133"/>
            <a:ext cx="6217920" cy="53492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301984" y="6779133"/>
            <a:ext cx="2969971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84019" y="6779133"/>
            <a:ext cx="22238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빨강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01984" y="7314057"/>
            <a:ext cx="2969971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btn_yellow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84019" y="7314057"/>
            <a:ext cx="22238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노랑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045952" y="7848981"/>
            <a:ext cx="6217920" cy="53492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301984" y="7848981"/>
            <a:ext cx="2969971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btn_blue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784019" y="7848981"/>
            <a:ext cx="22238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Pen을 전역으로 두고 기본 검정 — 색 버튼이 새 펜으로 교체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p.91~92 · 응용예제 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연습문제 2-8 (1) — 라디오 버튼으로 도형 고르기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6217920" cy="46291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6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316" y="2664333"/>
            <a:ext cx="3829544" cy="399135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748272"/>
            <a:ext cx="621792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748272"/>
            <a:ext cx="570585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연습문제 2-8 실행 예 — 수업 자료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112" y="2571750"/>
            <a:ext cx="9509760" cy="473202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73568" y="2571750"/>
            <a:ext cx="27944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컨트롤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6886" y="2571750"/>
            <a:ext cx="2984601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(Name)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0" y="2571750"/>
            <a:ext cx="241401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54112" y="3044952"/>
            <a:ext cx="9509760" cy="53492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10144" y="3044952"/>
            <a:ext cx="272125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GroupBox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3462" y="3044952"/>
            <a:ext cx="2911449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(교재 미표시)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66976" y="3044952"/>
            <a:ext cx="234086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종류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3579876"/>
            <a:ext cx="272125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RadioButton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3462" y="3579876"/>
            <a:ext cx="2911449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rdo_line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66976" y="3579876"/>
            <a:ext cx="234086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54112" y="4114800"/>
            <a:ext cx="9509760" cy="53492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10144" y="4114800"/>
            <a:ext cx="272125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RadioButton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3462" y="4114800"/>
            <a:ext cx="2911449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rdo_circle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66976" y="4114800"/>
            <a:ext cx="234086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4649724"/>
            <a:ext cx="272125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RadioButton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3462" y="4649724"/>
            <a:ext cx="2911449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rdo_box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66976" y="4649724"/>
            <a:ext cx="234086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사각형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54112" y="5184648"/>
            <a:ext cx="9509760" cy="53492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10144" y="5184648"/>
            <a:ext cx="272125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 ×3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3462" y="5184648"/>
            <a:ext cx="2911449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btn_red 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66976" y="5184648"/>
            <a:ext cx="2340864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빨강·노랑·파랑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54112" y="5966460"/>
            <a:ext cx="9509760" cy="282892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119872" y="6161913"/>
            <a:ext cx="87782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힌트 세 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9872" y="6789420"/>
            <a:ext cx="8778240" cy="18825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① RadioButton·</a:t>
            </a:r>
            <a:r>
              <a:rPr sz="24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GroupBox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틀 안에서 하나만 선택</a:t>
            </a:r>
          </a:p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② 선·원·사각형 구분은 </a:t>
            </a:r>
            <a:r>
              <a:rPr sz="24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if 문</a:t>
            </a:r>
          </a:p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③ 원은 </a:t>
            </a:r>
            <a:r>
              <a:rPr sz="24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DrawArc()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사각형은 </a:t>
            </a:r>
            <a:r>
              <a:rPr sz="24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DrawRectangle()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" y="7458075"/>
            <a:ext cx="6217920" cy="133731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426464" y="7458075"/>
            <a:ext cx="5413248" cy="1337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왼쪽 위 → 오른쪽 아래로 끌어 그린다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RadioButton의 기본 이벤트는 CheckedChanged — 더블클릭하면 생긴다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p.88 · 연습문제 8(심화)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연습문제 2-8 (2) — figure로 갈라 그리기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972800" cy="52463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10241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Form1.cs 핵심 — 전역 figure + if 분기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10168128" cy="45262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figure = 0; // 도형 타입 : 0-선, 1-원, 2-사각형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Form1_MouseUp(object sender, MouseEventArgs e)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x2 = e.X;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y2 = e.Y;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Graphics g = CreateGraphics();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(figure == 0)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g.DrawLine(pen, x1, y1, x2, y2);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 if (figure == 1)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g.DrawArc(pen, new Rectangle(x1, y1, (x2 - x1), (y2 - y1)), 0, 360);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g.DrawRectangle(pen, x1, y1, Math.Abs(x2-x1), Math.Abs(y2-y1));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rdo_line_CheckedChanged(object sender, EventArgs e)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figure = 0;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rdo_circle → figure = 1,  rdo_box → figure = 2  (같은 모양)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435840" y="2571750"/>
            <a:ext cx="4828032" cy="622363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0" y="2767203"/>
            <a:ext cx="40965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줄 읽기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0" y="3394710"/>
            <a:ext cx="4096512" cy="5277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figure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고른 도형 번호를 기억하는 전역 변수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DrawArc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(펜, 사각형, 0, 360) — 한 바퀴 호 = 원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DrawRectangle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(펜, x, y, 폭, 높이)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Math.Abs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절댓값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8023860"/>
            <a:ext cx="10972800" cy="77152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426464" y="8023860"/>
            <a:ext cx="10168128" cy="771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CheckedChanged는 풀린 쪽이 먼저 울린다 — figure엔 새로 고른 값이 남는다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풀이 전체를 C# 7.3으로 빌드 확인 · 이벤트 순서는 .NET Framework 4.8에서 실험 확인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p.88 · 연습문제 8 풀이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연습문제 1~7 — 정답 한눈에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93776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02266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번호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5160" y="2571750"/>
            <a:ext cx="654417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문제 요지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8250" y="2571750"/>
            <a:ext cx="735616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F6FB0"/>
                </a:solidFill>
                <a:latin typeface="페이퍼로지 8 ExtraBold"/>
                <a:ea typeface="페이퍼로지 8 ExtraBold"/>
                <a:cs typeface="페이퍼로지 8 ExtraBold"/>
              </a:rPr>
              <a:t>정답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65526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65526"/>
            <a:ext cx="94951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1736" y="3065526"/>
            <a:ext cx="647102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 = 500; b = 400; result = a + b;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4826" y="3065526"/>
            <a:ext cx="728301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500 / 400 / </a:t>
            </a:r>
            <a:r>
              <a:rPr sz="25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26764"/>
            <a:ext cx="94951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1736" y="3826764"/>
            <a:ext cx="647102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텍스트 기반 / GUI 기반 템플릿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4826" y="3826764"/>
            <a:ext cx="728301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콘솔 앱 / Windows Forms 앱 (.NET Framework)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588002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588002"/>
            <a:ext cx="94951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1736" y="4588002"/>
            <a:ext cx="647102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출력 / 입력 메서드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4826" y="4588002"/>
            <a:ext cx="728301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Console.WriteLine() / Console.ReadLine()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49240"/>
            <a:ext cx="94951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1736" y="5349240"/>
            <a:ext cx="647102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 = 10, b = 20의 곱셈 결과 출력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4826" y="5349240"/>
            <a:ext cx="728301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 + " * " + b + " = " + a * 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6110478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80160" y="6110478"/>
            <a:ext cx="94951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1736" y="6110478"/>
            <a:ext cx="647102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합계 코드의 공통 빈칸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4826" y="6110478"/>
            <a:ext cx="728301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Convert.ToInt32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6871716"/>
            <a:ext cx="94951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1736" y="6871716"/>
            <a:ext cx="647102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pb_photo 〈보이기〉 버튼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4826" y="6871716"/>
            <a:ext cx="728301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pb_photo.Visible = true;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" y="7632954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80160" y="7632954"/>
            <a:ext cx="94951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1736" y="7632954"/>
            <a:ext cx="647102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두 점에 선 긋기 빈칸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4826" y="7632954"/>
            <a:ext cx="728301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CreateGraphics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/ </a:t>
            </a:r>
            <a:r>
              <a:rPr sz="25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DrawLine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4번 — 곱셈 *가 +보다 먼저 계산되어 200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p.86~88 · 연습문제 1~7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시험 대비 — 결과를 보고 코드를 떠올리기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콘솔 계산기와 윈폼 그림판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81440"/>
            <a:ext cx="15471648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'1234  +  456  =  1690' → 공백도 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문자열 안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에: a + "  +  " + b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39471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2042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04400"/>
            <a:ext cx="15471648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'…입력하세요 ==&gt; 400' 한 줄에 입력 → 안내문은 </a:t>
            </a:r>
            <a:r>
              <a:rPr sz="23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Write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입력은 </a:t>
            </a:r>
            <a:r>
              <a:rPr sz="23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ReadLine + Convert.ToInt32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21767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24338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027360"/>
            <a:ext cx="15471648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'200/400=0.5' → a, b, result 모두 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double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입력은 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Convert.ToDouble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04063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506634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3" y="4850320"/>
            <a:ext cx="15471648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사진 보이기/감추기 → </a:t>
            </a:r>
            <a:r>
              <a:rPr sz="26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pictureBox1.Visible = true / false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586359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4128" y="588930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2223" y="5673280"/>
            <a:ext cx="15471648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누른 곳에서 뗀 곳까지 빨간 선 → 전역 좌표 + MouseDown·MouseUp + </a:t>
            </a:r>
            <a:r>
              <a:rPr sz="2400" b="0" lang="ko-KR" altLang="en-US">
                <a:solidFill>
                  <a:srgbClr val="2F6FB0"/>
                </a:solidFill>
                <a:latin typeface="프리젠테이션 5 Medium"/>
                <a:ea typeface="프리젠테이션 5 Medium"/>
                <a:cs typeface="프리젠테이션 5 Medium"/>
              </a:rPr>
              <a:t>new Pen(Color.Red, 5)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6943725"/>
            <a:ext cx="16239744" cy="180022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89888" y="713917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다음 장 예고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7766685"/>
            <a:ext cx="15508224" cy="853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CH03 출력 서식과 데이터형 — {0}으로 자리 잡아 출력하기, 진수 변환, 정수·실수·문자 데이터형.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윈폼 문제는 코드 + 폼 설계(Name·Text) + 이벤트 연결 방법까지 쓴다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2장 요약 p.83~85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