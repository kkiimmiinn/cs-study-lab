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학습목표 네 개를 먼저 보여 주고, 결론 한 줄을 미리 던진다. 이 장은 윈폼 없이 전부 콘솔이다.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완성 화면부터 보여 주고 '이걸 만들려면 뭘 알아야 할까'로 이 장의 순서를 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소스 3-1은 두 줄 결과가 같다는 것, 3-2는 { } 밖 글자가 그대로라는 것이 포인트. 0부터 센다는 걸 꼭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3-5의 실제 예외 문구를 읽어 주기. 바른 코드는 Console.WriteLine("{0:D} {1:D}", 100, 200); → 100 200.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3-4처럼 세 값이 세 자리에 하나씩 대응하는 것을 손가락으로 짚어 가며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표의 '값의 예'는 모양 예시. 서식 뒤 숫자(정밀도)에 따라 달라진다: {0:E} 1234 → 1.234000E+003, {0:N} 기본은 소수 둘째 자리.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상자에서 공백 칸 수를 직접 세게 한다: 2칸, 3칸, 0칸, 2칸. 폭이 값보다 좁으면 잘리지 않고 다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3-7(문자열)은 3-5와 같은 원리라 말로만. :S는 사실 무시되고 폭만 적용된다는 것도 참고로.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\는 '다음 글자는 평소 뜻이 아니야'라는 깃발. 경로 "C:\CookC#"를 그대로 쓰면 CS1009(인식할 수 없는 이스케이프 시퀀스).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입력: 메모장에서 ㅁ + 한자 키. 공백은 반드시 따옴표 안에. 슬라이드 글꼴에선 약간 어긋날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그릇 비유: 국그릇에 밥을 담지 않듯 int에 3.14를 담을 수 없다. 문자는 작은따옴표, 문자열은 큰따옴표.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교재는 앞부분을 '소스 3-12의 3~7행과 동일 코드'로 줄여 적었다. 실제로는 선언 5줄이 먼저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진짜 실행: var1 = var2 → 200, var1 = var2 + 100 → 300, 연속 대입 → 100 100 100 100. 두 오류 모두 빌드 단계에서 막힌다.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비트 = 전기 스위치. 표 3-4의 2진수 열은 공간상 뺐다(0~1, 0~11, 0~1111, 0~11111111 …). 1바이트 256가지가 byte형 0~255로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2진수 세는 법: 숫자 2가 없으니 0001 다음은 자리를 올려 0010. 8진수도 있지만 활용도가 낮다(교재 TIP).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C5F7₁₆ = 1100 0101 1111 0111₂ = 50679(진짜 실행). 필요할 때가 아니면 10진수로 굳이 계산하지 않아도 된다(교재 TIP).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칠판에서 147 → 2진수도 직접 나눠 보이면 좋다: 10010011. 그림 3-20(4자리씩 끊기)은 앞 표의 2→16 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147이라는 사람을 한국어·영어 이름으로 불러도 같은 사람. Convert.ToString의 16진수 알파벳은 소문자로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 STUDY 3-2: 숫자→문자열은 ToString, 문자열→숫자는 ToInt32. 교재 결과와 글자 하나까지 같다(bc4ff2 소문자 포함).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환전소 비유. == 같다, != 같지 않다, &amp;&amp; 그리고. 교재는 'if 둘째 줄은 들여써야 오류가 안 난다'고 했지만 C#에서 들여쓰기는 문법이 아니라 가독성 약속이다.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= unsigned. 나이는 byte, 연도는 ushort. 3-20은 대입 전에 100/200이 이미 0이라 0.00. (float)n1 / n2로 바꾸면 0.50(진짜 실행).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7자리·15자리·28자리. 정밀 계산은 double. 최신 .NET(Core 3.0+)에서는 float·double 기본 출력이 달라질 수 있다는 점도 참고로.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코드는 소문자 true, 출력은 대문자 True. (char)를 빼고 ch1 + 1만 찍으면 66이 나온다(진짜 실행). 불형은 5장 if, 6장 while의 조건으로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"C# 비기너"는 공백 포함 6글자. str2[0]은 문자열이 아니라 char. var는 3.14f면 float, 3.14면 double — 한 번 정해진 형식은 바뀌지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응용예제 04의 for는 6장 예습. 연습문제 17(심화)은 i % 2 == 0이면 '*'를 찍어 #* *r*n*i*e* *o* *o*B*o*C*T* 가 된다(진짜 실행, 교재 화면과 동일).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 ③은 100 100, 4번 원래 코드는 오류 없이 1 / 3 = 0. 5번 C는 한국어 Windows에서 ₩. 8번 0.0은 double이라 float에 못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'실행 결과만 주고 코드를 짜게' 하는 유형 대비. 웹 실습실의 결과→코드 문제 다섯 개가 같은 훈련이다. ␣는 공백 한 칸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03  ·  출력 서식과 데이터형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출력 서식과 데이터형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Output Formatting and 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{0} 순번과 서식   ·   폭 지정   ·   이스케이프 문자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변수 선언과 대입   ·   비트·바이트·진수 변환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정수·실수·불·문자·문자열·var형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402014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{순번,폭:서식}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값을 원하는 자리·칸·모양에 출력한다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5356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7927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83826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변수(그릇)를 선언하고,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오른쪽 → 왼쪽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대입 규칙을 설명한다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13537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16109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65638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2·10·16진수를 손으로 바꾸고,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Convert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코드로도 바꾼다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1718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494290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747450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정수·실수·불·문자·문자열·var의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크기와 범위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구분한다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863590"/>
            <a:ext cx="16239744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05904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6686550"/>
            <a:ext cx="15508224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출력은 {순번,폭:서식}으로 자리를 잡고, 값은 알맞은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데이터형의 그릇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담는다.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진수는 저장 방식이 아니라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보여 주는 방식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일 뿐 — 0b10010011도 0x93도 모두 147이다.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3장 학습목표 · p.93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만들 두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40119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3_1_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72422"/>
            <a:ext cx="7607808" cy="31579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13105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13105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3-1 발췌 — [프로그램 1] 다이아몬드 모양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7936992" cy="40119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3_2_rad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3251785"/>
            <a:ext cx="7607808" cy="219923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326880" y="613105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82912" y="613105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3-2 발췌 — [프로그램 2] 진수 변환 출력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84085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703630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어떻게 완성하나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766381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[프로그램 1]은 WriteLine 9줄로 앞 공백과 별 개수만 맞춘다.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[프로그램 2]는 진수 변환을 배운 뒤 </a:t>
            </a:r>
            <a:r>
              <a:rPr sz="21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ReadLine + if + Convert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완성한다 — FFFF → 65535.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01 · p.94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{0}으로 자리 잡아 출력하기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25717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18516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Console.WriteLine("안녕하세요?");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Console.WriteLine("{0}", "안녕하세요?");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Console.WriteLine("이름={0}, 나이={1}", "둘리", 35);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25717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25717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19956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이름=둘리, 나이=35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452110"/>
            <a:ext cx="16239744" cy="32404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564756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6275070"/>
            <a:ext cx="15508224" cy="229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Console.WriteLine("틀", 값0, 값1) — {0}은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0번째 값의 자리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{1}은 1번째 값의 자리. 번호는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0부터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센다.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 } 밖의 글자(이름=, 나이=)는 그대로 나오고, 문자열과 숫자를 섞어 넣어도 된다.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쉽게 말하면 {0}은 빈 의자의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번호표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쉼표 뒤에 줄 선 값들이 순서대로 앉는다.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02-1 · 소스 3-1·3-2 · p.95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글자 100과 숫자 100, 그리고 개수 맞추기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29832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22631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3-3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Console.WriteLine("{0:D}",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Console.WriteLine("100 + 100");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Console.WriteLine("{0:D}", 100 + 100);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Console.WriteLine(String.Format("{0:D}", 100, 200));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Console.WriteLine(String.Format("{0:D} {1:D}", 100));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298323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298323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(마지막 줄에서 멈춤)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240715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+ 100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처리되지 않은 예외: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System.FormatException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812155"/>
            <a:ext cx="7936992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00760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따옴표 안은 글자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6635115"/>
            <a:ext cx="7205472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"100"은 글자 '일영영', 100은 숫자 '백'.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"100 + 100"은 계산되지 않고, 100 + 100은 </a:t>
            </a:r>
            <a:r>
              <a:rPr sz="24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200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되어 들어간다. 형태는 </a:t>
            </a:r>
            <a:r>
              <a:rPr sz="24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{순번:서식}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812155"/>
            <a:ext cx="7936992" cy="288036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29216" y="5987034"/>
            <a:ext cx="71323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자리와 값의 개수를 맞춘다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6449949"/>
            <a:ext cx="7132320" cy="20985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값이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남으면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조용히 버려지고(100만 출력),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모자라면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실행 중 FormatException. 빌드는 성공하니 더 위험하다.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예외 전체 문구: 0에서 시작하는 인덱스는 0보다 크거나 같아야 하며 인수 목록의 크기보다 작아야 합니다.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02-1 · 소스 3-3~3-5 · p.96~98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값에 맞는 서식 고르기 — D와 F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1602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550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5435071" cy="14401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3-6 — 세 번째 값 0.5는 실수인데 서식이 D(정수)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/ {1:D} = {2:D}", 100, 200, 0.5);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3-7 — 세 번째 자리를 {2:F}로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/ {1:D} = {2:F}", 100, 200, 0.5);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989195"/>
            <a:ext cx="16239744" cy="14916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989195"/>
            <a:ext cx="91440" cy="14916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092065"/>
            <a:ext cx="1550822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(윗줄: 소스 3-6 · 아랫줄: 소스 3-7)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441823"/>
            <a:ext cx="15435071" cy="9155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처리되지 않은 예외: System.FormatException: 서식 지정자가 잘못되었습니다.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/ 200 = 0.50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737985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9334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출력하는 값에 따라 서식이 다르다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560945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100·200은 정수라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D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0.5는 실수라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F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F의 기본은 소수점 아래 두 자리 →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0.50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쉽게 말하면 서식은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값의 옷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실수에게 정수 옷(D)은 맞지 않아 오류가 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02-2 · 소스 3-6·3-7 · 그림 3-4 · p.98~99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서식 문자 일곱 가지 — 진짜로 찍어 보면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18506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서식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7558" y="2571750"/>
            <a:ext cx="475780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뜻 (교재 표 3-1)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4276" y="2571750"/>
            <a:ext cx="44330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코드 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36199" y="2571750"/>
            <a:ext cx="410821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진짜 출력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086100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통화값 · 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852" y="3086100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{0:C}, 1234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72775" y="3086100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₩1,234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23894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4134" y="3723894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· Decimal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0852" y="3723894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{0:D5},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72775" y="3723894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00042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361688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361688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4134" y="4361688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지수 표기법 · Exponent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852" y="4361688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{0:E2}, 1234.56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72775" y="4361688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1.23E+003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99482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4134" y="4999482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고정 소수점 · Floating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0852" y="4999482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{0:F2}, 1234.5678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72775" y="4999482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1234.57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637276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637276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4134" y="5637276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 자리 콤마 · 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0852" y="5637276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{0:N}, 1234567.89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72775" y="5637276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1,234,567.89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275070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4134" y="6275070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백분율 · Percentage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0852" y="6275070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{0:P2}, 0.1234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72775" y="6275070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12.34%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6912864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6912864"/>
            <a:ext cx="111191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4134" y="6912864"/>
            <a:ext cx="468465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16진수 · Hex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0852" y="6912864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{0:X}, 255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72775" y="6912864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FF (x면 ff)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" y="7715250"/>
            <a:ext cx="16239744" cy="9772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426464" y="7715250"/>
            <a:ext cx="1543507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C는 교재처럼 $가 아니라 컴퓨터의 지역 설정을 따른다 — 한국어 Windows는 ₩ (콘솔에선 \로 보인다)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P는 값에 100을 곱한다 — 35%를 찍으려면 0.35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표 3-1 · p.99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폭을 정해 줄 맞추기 — 소스 3-8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Console.WriteLine("{0:D}", 123);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Console.WriteLine("{0,5:D}", 123);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Console.WriteLine("{0,5:D5}", 123);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Console.WriteLine("{0:F}", 123.456);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Console.WriteLine("{0,8:F1}", 123.456);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Console.WriteLine("{0,8:F4}", 123.456);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Console.WriteLine("{0:S}", "CSharp");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Console.WriteLine("{0,8:S}", "CSharp");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4975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34975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(앞 공백까지 실제 그대로)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9215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123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00123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123.46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123.5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123.4560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CSharp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CSharp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326505"/>
            <a:ext cx="16239744" cy="23660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52195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{순번,폭:서식}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149465"/>
            <a:ext cx="15508224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폭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(콤마 뒤 숫자) = 전체 칸 수 → 칸을 먼저 잡고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오른쪽에 붙여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출력.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서식 뒤 숫자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(D5, F1, F4) = 숫자 자릿수 → D5는 빈 자리를 0으로, F1은 소수 한 자리(반올림).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{0:5:D}처럼 콜론을 쓰면 오류 없이 '5:D'가 글자로 찍힌다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02-3 · 소스 3-8 · p.100~101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칸으로 보면 — 정수와 실수의 자리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43205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3_5_int_f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279" y="2664333"/>
            <a:ext cx="6008690" cy="36827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43966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43966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3-5 발췌 — 정수형 데이터 서식 지정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7936992" cy="43205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3_6_real_fm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699329"/>
            <a:ext cx="7607808" cy="361275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326880" y="643966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82912" y="643966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3-6 발췌 — 실수형 데이터 서식 지정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7098030"/>
            <a:ext cx="16239744" cy="15944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729348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주차 칸과 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7920990"/>
            <a:ext cx="15508224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5칸 구역에 3칸짜리 차를 오른쪽 벽에 붙여 대면 왼쪽 2칸이 빈다. 문자열 {0,8:S}도 같다 → 공백 2칸 + CSharp. 폭에 음수({0,-8})를 주면 왼쪽에 붙는다.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그림 3-5~3-7 · p.100~101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역슬래시로 부리는 특수 문자 — 이스케이프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60934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문자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71750"/>
            <a:ext cx="482803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뜻 (표 3-2)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731520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308610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줄 · [Enter]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370332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다음 탭 · [Tab]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320540"/>
            <a:ext cx="731520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32054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432054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뒤로 한 칸 · [Backspace]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3776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493776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 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554980"/>
            <a:ext cx="731520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55498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555498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 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172200"/>
            <a:ext cx="153619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6172200"/>
            <a:ext cx="47548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 출력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943725"/>
            <a:ext cx="731520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7139178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소스 3-9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7766685"/>
            <a:ext cx="658368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"한 행입니다. \n또 한 행입니다." → </a:t>
            </a:r>
            <a:r>
              <a:rPr sz="18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\n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자리에서 줄이 바뀐다.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571750"/>
            <a:ext cx="8485632" cy="22631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0" y="2674620"/>
            <a:ext cx="7754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3-10 · Main 안의 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3168396"/>
            <a:ext cx="768096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Console.WriteLine("\n줄바꿈\n연습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Console.WriteLine("\t탭키\t연습");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Console.WriteLine("글자가 \"강조\"되는 효과1");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Console.WriteLine("글자가 \'강조\'되는 효과2");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Console.WriteLine("\\\\\\ 역슬래쉬 세 개 출력");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Console.WriteLine("\\n \\t \\를 그대로 출력");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5092065"/>
            <a:ext cx="8485632" cy="36004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778240" y="5092065"/>
            <a:ext cx="91440" cy="36004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4000" y="5194935"/>
            <a:ext cx="77541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(첫 줄은 빈 줄 · 탭은 8칸 단위)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5544693"/>
            <a:ext cx="7680960" cy="30243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줄바꿈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연습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탭키    연습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글자가 "강조"되는 효과1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글자가 '강조'되는 효과2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\\\ 역슬래쉬 세 개 출력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\n \t \를 그대로 출력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역슬래시 하나 = 문자열 안 \\ 두 개 → 세 개 찍으려면 여섯 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02-4 · 소스 3-9·3-10 · p.101~103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별 다이아몬드 — 소스 3-11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    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  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★★★★★");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★★★★★★★");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Console.WriteLine("★★★★★★★★★");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★★★★★★★");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★★★★★");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  ★★★");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       ★");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571750"/>
            <a:ext cx="7754112" cy="37033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509760" y="2571750"/>
            <a:ext cx="91440" cy="37033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0" y="2674620"/>
            <a:ext cx="70225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3024378"/>
            <a:ext cx="6949440" cy="31272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★★★★★★★★★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532245"/>
            <a:ext cx="16239744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72769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공백 칸 수의 원리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355205"/>
            <a:ext cx="1550822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한국어 콘솔에서 ★는 </a:t>
            </a:r>
            <a:r>
              <a:rPr sz="22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2칸 폭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별이 2개씩 줄면 앞 공백은 </a:t>
            </a:r>
            <a:r>
              <a:rPr sz="22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2칸씩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늘린다(8·6·4·2·0·2·4·6·8).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SELF STUDY 3-1 하트 모래시계는 이 순서를 뒤집은 것(0·2·4·6·8·8·6·4·2·0). 반복문 버전은 6장에서.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인쇄본은 글꼴 탓에 공백이 4·3·2·1칸처럼 보인다 — 콘솔 기준 원리로 맞출 것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02-5 · 소스 3-11 · SELF STUDY 3-1 · p.103~104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변수는 이름 붙은 그릇 — 소스 3-12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3_9_v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606" y="2664333"/>
            <a:ext cx="7288788" cy="18310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58800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58800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3-9 발췌 — 불형·정수형·실수형·문자·문자열 변수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297805"/>
            <a:ext cx="8778240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400675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 (출력 없음)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894451"/>
            <a:ext cx="7973568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bool boolVar = true;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intVar = 0;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floatVar = 0.0f;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charVar = ' ';        // 공백문자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strVar = " ";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5297805"/>
            <a:ext cx="702259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60736" y="5297805"/>
            <a:ext cx="30723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이름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72032" y="5297805"/>
            <a:ext cx="30723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5812155"/>
            <a:ext cx="7022592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97312" y="5812155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대소문자 구분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08608" y="5812155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myVar ≠ MyVar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6696837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숫자로 시작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08608" y="6696837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2Var ×, _var 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7581519"/>
            <a:ext cx="7022592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497312" y="7581519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예약어 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8608" y="7581519"/>
            <a:ext cx="2999232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int, if, sizeof 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float는 f 필수(없으면 CS0664) · char는 반드시 한 글자('' 는 CS1011)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03-1 · 소스 3-12 · p.105~106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GetType()으로 종류 확인, 대입으로 값 교체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3-13 (앞 5줄은 소스 3-12와 같음)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Console.WriteLine(boolVar.GetType());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Console.WriteLine(intVar.GetType());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Console.WriteLine(floatVar.GetType());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Console.WriteLine(charVar.GetType());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Console.WriteLine(strVar.GetType());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3-14 — 새 값을 넣으면 예전 값은 사라진다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boolVar = false;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intVar = 100;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floatVar = 123.45f;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charVar = 'A';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strVar = "안녕?";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9090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39090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(소스 3-13)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33329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System.Boolean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System.Int32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System.Single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System.Char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737985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9334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이름만 다른 같은 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560945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bool = Boolean, int = Int32, float = </a:t>
            </a:r>
            <a:r>
              <a:rPr sz="23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Single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char = Char, string = String.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 3-14는 출력이 없다 — 끝에 WriteLine을 붙여 찍어 보면 False 100 123.45 A 안녕?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03-1~2 · 소스 3-13·3-14 · p.106~107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대입은 오른쪽에서 왼쪽으로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3-15와 교재 p.108~110의 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var1, var2, var3, var4;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var2 = 200;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var1 = var2;           // 값(200)만 복사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var1 = 100 + 100;      // 먼저 계산 → 200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var1 = var2 + 100;     // 200 + 100 → 300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var1 = var2 = var3 = var4 = 100;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var1 = var1 + 200;     // 누적 → 300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571750"/>
            <a:ext cx="7388352" cy="164592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77856" y="2746629"/>
            <a:ext cx="658368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값 없는 그릇을 오른쪽에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3209544"/>
            <a:ext cx="6583680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noVar; noVar = noVar + 200;</a:t>
            </a:r>
          </a:p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CS0165 할당되지 않은 지역 변수 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423410"/>
            <a:ext cx="7388352" cy="164592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77856" y="4598289"/>
            <a:ext cx="658368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왼쪽에 그릇이 없으면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7856" y="5061204"/>
            <a:ext cx="6583680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 = 100;</a:t>
            </a:r>
          </a:p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CS0131 할당식의 왼쪽은 변수여야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6326505"/>
            <a:ext cx="16239744" cy="23660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652195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규칙 두 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7149465"/>
            <a:ext cx="15508224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=를 쓰면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오른쪽 값이 왼쪽으로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그래서 왼쪽에는 그릇(변수)만 온다.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오른쪽에는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상수·변수·계산 값·메서드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무엇이든 온다. 연속 대입은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맨 뒤부터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(넷 다 100).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=는 '같다'가 아니라 왼쪽 화살표(←). '같다'는 ==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03-2~3 · 소스 3-15 · 그림 3-11~3-17 · p.107~110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0과 1의 세계 — 비트와 바이트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스위치 2개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1532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꺼짐, 꺼짐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9481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꺼짐, 켜짐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7430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켜짐, 꺼짐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35379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켜짐, 켜짐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086100"/>
            <a:ext cx="16239744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3086100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8108" y="3086100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6057" y="3086100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4006" y="3086100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71955" y="3086100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21024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8108" y="3621024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6057" y="3621024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4006" y="3621024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71955" y="3621024"/>
            <a:ext cx="273588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432054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43584" y="432054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비트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7148" y="432054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바이트 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0712" y="4320540"/>
            <a:ext cx="378342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표현 개수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3045" y="4320540"/>
            <a:ext cx="345862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10진수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10584" y="432054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16진수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4834890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48348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3724" y="48348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5827288" y="483489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2¹ =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9621" y="483489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47160" y="483489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3492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3724" y="53492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827288" y="534924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2² =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9621" y="534924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47160" y="534924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" y="5863590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80160" y="58635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3724" y="58635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827288" y="586359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2⁴ =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49621" y="586359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47160" y="586359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63779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53724" y="63779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7288" y="637794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2⁸ = 256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49621" y="637794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0~255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947160" y="637794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0~FF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4128" y="6892290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280160" y="68922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53724" y="68922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27288" y="689229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2¹⁶ = 65536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9621" y="689229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0~65535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47160" y="689229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0~FFFF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74066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53724" y="740664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27288" y="740664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2³² = 약 42억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49621" y="740664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0~약 42억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947160" y="740664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0~FFFF FFFF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4128" y="7920990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280160" y="79209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53724" y="7920990"/>
            <a:ext cx="1761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7288" y="7920990"/>
            <a:ext cx="37102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2⁶⁴ = 약 1800경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49621" y="7920990"/>
            <a:ext cx="33854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0~약 1800경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947160" y="7920990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 … 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n개의 비트로 표현할 수 있는 경우의 수 = 2ⁿ · 1바이트 = 8비트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04-1 · 그림 3-18 · 표 3-4 · p.111~113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10진수 · 2진수 · 16진수 대응표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10진수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7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2진수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16진수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5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10진수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2진수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76704" y="2571750"/>
            <a:ext cx="22677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16진수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3086100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7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1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06656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0" y="308610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3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7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1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06656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0" y="366217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4238244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80160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783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7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1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06656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0" y="4238244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0011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7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1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06656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0" y="4814316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4128" y="5390388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80160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783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1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06656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813280" y="5390388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6783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0101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7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1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06656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13280" y="5966460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" y="6542532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80160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86783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0110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3407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0031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06656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813280" y="6542532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86783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0111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7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0031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06656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13280" y="7118603"/>
            <a:ext cx="21945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24128" y="7818120"/>
            <a:ext cx="16239744" cy="8743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426464" y="7818120"/>
            <a:ext cx="15435071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2진수 네 자리 = 16진수 한 자리 (1111 = F) — 16진수를 쓰는 이유는 이것 하나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표 3-3 · 표 3-5 · p.112~113, 117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진수 변환 원리 한눈에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7148" y="2571750"/>
            <a:ext cx="768096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7020" y="2571750"/>
            <a:ext cx="540739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예 (진짜 실행 확인)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→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724" y="3086100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뒤에서부터 2⁰·2¹·2²…를 곱해 모두 더한다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73596" y="3086100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1001 0011₂ = 128+16+2+1 = 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7338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→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724" y="3847338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뒤에서부터 4자리씩 끊어 한 자리로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73596" y="3847338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1001│0011 = 93₁₆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60857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608576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 →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724" y="4608576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16⁰·16¹…을 곱해 더한다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73596" y="4608576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9×16 + 3 = 147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69814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 →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3724" y="5369814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2로 계속 나눈 나머지를 아래에서 위로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73596" y="5369814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 → 1101₂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13105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6131052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 →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3724" y="6131052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자리를 2진수 4자리로, 앞 0은 지움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73596" y="6131052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13₁₆ → 10011₂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6892290"/>
            <a:ext cx="176150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 ↔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3724" y="6892290"/>
            <a:ext cx="760780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8로 나눈 나머지 / 8⁰·8¹·8²를 곱해 더함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73596" y="6892290"/>
            <a:ext cx="533424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147 = 223₈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7766685"/>
            <a:ext cx="16239744" cy="92583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426464" y="7766685"/>
            <a:ext cx="15435071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8진수 행은 교재에 계산 예가 없어 같은 원리로 보충한 것 — Convert.ToString(147, 8) → 223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04-2 · 그림 3-19~3-24 · p.113~117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손으로 바꾸는 두 방향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3205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3_19_bin2d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67" y="2664333"/>
            <a:ext cx="8974881" cy="36827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439662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439662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3-19 발췌 — 2진수를 10진수로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2571750"/>
            <a:ext cx="6291072" cy="43205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3_21_dec2b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642" y="2664333"/>
            <a:ext cx="4923387" cy="36827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972800" y="6439662"/>
            <a:ext cx="629107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228832" y="6439662"/>
            <a:ext cx="577900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3-21 발췌 — 10진수를 2진수로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7098030"/>
            <a:ext cx="16239744" cy="15944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729348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요령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7920990"/>
            <a:ext cx="15508224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→ 10: 자리마다 128·64·32·16·8·4·2·1을 곱해 더한다.  10 → 2: 2로 나눈 나머지를 모아 </a:t>
            </a:r>
            <a:r>
              <a:rPr sz="17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아래에서 위로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읽는다(13 → 1101₂).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그림 3-19·3-21 · p.114, 116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진수로 넣고, 진수로 꺼내기 — 소스 3-16·3-17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byte decData, binData, hexData;  // 10진수, 2진수, 16진수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decData = 147;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binData = 0b10010011;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hexData = 0x93;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3-16: 그냥 출력하면 전부 10진수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Console.WriteLine("10진수(decData) : " + decData);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Console.WriteLine("2진수(binData) : " + binData);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Console.WriteLine("16진수(hexData) : " + hexData);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3-17: Convert.ToString(값, 진수)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Console.WriteLine("10진수(decData) : " + Convert.ToString(decData, 10));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Console.WriteLine("2진수(binData) : " + Convert.ToString(binData, 2));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Console.WriteLine("16진수(hexData) : " + Convert.ToString(hexData, 16));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20059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04320" y="2571750"/>
            <a:ext cx="91440" cy="20059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0" y="2674620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· 소스 3-16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06656" y="3024378"/>
            <a:ext cx="4754880" cy="14298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10진수(decData) : 147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2진수(binData) : 147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16진수(hexData) : 147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4783455"/>
            <a:ext cx="5559552" cy="20059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704320" y="4783455"/>
            <a:ext cx="91440" cy="20059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070080" y="4886325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· 소스 3-17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06656" y="5236083"/>
            <a:ext cx="4754880" cy="14298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10진수(decData) : 147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2진수(binData) : 10010011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16진수(hexData) : 93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6995160"/>
            <a:ext cx="16239744" cy="16973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19061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진수는 표기일 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7818120"/>
            <a:ext cx="1550822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0b(2진수)·0x(16진수)로 넣어도 저장된 값은 </a:t>
            </a:r>
            <a:r>
              <a:rPr sz="17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147 하나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기본 출력은 10진수. byte는 </a:t>
            </a:r>
            <a:r>
              <a:rPr sz="17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0~255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256을 넣으면 CS0031 컴파일 오류.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숫자 중간 언더바 가능: 0b1001_0011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04-2 · 소스 3-16·3-17 · p.114~115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거꾸로 — 문자열을 진수로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17487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1028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Console.WriteLine(Convert.ToInt32("12341234", 10));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Console.WriteLine(Convert.ToInt32("11111111", 2));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Console.WriteLine(Convert.ToInt32("FFFF", 16));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526280"/>
            <a:ext cx="8046720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526280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462915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978908"/>
            <a:ext cx="7242048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12341234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255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65535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326505"/>
            <a:ext cx="8046720" cy="23660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521958"/>
            <a:ext cx="73152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방향이 반대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149465"/>
            <a:ext cx="7315200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Convert.ToString(숫자, 진수) →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문자열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Convert.ToInt32(문자열, 진수) → </a:t>
            </a:r>
            <a:r>
              <a:rPr sz="26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정수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571750"/>
            <a:ext cx="7754112" cy="31889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3-2 풀이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3168396"/>
            <a:ext cx="6949440" cy="2468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num = 12341234;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Console.WriteLine("10진수 : " + num);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Console.WriteLine("2진수 : " + Convert.ToString(num, 2));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Console.WriteLine("16진수 : " + Convert.ToString(num, 16));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Console.WriteLine("-----------------------------");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hex = "ABCDEF";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num2 = Convert.ToInt32(hex, 16);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Console.WriteLine("16진수 : " + hex);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Console.WriteLine("10진수 : " + num2);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Console.WriteLine("2진수 : " + Convert.ToString(num2, 2));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5966460"/>
            <a:ext cx="7754112" cy="272605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509760" y="5966460"/>
            <a:ext cx="91440" cy="272605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0" y="6069330"/>
            <a:ext cx="70225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6419088"/>
            <a:ext cx="6949440" cy="21499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10진수 : 12341234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2진수 : 101111000100111111110010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16진수 : bc4ff2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-----------------------------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16진수 : ABCDEF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10진수 : 11259375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2진수 : 101010111100110111101111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본문의 'Convert.ToInt(문자열, 진수)'는 Convert.ToInt32의 오기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소스 3-18 · SELF STUDY 3-2 · p.117~118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진수 변환기 — 소스 3-19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sel;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num;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num10 = 0;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Console.Write("입력 진수 결정(16/10/2) :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sel = Convert.ToInt32(Console.ReadLine());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Console.Write("값 입력 :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Console.ReadLine();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(sel == 16)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num10 = Convert.ToInt32(num, 16);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(sel == 10)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num10 = Convert.ToInt32(num, 10);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(sel == 2)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num10 = Convert.ToInt32(num, 2);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Console.WriteLine("16진수 =&gt; " + Convert.ToString(num10, 16));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Console.WriteLine("10진수 =&gt; " + Convert.ToString(num10, 10));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 2진수 =&gt; " + Convert.ToString(num10, 2));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0574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20574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(입력 16, FFFF)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입력 진수 결정(16/10/2) : 16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 입력 : FFFF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16진수 =&gt; ffff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10진수 =&gt; 65535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2진수 =&gt; 1111111111111111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4834890"/>
            <a:ext cx="6656832" cy="20574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4937760"/>
            <a:ext cx="5925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3-3 · 8행 뒤에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9376" y="5431536"/>
            <a:ext cx="5852160" cy="13373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(sel != 16 &amp;&amp; sel != 10 &amp;&amp; sel != 2)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Console.WriteLine("16, 10, 2 숫자 중 하나만 입력하세요");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7098030"/>
            <a:ext cx="6656832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607040" y="7098030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0" y="720090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(입력 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9376" y="7550658"/>
            <a:ext cx="5852160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입력 진수 결정(16/10/2) : 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16, 10, 2 숫자 중 하나만 입력하세요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값은 문자열로 받는다(A~F) → 일단 10진수 정수로 통일 → 세 진수로 출력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04-3 · 소스 3-19 · SELF STUDY 3-3 · p.118~120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기본 데이터형 ① 정수형 여덟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67225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C# 형식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4750" y="2571750"/>
            <a:ext cx="297143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.NET 형식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5096" y="2571750"/>
            <a:ext cx="784335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값의 범위 (교재 표 3-6 원문)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7366" y="2571750"/>
            <a:ext cx="199704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크기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sbyte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1326" y="3086100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System.SByte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1672" y="3086100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-128~127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3942" y="3086100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Byte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38728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byte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1326" y="3538728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1672" y="3538728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0~255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3942" y="3538728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Byte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3991356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3991356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1326" y="3991356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System.Int16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1672" y="3991356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-2¹⁵(-32768)~2¹⁵-1(32767)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3942" y="3991356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Byte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443984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ushort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1326" y="4443984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System.UInt16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1672" y="4443984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0~2¹⁶-1(65535)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3942" y="4443984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Byte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4896612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4896612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1326" y="4896612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System.Int32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1672" y="4896612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2³¹(약 -21억)~2³¹-1(약 21억)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3942" y="4896612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 Byte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349240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1326" y="5349240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System.UInt32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1672" y="5349240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0~2³²-1(약 42억)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3942" y="5349240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 Byte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5801868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5801868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long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1326" y="5801868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System.Int64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1672" y="5801868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-2⁶³(약 -900경)~ 2⁶³-1(약 900경)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3942" y="5801868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 Byte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6254496"/>
            <a:ext cx="159910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ulong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1326" y="6254496"/>
            <a:ext cx="289828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System.UInt64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1672" y="6254496"/>
            <a:ext cx="77702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~ 2⁶⁴-1(약 1800경)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3942" y="6254496"/>
            <a:ext cx="192389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 Byte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" y="6892290"/>
            <a:ext cx="8412480" cy="180022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389888" y="699516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26464" y="7488936"/>
            <a:ext cx="7607808" cy="108013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n1 = 100, n2 = 200;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result;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n1 / n2;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Console.WriteLine(String.Format("{0:F} ", result));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02368" y="6892290"/>
            <a:ext cx="2926080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9802368" y="6892290"/>
            <a:ext cx="91440" cy="18002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168128" y="6995160"/>
            <a:ext cx="21945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04704" y="7344918"/>
            <a:ext cx="2121408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0.00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094208" y="6892290"/>
            <a:ext cx="4169664" cy="18002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3459968" y="7087743"/>
            <a:ext cx="34381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연산 규칙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459968" y="7715250"/>
            <a:ext cx="343814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÷ 정수 = </a:t>
            </a:r>
            <a:r>
              <a:rPr sz="19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정수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실수가 하나라도 끼면 실수.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int 하한은 교재에 부호가 빠져 인쇄 — 정확히는 -2³¹ = -2147483648(int.MinValue)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05-1 · 표 3-6 · 소스 3-20 · p.121~122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기본 데이터형 ② 실수형 세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67225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C# 형식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4750" y="2571750"/>
            <a:ext cx="26466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.NET 형식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0302" y="2571750"/>
            <a:ext cx="605698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값의 범위 (교재 표 3-7)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36199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소수점 아래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09763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086100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3086100"/>
            <a:ext cx="159910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float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1326" y="3086100"/>
            <a:ext cx="257348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System.Single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78" y="3086100"/>
            <a:ext cx="598383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±1.5 x 10⁻⁴⁵ ~ ±3.4 x 10³⁸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72775" y="3086100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6~9개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6339" y="3086100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23894"/>
            <a:ext cx="159910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double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1326" y="3723894"/>
            <a:ext cx="257348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System.Double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78" y="3723894"/>
            <a:ext cx="598383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±5.0 × 10⁻³²⁴ ~ ±1.7 × 10³⁰⁸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72775" y="3723894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15~17개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6339" y="3723894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 Byte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4361688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80160" y="4361688"/>
            <a:ext cx="159910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decimal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1326" y="4361688"/>
            <a:ext cx="257348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System.Decimal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78" y="4361688"/>
            <a:ext cx="598383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±1.0 x 10⁻²⁸ ~ ±7.9228 x 10²⁸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72775" y="4361688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28~29개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6339" y="4361688"/>
            <a:ext cx="1761500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 Byte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194935"/>
            <a:ext cx="10241280" cy="22631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389888" y="5297805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5791581"/>
            <a:ext cx="9436608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flt = 0.12345678901234567890123456789f;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double dbl = 0.12345678901234567890123456789;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decimal dec = 0.12345678901234567890123456789m;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Console.WriteLine(flt);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Console.WriteLine(dbl);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Console.WriteLine(dec);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04320" y="5194935"/>
            <a:ext cx="5559552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1704320" y="5194935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0" y="5297805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06656" y="5647563"/>
            <a:ext cx="4754880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0.1234568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0.123456789012346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0.1234567890123456789012345679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" y="7663815"/>
            <a:ext cx="16239744" cy="102870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426464" y="7663815"/>
            <a:ext cx="15435071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접미사: float는 f, decimal은 m, 아무것도 없으면 double — float f = 3.14; 는 CS0664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05-2 · 표 3-7 · 소스 3-21 · p.122~123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기본 데이터형 ③ 불형과 문자형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21602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949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876288" cy="14401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bool b1 = true;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bool b2 = (100 == 100);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bool b3 = (10 &gt; 100);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Console.WriteLine(b1);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Console.WriteLine(b2);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Console.WriteLine(b3);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937760"/>
            <a:ext cx="7680960" cy="14916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4937760"/>
            <a:ext cx="91440" cy="14916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040630"/>
            <a:ext cx="69494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390388"/>
            <a:ext cx="6876288" cy="9155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635115"/>
            <a:ext cx="7680960" cy="20574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830568"/>
            <a:ext cx="69494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7458075"/>
            <a:ext cx="6949440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bool 1 Byte · True/False만(논리형).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char 2 Byte · 유니코드 한 글자 — '\u0041' = 'A'.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2571750"/>
            <a:ext cx="8046720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82912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168396"/>
            <a:ext cx="7242048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ch1 = 'A';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ch2 = '\u0041';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ch3 = '가';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ch4 = '\uAC00';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Console.WriteLine(ch1);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Console.WriteLine(ch2);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Console.WriteLine(ch3);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Console.WriteLine(ch4);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Console.WriteLine((char)(ch1 + 1));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Console.WriteLine((char)(ch3 + 1));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6069330"/>
            <a:ext cx="8046720" cy="26231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217152" y="6069330"/>
            <a:ext cx="91440" cy="26231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82912" y="617220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6521958"/>
            <a:ext cx="7242048" cy="20471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가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가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B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'A' + 1은 숫자 66 → (char)로 바꿔야 'B'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05-3~4 · 표 3-8·3-9 · 소스 3-22·3-23 · p.123~125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기본 데이터형 ④ 문자열형과 var형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29832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22631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str1 = "IT CookBook~";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str2 = "C# 비기너";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str3 = str1 + str2;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Console.WriteLine(str3);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Console.WriteLine(str2.Length);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Console.WriteLine(str2[0]);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Console.WriteLine(str2[0].GetType());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Console.WriteLine(str2[str2.Length - 1]);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760720"/>
            <a:ext cx="8046720" cy="293179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5760720"/>
            <a:ext cx="91440" cy="293179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86359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213348"/>
            <a:ext cx="7242048" cy="235572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IT CookBook~C# 비기너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System.Char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71750"/>
            <a:ext cx="7754112" cy="29832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3-25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168396"/>
            <a:ext cx="6949440" cy="22631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 data1 = 100;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 data2 = "C# 코딩";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 data3 = 3.14f;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var data4 = 3.14;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Console.WriteLine(data1.GetType());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Console.WriteLine(data2.GetType());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Console.WriteLine(data3.GetType());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Console.WriteLine(data4.GetType());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5760720"/>
            <a:ext cx="7754112" cy="293179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509760" y="5760720"/>
            <a:ext cx="91440" cy="293179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0" y="5863590"/>
            <a:ext cx="70225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6213348"/>
            <a:ext cx="6949440" cy="235572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System.Int32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System.String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System.Single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System.Double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첨자는 0부터 · 마지막 글자는 [Length - 1] · var는 초기값 필수(없으면 CS0818)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SECTION 05-5~6 · 표 3-10 · 소스 3-24·3-25 · p.125~127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응용예제 03·04 — 크기 재기와 거꾸로 찍기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응용예제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Console.WriteLine("sbyte형   기본 크기 --&gt; " + sizeof(sbyte));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Console.WriteLine("byte형    기본 크기 --&gt; " + sizeof(byte));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Console.WriteLine("short형   기본 크기 --&gt; " + sizeof(short));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Console.WriteLine("ushort형  기본 크기 --&gt; " + sizeof(ushort));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Console.WriteLine("int형     기본 크기 --&gt; " + sizeof(int));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Console.WriteLine("uint형    기본 크기 --&gt; " + sizeof(uint));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Console.WriteLine("long형    기본 크기 --&gt; " + sizeof(long));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Console.WriteLine("ulong형   기본 크기 --&gt; " + sizeof(ulong));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Console.WriteLine("char형    기본 크기 --&gt; " + sizeof(char));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Console.WriteLine("float형   기본 크기 --&gt; " + sizeof(float));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Console.WriteLine("double형  기본 크기 --&gt; " + sizeof(double));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Console.WriteLine("decimal형 기본 크기 --&gt; " + sizeof(decimal));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Console.WriteLine("bool형    기본 크기 --&gt; " + sizeof(bool));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4975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34975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9215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sbyte형   기본 크기 --&gt; 1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byte형    기본 크기 --&gt; 1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short형   기본 크기 --&gt; 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ushort형  기본 크기 --&gt; 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int형     기본 크기 --&gt; 4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uint형    기본 크기 --&gt; 4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long형    기본 크기 --&gt; 8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ulong형   기본 크기 --&gt; 8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char형    기본 크기 --&gt; 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float형   기본 크기 --&gt; 4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double형  기본 크기 --&gt; 8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decimal형 기본 크기 --&gt; 16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bool형    기본 크기 --&gt;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275070"/>
            <a:ext cx="9144000" cy="241744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37794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응용예제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6871716"/>
            <a:ext cx="8339328" cy="16973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inStr = "";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Console.Write("문자열을 입력 --&gt;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inStr = Console.ReadLine();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inStr.Length - 1; i &gt;= 0; i--)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Console.Write(inStr[i]);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6275070"/>
            <a:ext cx="6656832" cy="241744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607040" y="6275070"/>
            <a:ext cx="91440" cy="241744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0" y="637794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(입력 IT CookBook for Beginner, C#)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9376" y="6727698"/>
            <a:ext cx="5852160" cy="184137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문자열을 입력 --&gt; IT CookBook for Beginner, C#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#C ,rennigeB rof kooBkooC 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sizeof 결과가 표 3-6~3-9의 크기와 정확히 같다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응용예제 03·04 · p.135~136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1~17 정답 한눈에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86026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763" y="2571750"/>
            <a:ext cx="638178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정답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6" y="2571750"/>
            <a:ext cx="86026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번호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2635" y="2571750"/>
            <a:ext cx="638178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정답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64808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9339" y="3086100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086100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9211" y="3086100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④ GetType(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34181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9339" y="3734181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##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734181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9211" y="3734181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382262"/>
            <a:ext cx="16239744" cy="64808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382262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9339" y="4382262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④, 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382262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9211" y="4382262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없는 myData 사용 → CS0165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30343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9339" y="5030343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{2:F} + 1.0 / 3 → 0.33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5030343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9211" y="5030343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③ 8개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678424"/>
            <a:ext cx="16239744" cy="64808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678424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9339" y="5678424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 · C · P · 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5678424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9211" y="5678424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· 7 · A ·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326505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9339" y="6326505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{0,8:D8} · {0,8:F4} · {0,8:S}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2" y="6326505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9211" y="6326505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Convert.ToString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6974586"/>
            <a:ext cx="16239744" cy="64808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6974586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9339" y="6974586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\n · \b · \t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6974586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9211" y="6974586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System.Byte · Int32 · UInt64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7622667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9339" y="7622667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0.0f · "" · false · 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7622667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9211" y="7622667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 % 2 == 0이면 '*' 출력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" y="8270748"/>
            <a:ext cx="16239744" cy="64808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80160" y="8270748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79339" y="8270748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(거꾸로 설명)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0032" y="8270748"/>
            <a:ext cx="787115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10699211" y="8270748"/>
            <a:ext cx="6308628" cy="6480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57" name="Rectangle 5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코드형 정답은 모두 진짜 컴파일러로 확인 — 풀이 과정은 정리 노트 15절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연습문제 · p.131~134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출력 서식과 데이터형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402014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␣␣123 / 00123 / ␣␣␣123.5 →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{0,5:D} · {0,5:D5} · {0,8:F1}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5356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7927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83826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\\\ 역슬래쉬 세 개 출력 → 문자열 안에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역슬래시 여섯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13537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16109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65638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다이아몬드 → 앞 공백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8·6·4·2·0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별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1·3·5·7·9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후 대칭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1718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494290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747450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10010011 / 93 →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Convert.ToString(147, 2)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Convert.ToString(147, 16)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69899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572471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3" y="5529262"/>
            <a:ext cx="15471648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System.Single / System.Double →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var d3 = 3.14f;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</a:t>
            </a:r>
            <a:r>
              <a:rPr sz="2500" b="0" lang="ko-KR" altLang="en-US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var d4 = 3.14;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635115"/>
            <a:ext cx="16239744" cy="20574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83056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458075"/>
            <a:ext cx="1550822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CH04 계산 규칙과 거북이 그림 — 이번 장에서 맛본 / · % · == · &amp;&amp; 를 포함해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산술·비교·논리·비트·시프트 연산을 체계적으로 배우고, 터틀 그래픽으로 그림도 그린다.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3장 요약 · p.128~130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