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1~8장이 글자만 나오는 콘솔이었다면 9장부터는 사람의 행동(클릭·키 입력)에 반응하는 창을 만든다. 9장부터 개별 프로젝트도 시작된다.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완성 화면부터 보여 주고 시작한다. 뷰어는 3절 끝(소스 9-9), 밝기 조절은 5절(소스 9-15)에서 완성된다.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 상자=부품 창고, 디자인 창=작업대, 속성 창=조절 다이얼. 1장의 '콘솔 앱(.NET Framework)' 함정과 똑같은 템플릿 함정을 다시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Button은 [도구 상자]-[공용 컨트롤]에서 더블클릭하거나 끌어 놓는다. 실습 Q&amp;A에서도 (Name)과 Text 혼동이 가장 많았다.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partial은 이력서를 두 장에 나눠 쓴 것 — 한 장은 내가, 한 장은 디자이너가 쓴다. Drawing은 Color·Size·Point·Bitmap, Windows.Forms는 Form·Button·MessageBox의 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번개 왼쪽 아이콘은 속성 아이콘(속성 목록으로 복귀). sender는 이벤트를 일으킨 컨트롤, e는 이벤트 세부 정보 — 뒤에서 MouseEventArgs·KeyEventArgs로 바뀐다.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Size·Location은 값이 두 개라 new Size(200, 100), new Point(0, 0)으로 만든다. 교재의 소스 9-4 제목은 9-3과 같게 적혀 있지만 내용은 Click 이벤트다.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자동문 센서 비유 — 들어온 순간 MouseEnter, 나간 순간 MouseLeave. 버튼 더블클릭 후 MouseEnter 코드를 넣으면 '클릭해야' 바뀌는 실수가 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Label=이름표, TextBox=빈칸, Button=스위치. 설계 표를 먼저 채우고 나서 코드를 쓰는 습관을 들인다.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경비원의 두 단계 검문 — 바깥 if는 출입증을 냈나(빈칸), 안쪽 if는 진짜인가(hanbit/css). tb_id == "hanbit"처럼 .Text를 빼먹는 실수 주의.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GroupBox를 먼저 놓고 그 안에 끌어 넣는다. RichTextBox는 여러 줄 입력(TextBox는 한 줄). btn_run 더블클릭 → btn_run_Click.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7장 배열 문법 그대로 원소가 CheckBox일 뿐. 따옴표 안 공백은 캡처에서 두 칸으로 판독(한 칸일 수도). String은 string과 같은 형식.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ComboBox는 접힌 메뉴판, ListBox는 벽에 붙은 메뉴판, MaskedTextBox는 칸이 그려진 신청서. 폼 Text는 '다양한 컨트롤'.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순서: 버튼 더블클릭 → [디자인] 탭 → DateTimePicker 더블클릭. 한국어 Windows에서 실제로 실행해 마스크 결과를 확인했다.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TreeView는 탐색기 왼쪽 폴더 트리, PictureBox는 액자. 오른쪽 사진이 실습 이미지 여섯 장. 폼 Text는 '동물 이미지 보기'.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동물 › 강아지(강아지1·2) / 고양이(고양이1·2) / 새(새1·2). 마지막 줄 SizeMode=StretchImage는 처음에 사진을 상자에 맞게 늘려 보이게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AfterSelect는 TreeView의 기본 이벤트라 더블클릭으로 생긴다. 경로 구분자로 /를 썼다 — \를 쓰려면 \\ 또는 @"...".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CheckBox 기본 이벤트 CheckedChanged. SELF STUDY 풀이는 컴파일 확인. 폼은 '랜덤한 동물 보기', 버튼 btn_random '랜덤 뽑기', PictureBox pb_pet.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Click/MouseClick, DoubleClick/MouseDoubleClick은 둘 중 하나만 쓰면 된다. MouseClick 쪽 e는 MouseEventArgs라 좌표·버튼 정보가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e는 사건 보고서. '가운데' 줄이 한 단계 더 들여쓰인 것은 원문 그대로(동작 영향 없음). 좌표는 int라 ToString()으로 바꿔 TextBox에.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폼 Text '마우스 작동 확인'. Image는 [리소스 선택] → 로컬 리소스 → 가져오기. if를 세 개 따로 쓰면 Normal에서 한 번에 Zoom까지 넘어가는 버그가 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Ctrl은 e.Ctrl이 아니라 e.Control. 보조키 if는 동시에 눌릴 수 있어 else if가 아닌 if 세 개. (char)75 = 'K'. 교재는 속성 이름 없이 'True를 False로'라고만 적었다 — 실행 화면상 Enabled로 추정.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확인: 이 로직으로 (100, 100)에서 → → ↓ 를 보내 (120, 110). pb_dog.Location.X = 10; 은 CS1612 컴파일 오류라 new Point(x, y)를 통째로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눈에 안 보이는 부품(menuStrip1)은 디자인 창 아래 트레이에 놓인다. PictureBox SizeMode = StretchImage. 1단계는 항상 dog1.png만 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 상자 [대화 상자]에서 끌어오면 트레이에 openFileDialog1이 생기지만, 코드는 new OpenFileDialog()로 직접 만든다. 형식대로면 "그림 파일|*.jpg;*.png;*.gif;*.bmp".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i는 세로(행), k는 가로(열). 사진 복사 → 모든 픽셀을 읽고 → 값을 더하고 → 0~255로 자르고 → 다시 쓰고 → PictureBox에 되돌린다.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모눈종이 칸마다 흰 물감을 섞는 비유. 어둡게도 하려면 Minimum을 음수로 두고 원본을 보관해 매번 원본+값으로 계산해야 한다(개선 아이디어, 교재 코드 아님).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참조 추가는 옆 동네 도서관(VB 라이브러리)의 대출증. 안 하면 컴파일 오류. [정수 입력]에 글자를 넣거나 [취소]하면 int.Parse에서 FormatException.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메서드 이름은 (Name)_이벤트 — (Name)을 먼저 정해야 이름이 깔끔하다. 9장부터 개별 프로젝트(회원관리 프로그램류) — 폼 설계 표 → 이벤트 연결 → 코드 순서를 UI 설계서의 틀로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Relationship Id="rId4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Relationship Id="rId4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jp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jpg"/><Relationship Id="rId4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jpg"/><Relationship Id="rId4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jpg"/><Relationship Id="rId4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jpg"/><Relationship Id="rId4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jpg"/><Relationship Id="rId4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jpg"/><Relationship Id="rId4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객체지향시스템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FC7E2"/>
                </a:solidFill>
                <a:latin typeface="페이퍼로지 6 SemiBold"/>
                <a:ea typeface="페이퍼로지 6 SemiBold"/>
                <a:cs typeface="페이퍼로지 6 SemiBold"/>
              </a:rPr>
              <a:t>CHAPTER 09  ·  버튼이 있는 창 만들기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4A3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우재남, 『C# 프로그래밍 for Beginner』 (한빛아카데미)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우재남, 『C# 프로그래밍 for Beginner』, 한빛아카데미  ·  수업 자료(CH01~09)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54418A"/>
                </a:solidFill>
                <a:latin typeface="페이퍼로지 8 ExtraBold"/>
                <a:ea typeface="페이퍼로지 8 ExtraBold"/>
                <a:cs typeface="페이퍼로지 8 ExtraBold"/>
              </a:rPr>
              <a:t>CH 09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버튼이 있는 창 만들기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Windows Forms — Controls, Mouse, Keyboard and Menus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윈폼 프로젝트   ·   속성 창   ·   Form1_Load와 이벤트 연결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Label·TextBox·선택형 컨트롤   ·   TreeView와 PictureBox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마우스·키보드 이벤트   ·   메뉴·대화상자·InputBox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60866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윈폼 프로젝트를 만들고 </a:t>
            </a: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[속성] 창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 컨트롤의 (Name)·Text·크기·색을 정한다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3585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6157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24974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컨트롤 </a:t>
            </a: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더블클릭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(기본 이벤트)과 </a:t>
            </a: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번개 아이콘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(그 밖의 이벤트)으로 이벤트 메서드를 만든다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29996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2568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089082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`컨트롤_이름.속성 = 값;` 형식으로 </a:t>
            </a: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실행 중에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화면을 바꾼다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16407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18979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953190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마우스·키보드·메뉴·대화상자를 엮어 </a:t>
            </a: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이미지 뷰어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와 </a:t>
            </a: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밝기 조절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프로그램을 완성한다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223635"/>
            <a:ext cx="16239744" cy="246888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641908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미리 보는 결론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7046595"/>
            <a:ext cx="15508224" cy="1522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윈폼 프로그램 = </a:t>
            </a: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폼 디자인(속성 창)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+ </a:t>
            </a: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이벤트 메서드(코드)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코드를 치기 전에 컨트롤의 </a:t>
            </a: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(Name)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과 </a:t>
            </a: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이벤트 연결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부터 맞춘다 — 이 순서가 9장 전체를 관통한다.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9장 · p.355~ · 소스 9-1~9-16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만들 두 프로그램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7680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04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049" y="2561463"/>
            <a:ext cx="4977118" cy="34770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131052"/>
            <a:ext cx="768096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131052"/>
            <a:ext cx="71688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9-1 동물 이미지 뷰어 — 교재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2468880"/>
            <a:ext cx="8119872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p05_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199" y="2561463"/>
            <a:ext cx="7221474" cy="347700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44000" y="6131052"/>
            <a:ext cx="811987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400032" y="6131052"/>
            <a:ext cx="760780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9-2 이미지 파일 밝기 조절 — 교재 발췌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6789420"/>
            <a:ext cx="7936992" cy="1872234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89888" y="697458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1] 동물 이미지 뷰어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55648" y="753008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326880" y="6789420"/>
            <a:ext cx="7936992" cy="1872234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0" y="697458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2] 이미지 밝기 조절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0" y="753008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572768" y="769467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TreeView에서 고르면 PictureBox에 사진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7694676"/>
            <a:ext cx="6839712" cy="6892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[파일]-[열기] 대화상자 → TrackBar로 밝기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1절 · p.356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윈폼 프로젝트 만들기와 VS 화면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49459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257996"/>
            <a:ext cx="7278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[새 프로젝트 만들기] → 언어 </a:t>
            </a: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C#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33298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35870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122104"/>
            <a:ext cx="7278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템플릿 </a:t>
            </a: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Windows Forms 앱(.NET Framework)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19709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22281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3986212"/>
            <a:ext cx="7278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이름 </a:t>
            </a:r>
            <a:r>
              <a:rPr sz="18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Project09_1</a:t>
            </a: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· 위치 C:\CookC# · 같은 디렉터리 배치 체크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06120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08692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850320"/>
            <a:ext cx="7278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프레임워크 </a:t>
            </a: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.NET Framework 4.8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만들기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592531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595102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3" y="5714428"/>
            <a:ext cx="7278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Ctrl+F5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제목 Form1인 빈 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892290"/>
            <a:ext cx="8046720" cy="180022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426464" y="7067169"/>
            <a:ext cx="724204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템플릿 함정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6464" y="7530084"/>
            <a:ext cx="7242048" cy="10184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그냥 [Windows Forms 앱]이 아니라 </a:t>
            </a: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(.NET Framework)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가 붙은 것을 고른다.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9760" y="2468880"/>
            <a:ext cx="7754112" cy="622363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p09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2" y="2741263"/>
            <a:ext cx="7424927" cy="5226241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509760" y="8239887"/>
            <a:ext cx="775411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765792" y="8239887"/>
            <a:ext cx="724204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9-5 VS 화면 — 도구 상자·디자인 창·솔루션 탐색기·속성 창 (교재 발췌)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[속성] 창이 안 보이면 F4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 · p.358 · 실습 9-1 · 그림 9-3~9-6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속성 창으로 창 꾸미기와 Button 올리기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914400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468880"/>
            <a:ext cx="193852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속성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468880"/>
            <a:ext cx="267004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4" y="2468880"/>
            <a:ext cx="321868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2983230"/>
            <a:ext cx="9144000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2983230"/>
            <a:ext cx="186537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983230"/>
            <a:ext cx="259689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300, 300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983230"/>
            <a:ext cx="314553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정사각형 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703320"/>
            <a:ext cx="186537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703320"/>
            <a:ext cx="259689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비기너 C#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703320"/>
            <a:ext cx="314553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제목 표시줄 글자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423410"/>
            <a:ext cx="9144000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423410"/>
            <a:ext cx="186537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BackColor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423410"/>
            <a:ext cx="259689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[웹] 탭 Lime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4423410"/>
            <a:ext cx="314553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연두 배경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5452110"/>
            <a:ext cx="914400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43584" y="5452110"/>
            <a:ext cx="193852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21024" y="5452110"/>
            <a:ext cx="321868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78624" y="5452110"/>
            <a:ext cx="267004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Text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5966460"/>
            <a:ext cx="9144000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280160" y="5966460"/>
            <a:ext cx="186537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966460"/>
            <a:ext cx="314553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btn_change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966460"/>
            <a:ext cx="259689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클릭하세요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6995160"/>
            <a:ext cx="9144000" cy="169735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426464" y="7170039"/>
            <a:ext cx="833932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(Name) ≠ Text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6464" y="7632954"/>
            <a:ext cx="8339328" cy="915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btn_change는 </a:t>
            </a:r>
            <a:r>
              <a:rPr sz="21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코드에서 부르는 이름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클릭하세요는 </a:t>
            </a:r>
            <a:r>
              <a:rPr sz="21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화면에 보이는 글자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07040" y="2468880"/>
            <a:ext cx="6656832" cy="622363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p15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6532" y="2561463"/>
            <a:ext cx="4957847" cy="5585841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0607040" y="8239887"/>
            <a:ext cx="665683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863072" y="8239887"/>
            <a:ext cx="614476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9-11 Button 속성 변경 결과 — 교재 발췌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속성 = 컨트롤의 색상·글자·폰트 같은 성격이나 특징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2.2~2.3절 · p.360~362 · 그림 9-7~9-11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9-1 — 자동으로 생긴 코드 읽기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9509760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Form1.cs (11~20행) — Project09_1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8705088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namespace Project09_1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public partial class Form1 : Form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public Form1()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InitializeComponent();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995160"/>
            <a:ext cx="9509760" cy="169735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7190613"/>
            <a:ext cx="87782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1~9행: using 9줄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7818120"/>
            <a:ext cx="8778240" cy="7509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System · Collections.Generic · ComponentModel · Data · </a:t>
            </a:r>
            <a:r>
              <a:rPr sz="17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Drawing</a:t>
            </a: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· Linq · Text · Threading.Tasks · </a:t>
            </a:r>
            <a:r>
              <a:rPr sz="17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Windows.Forms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0" y="2468880"/>
            <a:ext cx="6291072" cy="622363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338560" y="2664333"/>
            <a:ext cx="55595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요령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3291840"/>
            <a:ext cx="5559552" cy="5277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partial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클래스가 두 파일에 나뉜다. 나머지 절반은 </a:t>
            </a: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Form1.Designer.cs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: Form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Form을 상속한다(11~12장).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InitializeComponent()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디자인 창의 컨트롤과 속성값을 실제로 만들어 붙인다. 지우면 컨트롤이 안 뜬다.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코드 보기 F7 · [Form1.cs] 탭 = 코드, [Form1.cs [디자인]] 탭 = 디자인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2.4절 · p.363 · 소스 9-1 · 그림 9-13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Form1_Load — 번개 아이콘으로 이벤트 연결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8046720" cy="39090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19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261" y="2561463"/>
            <a:ext cx="5036454" cy="32712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925312"/>
            <a:ext cx="804672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925312"/>
            <a:ext cx="75346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9-14 Load 이벤트 추가 — 교재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635115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24128" y="6660832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2223" y="6506527"/>
            <a:ext cx="727862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폼 </a:t>
            </a: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빈 곳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을 한 번 클릭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7334631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24128" y="7360348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2223" y="7206043"/>
            <a:ext cx="727862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[속성] 창 </a:t>
            </a: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번개 아이콘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(이벤트)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8034147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24128" y="8059864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2223" y="7905559"/>
            <a:ext cx="7278624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Load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옆 빈칸을 더블클릭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36608" y="2468880"/>
            <a:ext cx="7827264" cy="442341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802368" y="2571750"/>
            <a:ext cx="70957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9-2 — 자동 생성된 Form1_Load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38944" y="3065526"/>
            <a:ext cx="7022592" cy="3703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public partial class Form1 : Form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public Form1()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InitializeComponent();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private void Form1_Load(object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36608" y="7098030"/>
            <a:ext cx="7827264" cy="159448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802368" y="7293483"/>
            <a:ext cx="709574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Load = 문 열기 직전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7920990"/>
            <a:ext cx="7095744" cy="6480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폼이 </a:t>
            </a:r>
            <a:r>
              <a:rPr sz="1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화면에 나타날 때 한 번</a:t>
            </a: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자동 실행. 폼 빈 곳 더블클릭으로도 생긴다(기본 이벤트 = Load).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메서드를 손으로 타이핑만 하면 이벤트와 연결되지 않는다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2.4절 · p.363~ · 소스 9-2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코드로 속성 바꾸기와 버튼 Click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8010144" cy="339471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72786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9-3 — 폼이 뜰 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7205472" cy="26746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Form1_Load(object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btn_change.BackColor = Color.Blue;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btn_change.ForeColor = Color.Yellow;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btn_change.Size = new Size(200, 100);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btn_change.Location = new Point(0, 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btn_change.Text = "C#은 꿀잼";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468880"/>
            <a:ext cx="8010144" cy="339471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19488" y="2571750"/>
            <a:ext cx="72786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9-4 — 버튼 더블클릭 → Click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4" y="3065526"/>
            <a:ext cx="7205472" cy="26746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btn_change_Click(object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this.Text = "버튼을 눌렀어요";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this.BackColor = Color.Yellow;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btn_change.Hide();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MessageBox.Show("버튼이 없어졌어요~");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6069330"/>
            <a:ext cx="3657600" cy="26746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p2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034" y="6161913"/>
            <a:ext cx="2009788" cy="203682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1024128" y="8291322"/>
            <a:ext cx="36576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8291322"/>
            <a:ext cx="31455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9-3 실행 — 교재 발췌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6069330"/>
            <a:ext cx="4096512" cy="267462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03520" y="6264783"/>
            <a:ext cx="336499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9-3 결과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6892290"/>
            <a:ext cx="3364992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(0, 0)으로 옮겨진 200×100 버튼. 파랑 바탕·노랑 글자 </a:t>
            </a:r>
            <a:r>
              <a:rPr sz="20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C#은 꿀잼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53728" y="6069330"/>
            <a:ext cx="3657600" cy="26746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24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1383" y="6161913"/>
            <a:ext cx="1942289" cy="203682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253728" y="8291322"/>
            <a:ext cx="36576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509760" y="8291322"/>
            <a:ext cx="31455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9-4 실행 — 교재 발췌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67360" y="6069330"/>
            <a:ext cx="4096512" cy="267462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3533120" y="6264783"/>
            <a:ext cx="336499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9-4 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33120" y="6892290"/>
            <a:ext cx="3364992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제목 </a:t>
            </a:r>
            <a:r>
              <a:rPr sz="20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버튼을 눌렀어요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배경 노랑, 버튼 숨김, 메시지 </a:t>
            </a:r>
            <a:r>
              <a:rPr sz="20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버튼이 없어졌어요~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컨트롤_이름.속성 = 값;  ·  this = 지금 이 폼  ·  Hide() = 숨기기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2.5~2.6절 · p.366~367 · 소스 9-3·9-4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MouseEnter · MouseLeave — 더블클릭으로는 안 되는 이벤트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9144000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9-5 — 추가 마우스 이벤트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8339328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btn_change_MouseEnter(object sender, EventArgs 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btn_change.Text = "마우스 올라옴 ^^";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btn_change.BackColor = Color.Magenta;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btn_change_MouseLeave(object sender, EventArgs 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btn_change.Text = "마우스 떠나감 ㅠ";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btn_change.BackColor = Color.Black;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046595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7072312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6856285"/>
            <a:ext cx="8375904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버튼을 </a:t>
            </a: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한 번만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클릭 → [속성] 창 </a:t>
            </a: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번개 아이콘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7869555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7895272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7679245"/>
            <a:ext cx="8375904" cy="6995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MouseEnter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· </a:t>
            </a: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MouseLeave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빈칸을 각각 더블클릭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07040" y="2468880"/>
            <a:ext cx="6656832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p25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4898" y="2561463"/>
            <a:ext cx="4281116" cy="244830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10607040" y="5102352"/>
            <a:ext cx="665683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863072" y="5102352"/>
            <a:ext cx="614476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9-15 MouseEnter 추가 — 교재 발췌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07040" y="5760720"/>
            <a:ext cx="6656832" cy="293179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p2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6481" y="5853303"/>
            <a:ext cx="4557949" cy="2294001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607040" y="8239887"/>
            <a:ext cx="665683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863072" y="8239887"/>
            <a:ext cx="614476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실행: 올라옴(자홍) / 떠나감(검정) — 교재 발췌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버튼 더블클릭은 기본 이벤트(Click)만 만든다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2.7절 · p.368 · 소스 9-5 · 그림 9-15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로그인 창 — Label · TextBox · Button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7680960" cy="3703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28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147" y="2561463"/>
            <a:ext cx="4954921" cy="306552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719572"/>
            <a:ext cx="768096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719572"/>
            <a:ext cx="71688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9-16 로그인 창 디자인 — 교재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429375"/>
            <a:ext cx="768096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6429375"/>
            <a:ext cx="212140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6429375"/>
            <a:ext cx="212140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TextBox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6429375"/>
            <a:ext cx="212140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Button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6943725"/>
            <a:ext cx="7680960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6943725"/>
            <a:ext cx="204825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글자 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6943725"/>
            <a:ext cx="204825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 입력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943725"/>
            <a:ext cx="204825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작동 시작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468880"/>
            <a:ext cx="811987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63456" y="2468880"/>
            <a:ext cx="199704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99417" y="2468880"/>
            <a:ext cx="248424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22571" y="2468880"/>
            <a:ext cx="232184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983230"/>
            <a:ext cx="8119872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00032" y="2983230"/>
            <a:ext cx="192389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35993" y="2983230"/>
            <a:ext cx="241108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759147" y="2983230"/>
            <a:ext cx="2248692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로그인 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3621024"/>
            <a:ext cx="192389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Label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35993" y="3621024"/>
            <a:ext cx="241108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label1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759147" y="3621024"/>
            <a:ext cx="2248692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아이디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258818"/>
            <a:ext cx="8119872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400032" y="4258818"/>
            <a:ext cx="192389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Label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35993" y="4258818"/>
            <a:ext cx="241108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label2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759147" y="4258818"/>
            <a:ext cx="2248692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비밀번호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4896612"/>
            <a:ext cx="192389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TextBox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35993" y="4896612"/>
            <a:ext cx="241108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tb_id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759147" y="4896612"/>
            <a:ext cx="2248692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(빈칸)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5534406"/>
            <a:ext cx="8119872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400032" y="5534406"/>
            <a:ext cx="192389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TextBox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35993" y="5534406"/>
            <a:ext cx="241108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tb_pass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759147" y="5534406"/>
            <a:ext cx="2248692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(빈칸)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00032" y="6172200"/>
            <a:ext cx="1923897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35993" y="6172200"/>
            <a:ext cx="2411089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btn_login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759147" y="6172200"/>
            <a:ext cx="2248692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로그인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7046595"/>
            <a:ext cx="8119872" cy="164592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509760" y="7242048"/>
            <a:ext cx="73883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이벤트 연결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7869555"/>
            <a:ext cx="7388352" cy="699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btn_login을 </a:t>
            </a:r>
            <a:r>
              <a:rPr sz="1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더블클릭</a:t>
            </a: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→ btn_login_Click (Button 기본 이벤트 = Click)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3.1절 · p.370 · 그림 9-16 · Project09_2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9-6 — 로그인 기능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366010"/>
            <a:ext cx="10058400" cy="642937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46888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btn_login_Click — Project09_2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2962656"/>
            <a:ext cx="9253728" cy="570928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btn_login_Click(object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(tb_id.Text == "" || tb_pass.Text == "")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MessageBox.Show("아이디와 비밀번호를 입력하세요");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(tb_id.Text == "hanbit" &amp;&amp; tb_pass.Text == "css")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MessageBox.Show(tb_id.Text + "님 어서오세요~ 지금 창을 닫습니다.");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this.Close();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MessageBox.Show("아이디와 비밀번호를 다시 확인하세요.");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366010"/>
            <a:ext cx="5742432" cy="277749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521440" y="2366010"/>
            <a:ext cx="91440" cy="277749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0" y="2468880"/>
            <a:ext cx="50109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메시지 상자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23776" y="2818638"/>
            <a:ext cx="4937760" cy="220141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[빈칸]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아이디와 비밀번호를 입력하세요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[hanbit / css]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hanbit님 어서오세요~ 지금 창을 닫습니다.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[그 밖]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아이디와 비밀번호를 다시 확인하세요.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5400675"/>
            <a:ext cx="5742432" cy="33947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0" y="5596128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9-1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0" y="6223635"/>
            <a:ext cx="5010912" cy="24483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틀리면 입력칸 지우기 — 안쪽 else에 </a:t>
            </a:r>
            <a:r>
              <a:rPr sz="19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tb_id.Text = "";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와 </a:t>
            </a:r>
            <a:r>
              <a:rPr sz="19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tb_pass.Text = "";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두 줄 추가(컴파일 확인).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비밀번호를 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가리려면 tb_pass의 </a:t>
            </a:r>
            <a:r>
              <a:rPr sz="19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PasswordChar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에 *.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|| 하나라도 비면  ·  &amp;&amp; 둘 다 맞으면  ·  this.Close() 폼 닫기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3.1절 · p.370~ · 소스 9-6 · SELF STUDY 9-1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선호도 조사 — CheckBox · RadioButton · GroupBox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804672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33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169" y="2561463"/>
            <a:ext cx="6300638" cy="38884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542532"/>
            <a:ext cx="804672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542532"/>
            <a:ext cx="75346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9-18 선호도 조사 디자인 — 교재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7200900"/>
            <a:ext cx="804672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7200900"/>
            <a:ext cx="224332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CheckBox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25823" y="7200900"/>
            <a:ext cx="224332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RadioButton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8064" y="7200900"/>
            <a:ext cx="224332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GroupBox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7715250"/>
            <a:ext cx="8046720" cy="66865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7715250"/>
            <a:ext cx="2170176" cy="6686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여러 개 동시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62399" y="7715250"/>
            <a:ext cx="2170176" cy="6686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하나만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4639" y="7715250"/>
            <a:ext cx="2170176" cy="6686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묶는 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2468880"/>
            <a:ext cx="775411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729216" y="2468880"/>
            <a:ext cx="173223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00367" y="2468880"/>
            <a:ext cx="25076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46929" y="2468880"/>
            <a:ext cx="219748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2983230"/>
            <a:ext cx="7754112" cy="84353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765792" y="2983230"/>
            <a:ext cx="1659087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GroupBox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36943" y="2983230"/>
            <a:ext cx="2434498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gbox_car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83505" y="2983230"/>
            <a:ext cx="2124334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좋아하는 자동차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65792" y="3826764"/>
            <a:ext cx="1659087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CheckBox ×4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6943" y="3826764"/>
            <a:ext cx="2434498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cb_benz · cb_bmw · cb_audi · cb_porsche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83505" y="3826764"/>
            <a:ext cx="2124334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벤츠 · BMW · 아우디 · 포르쉐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9760" y="4670298"/>
            <a:ext cx="7754112" cy="84353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765792" y="4670298"/>
            <a:ext cx="1659087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GroupBox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936943" y="4670298"/>
            <a:ext cx="2434498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gbox_tang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83505" y="4670298"/>
            <a:ext cx="2124334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탕수육 먹는 방법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65792" y="5513832"/>
            <a:ext cx="1659087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RadioButton ×3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936943" y="5513832"/>
            <a:ext cx="2434498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rdo_pour · rdo_pick · rdo_raw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83505" y="5513832"/>
            <a:ext cx="2124334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부어먹기 · 찍어먹기 · 그냥먹기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6357366"/>
            <a:ext cx="7754112" cy="84353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9765792" y="6357366"/>
            <a:ext cx="1659087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936943" y="6357366"/>
            <a:ext cx="2434498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btn_run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83505" y="6357366"/>
            <a:ext cx="2124334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결정하기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65792" y="7200900"/>
            <a:ext cx="1659087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RichTextBox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936943" y="7200900"/>
            <a:ext cx="2434498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rich_result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83505" y="7200900"/>
            <a:ext cx="2124334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# 좋아하는 자동차와 탕수육 먹는 방법 #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RadioButton의 '하나만' 규칙은 같은 GroupBox 안에서만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3.2절 · p.372 · 그림 9-18 · Project09_3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9-7 — 컨트롤을 배열로 묶어 foreach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9875520" cy="42176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9144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9-7 (1~11행)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9070848" cy="34975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btn_run_Click(object sender, EventArgs 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text = "\n(1) 좋아하는 자동차 : 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CheckBox[] chkArray = { cb_benz, cb_bmw, cb_audi, cb_porsche };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RadioButton[] rdoArray = { rdo_pour, rdo_pick, rdo_raw };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foreach (CheckBox ck in chkArray)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(ck.Checked)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text += ck.Text + "  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55680" y="2468880"/>
            <a:ext cx="6108192" cy="42176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521440" y="2571750"/>
            <a:ext cx="5376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(12~21행)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58016" y="3065526"/>
            <a:ext cx="5303520" cy="34975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text += "\n(2) 탕수육 먹는 법 : 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foreach (RadioButton rdo in rdoArray)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if(rdo.Checked)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text += rdo.Text + "  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rich_result.Text += text;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6892290"/>
            <a:ext cx="9875520" cy="185166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24128" y="6892290"/>
            <a:ext cx="91440" cy="185166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995160"/>
            <a:ext cx="91440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— 벤츠·포르쉐 체크, 찍어먹기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7344918"/>
            <a:ext cx="9070848" cy="12755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 좋아하는 자동차와 탕수육 먹는 방법 #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(1) 좋아하는 자동차 : 벤츠  포르쉐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(2) 탕수육 먹는 법 : 찍어먹기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155680" y="6892290"/>
            <a:ext cx="6108192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521440" y="7087743"/>
            <a:ext cx="53766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핵심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0" y="7715250"/>
            <a:ext cx="5376672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컨트롤도 </a:t>
            </a:r>
            <a:r>
              <a:rPr sz="21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배열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담아 </a:t>
            </a:r>
            <a:r>
              <a:rPr sz="21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foreach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검사. 마지막 </a:t>
            </a:r>
            <a:r>
              <a:rPr sz="21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+=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라 결과가 쌓인다.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ck.Checked(bool) · ck.Text(표시 글자) · \n 줄바꿈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3.2절 · 소스 9-7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목록·날짜·형식 입력 — 속성 창에서 미리 할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16239744" cy="22631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37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055" y="2561463"/>
            <a:ext cx="5483890" cy="162534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4279392"/>
            <a:ext cx="16239744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4279392"/>
            <a:ext cx="1572768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9-19 다양한 컨트롤 — 교재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493776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4937760"/>
            <a:ext cx="345862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1122" y="4937760"/>
            <a:ext cx="410821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88250" y="4937760"/>
            <a:ext cx="735616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속성 창에서 미리 할 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452110"/>
            <a:ext cx="16239744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5452110"/>
            <a:ext cx="338547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ComboBox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7698" y="5452110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combo_lang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4826" y="5452110"/>
            <a:ext cx="7283013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[데이터]-Items &lt;···&gt; → C# · Java · Python · C++ · Go · PHP · JSP · ASP.Net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6089904"/>
            <a:ext cx="338547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MaskedTextBox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7698" y="6089904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masktb_birth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24826" y="6089904"/>
            <a:ext cx="7283013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[동작]-Mask &lt;···&gt; → 자세한 날짜 0000년 90월 90일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727698"/>
            <a:ext cx="16239744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80160" y="6727698"/>
            <a:ext cx="338547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MaskedTextBox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7698" y="6727698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masktb_tel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4826" y="6727698"/>
            <a:ext cx="7283013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Mask → 전화 번호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7365492"/>
            <a:ext cx="338547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MaskedTextBox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77698" y="7365492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masktb_id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4826" y="7365492"/>
            <a:ext cx="7283013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Mask → &lt;사용자 지정&gt; 999999-9999999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" y="8003286"/>
            <a:ext cx="16239744" cy="63779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80160" y="8003286"/>
            <a:ext cx="338547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 · ListBox · DateTimePicker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77698" y="8003286"/>
            <a:ext cx="4035064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btn_select(&gt;&gt;) · list_lang · datepick_birth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4826" y="8003286"/>
            <a:ext cx="7283013" cy="637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 더블클릭 → Click · DateTimePicker 더블클릭 → ValueChanged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마스크 0 = 숫자 필수, 9 = 숫자 또는 공백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3.2절 · 그림 9-19~9-22 · Project09_4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9-8 — 날짜를 마스크에, 고른 언어를 목록에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10058400" cy="37033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Project09_4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9253728" cy="29832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datapick_birth_ValueChanged(object sender, EventArgs 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masktb_birth.Text = datapick_birth.Value.ToString();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btn_select_Click(object sender, EventArgs 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list_lang.Items.Add(combo_lang.Text);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377940"/>
            <a:ext cx="10058400" cy="231457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6377940"/>
            <a:ext cx="91440" cy="231457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480810"/>
            <a:ext cx="93268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6830568"/>
            <a:ext cx="9253728" cy="173850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C# 선택 → [&gt;&gt;] → ListBox에 C# 추가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2022년 8월 26일 선택 → 2022년 08월 26일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연락처 (010)1234-1234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주민번호 880101-1234567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2468880"/>
            <a:ext cx="5742432" cy="308610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923776" y="2643759"/>
            <a:ext cx="493776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이름 불일치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23776" y="3106674"/>
            <a:ext cx="4937760" cy="23042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그림은 </a:t>
            </a:r>
            <a:r>
              <a:rPr sz="23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datepick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_birth, 코드는 </a:t>
            </a:r>
            <a:r>
              <a:rPr sz="23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datapick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_birth. 한쪽으로 통일하거나, 이름을 먼저 정하고 더블클릭으로 메서드를 만든다.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21440" y="5812155"/>
            <a:ext cx="5742432" cy="28803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887200" y="6007608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직접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0" y="6635115"/>
            <a:ext cx="5010912" cy="193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Value.ToString()은 </a:t>
            </a: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2022-08-26 오후 3:12:30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모양. 마스크 칸에 넣으면 숫자만 들어가 </a:t>
            </a: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2022년 08월 26일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Items.Add는 확인 없이 계속 추가 — 중복 주의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3.2절 · 소스 9-8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1] 동물 이미지 뷰어 — 설계와 사진 준비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9144000" cy="2880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42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163" y="2561463"/>
            <a:ext cx="5031930" cy="22425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4896612"/>
            <a:ext cx="91440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4896612"/>
            <a:ext cx="86319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9-23 동물 이미지 뷰어 디자인 — 교재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554980"/>
            <a:ext cx="914400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43584" y="5554980"/>
            <a:ext cx="212140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5554980"/>
            <a:ext cx="267004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12864" y="5554980"/>
            <a:ext cx="303580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더블클릭 → 이벤트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6069330"/>
            <a:ext cx="9144000" cy="65836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6069330"/>
            <a:ext cx="20482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6069330"/>
            <a:ext cx="25968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6069330"/>
            <a:ext cx="29626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Load (번개 → Load)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6727698"/>
            <a:ext cx="20482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TreeView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6727698"/>
            <a:ext cx="25968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tree_pet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6727698"/>
            <a:ext cx="29626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AfterSelect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7386066"/>
            <a:ext cx="9144000" cy="65836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80160" y="7386066"/>
            <a:ext cx="20482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CheckBox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7386066"/>
            <a:ext cx="25968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cb_original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7386066"/>
            <a:ext cx="29626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CheckedChanged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8044434"/>
            <a:ext cx="20482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8044434"/>
            <a:ext cx="25968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pb_pet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8044434"/>
            <a:ext cx="296265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— (사진 표시)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07040" y="2468880"/>
            <a:ext cx="2084832" cy="15944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do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9101" y="2530602"/>
            <a:ext cx="1100709" cy="1100709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0607040" y="3693033"/>
            <a:ext cx="2084832" cy="370332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863072" y="3693033"/>
            <a:ext cx="1572768" cy="3703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dog1.png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838176" y="2468880"/>
            <a:ext cx="2084832" cy="15944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dog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0237" y="2530602"/>
            <a:ext cx="1100709" cy="1100709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12838176" y="3693033"/>
            <a:ext cx="2084832" cy="370332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3094208" y="3693033"/>
            <a:ext cx="1572768" cy="3703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dog2.png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069312" y="2468880"/>
            <a:ext cx="2084832" cy="15944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cat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1373" y="2530602"/>
            <a:ext cx="1100709" cy="1100709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5069312" y="3693033"/>
            <a:ext cx="2084832" cy="370332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5325344" y="3693033"/>
            <a:ext cx="1572768" cy="3703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cat1.png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07040" y="4166235"/>
            <a:ext cx="2084832" cy="15944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cat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9101" y="4227957"/>
            <a:ext cx="1100709" cy="1100709"/>
          </a:xfrm>
          <a:prstGeom prst="rect">
            <a:avLst/>
          </a:prstGeom>
        </p:spPr>
      </p:pic>
      <p:sp>
        <p:nvSpPr>
          <p:cNvPr id="47" name="Rounded Rectangle 46"/>
          <p:cNvSpPr/>
          <p:nvPr/>
        </p:nvSpPr>
        <p:spPr>
          <a:xfrm>
            <a:off x="10607040" y="5390388"/>
            <a:ext cx="2084832" cy="370332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863072" y="5390388"/>
            <a:ext cx="1572768" cy="3703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cat2.png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838176" y="4166235"/>
            <a:ext cx="2084832" cy="15944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bird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30237" y="4227957"/>
            <a:ext cx="1100709" cy="1100709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12838176" y="5390388"/>
            <a:ext cx="2084832" cy="370332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3094208" y="5390388"/>
            <a:ext cx="1572768" cy="3703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bird1.png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069312" y="4166235"/>
            <a:ext cx="2084832" cy="159448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bird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561373" y="4227957"/>
            <a:ext cx="1100709" cy="1100709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15069312" y="5390388"/>
            <a:ext cx="2084832" cy="370332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5325344" y="5390388"/>
            <a:ext cx="1572768" cy="3703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bird2.png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607040" y="6017895"/>
            <a:ext cx="6656832" cy="272605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0972800" y="6213348"/>
            <a:ext cx="59253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사진 준비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840855"/>
            <a:ext cx="5925312" cy="177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코드가 </a:t>
            </a:r>
            <a:r>
              <a:rPr sz="20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C:/CookC#/Images/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에서 읽는다. 폴더를 만들고 여섯 장(512×512 PNG)을 넣어 둔다. 철자가 틀리면 FileNotFoundException.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3.3절 · p.375 · 그림 9-23 · Project09_5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9-9 ① — 트리를 아래에서 위로 조립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8083296" cy="47320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73517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Form1_Load (1~12행)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7278624" cy="40119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Form1_Load(object sender, EventArgs 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TreeNode petRoot = new TreeNode("동물");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TreeNode dogTree = new TreeNode("강아지");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dogTree.Nodes.Add("강아지1");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dogTree.Nodes.Add("강아지2");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petRoot.Nodes.Add(dogTree);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TreeNode catTree = new TreeNode("고양이");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catTree.Nodes.Add("고양이1");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catTree.Nodes.Add("고양이2");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468880"/>
            <a:ext cx="8010144" cy="47320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19488" y="2571750"/>
            <a:ext cx="72786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(13~23행)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4" y="3065526"/>
            <a:ext cx="7205472" cy="40119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petRoot.Nodes.Add(catTree);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TreeNode birdTree = new TreeNode("새");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birdTree.Nodes.Add("새1");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birdTree.Nodes.Add("새2");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petRoot.Nodes.Add(birdTree);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tree_pet.Nodes.Add(petRoot);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pb_pet.SizeMode = PictureBoxSizeMode.StretchImage;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7406640"/>
            <a:ext cx="16239744" cy="13373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89888" y="7550658"/>
            <a:ext cx="15508224" cy="4546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조립 순서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8077352"/>
            <a:ext cx="15508224" cy="5431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자식을 가지에 → 가지를 뿌리에 → 마지막에 </a:t>
            </a:r>
            <a:r>
              <a:rPr sz="19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tree_pet.Nodes.Add(petRoot)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 TreeView에. 이 줄이 없으면 빈 트리.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Nodes.Add("글자")만으로도 노드가 생긴다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3.3절 · 소스 9-9(1~23행)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9-9 ② — 고른 노드에 맞는 사진 띄우기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10241280" cy="524637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tree_pet_AfterSelect (25~40행)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9436608" cy="45262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tree_pet_AfterSelect(object sender, TreeViewEventArgs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(e.Node.Text == "강아지1")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pb_pet.Image = Bitmap.FromFile("C:/CookC#/Images/dog1.png");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(e.Node.Text == "강아지2")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pb_pet.Image = Bitmap.FromFile("C:/CookC#/Images/dog2.png");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(e.Node.Text == "고양이1")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pb_pet.Image = Bitmap.FromFile("C:/CookC#/Images/cat1.png");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(e.Node.Text == "고양이2")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pb_pet.Image = Bitmap.FromFile("C:/CookC#/Images/cat2.png");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(e.Node.Text == "새1")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pb_pet.Image = Bitmap.FromFile("C:/CookC#/Images/bird1.png");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(e.Node.Text == "새2")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pb_pet.Image = Bitmap.FromFile("C:/CookC#/Images/bird2.png");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631168" y="2468880"/>
            <a:ext cx="5632704" cy="62750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996928" y="2664333"/>
            <a:ext cx="49011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996928" y="3291840"/>
            <a:ext cx="4901184" cy="5328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TreeViewEventArgs e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방금 고른 노드가 e.Node.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e.Node.Text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 어느 사진인지 가른다.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Bitmap.FromFile(경로)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 읽어 </a:t>
            </a: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Image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속성에.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부모 노드(강아지)를 누르면 어느 if에도 안 걸린다 — 정상.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경로 오타 → 노드를 누르는 순간 FileNotFoundException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3.3절 · 소스 9-9(25~40행)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9-9 ③ — 원본 크기 보기와 SizeMode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9509760" cy="298323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cb_original_CheckedChanged (42~47행)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8705088" cy="22631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cb_original_CheckedChanged(object sender, EventArgs 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(!cb_original.Checked)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pb_pet.SizeMode = PictureBoxSizeMode.StretchImage;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pb_pet.SizeMode = PictureBoxSizeMode.Normal;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5657850"/>
            <a:ext cx="9509760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45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3126" y="5750433"/>
            <a:ext cx="7951763" cy="244830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24128" y="8291322"/>
            <a:ext cx="950976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8291322"/>
            <a:ext cx="89976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실행: 고양이2(늘림) / 원본크기 보기(Normal) — 교재 발췌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2468880"/>
            <a:ext cx="629107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192256" y="2468880"/>
            <a:ext cx="220333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SizeMode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34506" y="2468880"/>
            <a:ext cx="320990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모양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2983230"/>
            <a:ext cx="6291072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228832" y="2983230"/>
            <a:ext cx="213018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Normal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71082" y="2983230"/>
            <a:ext cx="313675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원본 크기, 크면 잘림 (기본값)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28832" y="3703320"/>
            <a:ext cx="213018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StretchImage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71082" y="3703320"/>
            <a:ext cx="313675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상자에 꽉 차게 늘림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0" y="4423410"/>
            <a:ext cx="6291072" cy="72009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228832" y="4423410"/>
            <a:ext cx="2130186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Zoom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71082" y="4423410"/>
            <a:ext cx="3136757" cy="7200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비율 유지, 여백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0" y="5349240"/>
            <a:ext cx="6291072" cy="339471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338560" y="5452110"/>
            <a:ext cx="55595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SELF STUDY 9-2 풀이 — 랜덤 뽑기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75136" y="5945886"/>
            <a:ext cx="5486400" cy="26746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Random rnd = new Random();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string[] files = { "dog1.png", "dog2.png",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"cat1.png", "cat2.png",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"bird1.png", "bird2.png" };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// btn_random_Click 안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idx = rnd.Next(files.Length);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pb_pet.Image = Bitmap.FromFile(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"C:/CookC#/Images/" + files[idx]);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Random은 메서드 밖에서 한 번만 만든다 · Next(6) = 0~5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3.3절 · 소스 9-9 · SELF STUDY 9-2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표 9-1 — 마우스 이벤트의 분류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1097280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468880"/>
            <a:ext cx="87782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19" y="2468880"/>
            <a:ext cx="416966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이벤트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8896" y="2468880"/>
            <a:ext cx="285292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언제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0736" y="2468880"/>
            <a:ext cx="131673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비고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2983230"/>
            <a:ext cx="10972800" cy="59664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2983230"/>
            <a:ext cx="804671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기본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2983230"/>
            <a:ext cx="4096512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Click / MouseClick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5472" y="2983230"/>
            <a:ext cx="27797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클릭할 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97312" y="2983230"/>
            <a:ext cx="124358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하나만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579876"/>
            <a:ext cx="804671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기본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3579876"/>
            <a:ext cx="4096512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DoubleClick / MouseDoubleClick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3579876"/>
            <a:ext cx="27797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더블클릭할 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97312" y="3579876"/>
            <a:ext cx="124358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하나만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176522"/>
            <a:ext cx="10972800" cy="59664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176522"/>
            <a:ext cx="804671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기본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4176522"/>
            <a:ext cx="4096512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MouseCaptureChanged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05472" y="4176522"/>
            <a:ext cx="27797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캡처 발생 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97312" y="4176522"/>
            <a:ext cx="124358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잘 안 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73168"/>
            <a:ext cx="804671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세부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96896" y="4773168"/>
            <a:ext cx="4096512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MouseDown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05472" y="4773168"/>
            <a:ext cx="27797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버튼을 누를 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7312" y="4773168"/>
            <a:ext cx="124358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34" name="Rounded Rectangle 33"/>
          <p:cNvSpPr/>
          <p:nvPr/>
        </p:nvSpPr>
        <p:spPr>
          <a:xfrm>
            <a:off x="1024128" y="5369814"/>
            <a:ext cx="10972800" cy="59664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5369814"/>
            <a:ext cx="804671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세부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96896" y="5369814"/>
            <a:ext cx="4096512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MouseEnter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05472" y="5369814"/>
            <a:ext cx="27797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컨트롤에 올라갈 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97312" y="5369814"/>
            <a:ext cx="124358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39" name="TextBox 38"/>
          <p:cNvSpPr txBox="1"/>
          <p:nvPr/>
        </p:nvSpPr>
        <p:spPr>
          <a:xfrm>
            <a:off x="1280160" y="5966460"/>
            <a:ext cx="804671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세부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96896" y="5966460"/>
            <a:ext cx="4096512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MouseHover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5966460"/>
            <a:ext cx="27797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일정 시간 머물 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97312" y="5966460"/>
            <a:ext cx="124358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43" name="Rounded Rectangle 42"/>
          <p:cNvSpPr/>
          <p:nvPr/>
        </p:nvSpPr>
        <p:spPr>
          <a:xfrm>
            <a:off x="1024128" y="6563106"/>
            <a:ext cx="10972800" cy="59664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80160" y="6563106"/>
            <a:ext cx="804671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세부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96896" y="6563106"/>
            <a:ext cx="4096512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MouseLeave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5472" y="6563106"/>
            <a:ext cx="27797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밖으로 나갈 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97312" y="6563106"/>
            <a:ext cx="124358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1280160" y="7159752"/>
            <a:ext cx="804671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세부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96896" y="7159752"/>
            <a:ext cx="4096512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MouseMove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7159752"/>
            <a:ext cx="27797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움직일 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97312" y="7159752"/>
            <a:ext cx="124358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52" name="Rounded Rectangle 51"/>
          <p:cNvSpPr/>
          <p:nvPr/>
        </p:nvSpPr>
        <p:spPr>
          <a:xfrm>
            <a:off x="1024128" y="7756398"/>
            <a:ext cx="10972800" cy="59664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280160" y="7756398"/>
            <a:ext cx="804671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세부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6896" y="7756398"/>
            <a:ext cx="4096512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MouseUp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05472" y="7756398"/>
            <a:ext cx="2779776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버튼을 뗄 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97312" y="7756398"/>
            <a:ext cx="1243584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57" name="Rounded Rectangle 56"/>
          <p:cNvSpPr/>
          <p:nvPr/>
        </p:nvSpPr>
        <p:spPr>
          <a:xfrm>
            <a:off x="12435840" y="2468880"/>
            <a:ext cx="4828032" cy="61722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2801600" y="2664333"/>
            <a:ext cx="40965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801600" y="3291840"/>
            <a:ext cx="4096512" cy="5225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마우스 이벤트는 </a:t>
            </a:r>
            <a:r>
              <a:rPr sz="20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컨트롤마다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따로 건다.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지금까지: Click(9-4), MouseEnter·MouseLeave(9-5).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이번: </a:t>
            </a:r>
            <a:r>
              <a:rPr sz="20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MouseDown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(9-10), </a:t>
            </a:r>
            <a:r>
              <a:rPr sz="20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DoubleClick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(9-11).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Click의 e는 EventArgs라 좌표가 없다.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4.1절 · p.379 · 표 9-1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9-10 — 어느 버튼으로, 몇 번, 어디를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950976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pb_image_MouseDown — Project09_6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870508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pb_image_MouseDown(object sender, MouseEventArgs 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(e.Button == MouseButtons.Left)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tb_type.Text = "왼쪽";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(e.Button == MouseButtons.Right)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tb_type.Text = "오른쪽";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tb_type.Text = "가운데";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(e.Clicks == 2)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tb_action.Text = "더블 클릭";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tb_action.Text = "한 번 클릭";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tb_x.Text = e.X.ToString();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tb_y.Text = e.Y.ToString();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468880"/>
            <a:ext cx="6291072" cy="30861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52_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5092" y="2561463"/>
            <a:ext cx="3906488" cy="244830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972800" y="5102352"/>
            <a:ext cx="629107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228832" y="5102352"/>
            <a:ext cx="577900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실행 — 교재 발췌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5760720"/>
            <a:ext cx="6291072" cy="293179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0972800" y="5760720"/>
            <a:ext cx="91440" cy="293179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338560" y="5863590"/>
            <a:ext cx="55595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꽃을 오른쪽 버튼으로 더블클릭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75136" y="6213348"/>
            <a:ext cx="5486400" cy="235572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버튼 종류 : 오른쪽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동작      : 더블 클릭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X좌표     : 218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Y좌표     : 189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(0, 0) = PictureBox 왼쪽 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MouseEventArgs: e.Button · e.Clicks · e.X · e.Y (컨트롤 기준 좌표)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4.2절 · p.380 · 소스 9-10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9-11 — 더블클릭마다 보기 방식 순환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9509760" cy="36004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pb_image_DoubleClick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8705088" cy="28803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pb_image_DoubleClick(object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(pb_image.SizeMode == PictureBoxSizeMode.Normal)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pb_image.SizeMode = PictureBoxSizeMode.StretchImage;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(pb_image.SizeMode == PictureBoxSizeMode.StretchImage)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pb_image.SizeMode = PictureBoxSizeMode.Zoom;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pb_image.SizeMode = PictureBoxSizeMode.Normal;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275070"/>
            <a:ext cx="9509760" cy="2468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p53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814" y="6367653"/>
            <a:ext cx="5664387" cy="183108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24128" y="8291322"/>
            <a:ext cx="950976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8291322"/>
            <a:ext cx="899769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Normal → StretchImage → Zoom — 교재 발췌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2468880"/>
            <a:ext cx="629107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192256" y="2468880"/>
            <a:ext cx="1825873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57041" y="2468880"/>
            <a:ext cx="358737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2983230"/>
            <a:ext cx="6291072" cy="87439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228832" y="2983230"/>
            <a:ext cx="1752721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Label ×4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93617" y="2983230"/>
            <a:ext cx="351422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버튼 종류 · 동작 · X좌표 · Y좌표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28832" y="3857625"/>
            <a:ext cx="1752721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TextBox ×4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93617" y="3857625"/>
            <a:ext cx="351422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tb_type · tb_action · tb_x · tb_y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0" y="4732020"/>
            <a:ext cx="6291072" cy="87439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228832" y="4732020"/>
            <a:ext cx="1752721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93617" y="4732020"/>
            <a:ext cx="3514222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pb_image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(Image = 꽃 사진)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0" y="5863590"/>
            <a:ext cx="6291072" cy="28803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338560" y="6059043"/>
            <a:ext cx="55595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이벤트 연결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686550"/>
            <a:ext cx="5559552" cy="193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pb_image 한 번 클릭 → 번개 → </a:t>
            </a: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MouseDown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</a:t>
            </a:r>
            <a:r>
              <a:rPr sz="22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DoubleClick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빈칸 더블클릭. PictureBox를 더블클릭하면 Click이 생긴다.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else if라서 한 번에 한 단계씩 넘어간다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4.2절 · 소스 9-11 · 그림 9-25 · Project09_6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9-12 — KeyDown으로 보조키와 눌린 키 확인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9875520" cy="51435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91440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Form1_KeyDown — Project09_7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9070848" cy="44234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Form1_KeyDown(object sender, KeyEventArgs 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cb_alt.Checked = cb_ctrl.Checked = cb_shift.Checked = false;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(e.Alt == true)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cb_alt.Checked = true;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(e.Control == true)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cb_ctrl.Checked = true;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(e.Shift == true)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cb_shift.Checked = true;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char keyValue = (char)e.KeyValue;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tb_key.Text = keyValue.ToString();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38560" y="2468880"/>
            <a:ext cx="592531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558016" y="2468880"/>
            <a:ext cx="193121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28140" y="2468880"/>
            <a:ext cx="311627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38560" y="2983230"/>
            <a:ext cx="5925312" cy="77152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594592" y="2983230"/>
            <a:ext cx="1858060" cy="771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CheckBox ×3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64716" y="2983230"/>
            <a:ext cx="3043123" cy="771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cb_ctrl · cb_alt · cb_shift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94592" y="3754755"/>
            <a:ext cx="1858060" cy="771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64716" y="3754755"/>
            <a:ext cx="3043123" cy="771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tb_key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338560" y="4526280"/>
            <a:ext cx="5925312" cy="77152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594592" y="4526280"/>
            <a:ext cx="1858060" cy="771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64716" y="4526280"/>
            <a:ext cx="3043123" cy="7715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번개 → </a:t>
            </a: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KeyDown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338560" y="5554980"/>
            <a:ext cx="5925312" cy="133731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1338560" y="5554980"/>
            <a:ext cx="91440" cy="133731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704320" y="5657850"/>
            <a:ext cx="519379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Ctrl+Shift+K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40896" y="6007608"/>
            <a:ext cx="5120640" cy="76123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Ctrl ☑  Alt ☐  Shift ☑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눌린 키 : 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338560" y="7098030"/>
            <a:ext cx="5925312" cy="164592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740896" y="7272909"/>
            <a:ext cx="512064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키가 폼으로 오게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40896" y="7735824"/>
            <a:ext cx="5120640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나머지 컨트롤은 비활성으로. 포커스 가진 버튼이 있으면 폼 KeyDown이 안 불렸다(직접 확인).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7818120"/>
            <a:ext cx="9875520" cy="9258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389888" y="7962138"/>
            <a:ext cx="9144000" cy="3147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연쇄 대입 — 오른쪽부터 false가 차례로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8348929"/>
            <a:ext cx="9144000" cy="271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KeyDown: 보조키 확인 가능 · KeyPress: 키 종류만 · KeyUp: 잘 안 씀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4.3절 · p.382 · 소스 9-12 · 그림 9-26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표 9-2 키 값과 SELF STUDY 9-3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775411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468880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KeyValue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406" y="2468880"/>
            <a:ext cx="188732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39" y="2468880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KeyValue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1462" y="2468880"/>
            <a:ext cx="188732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2983230"/>
            <a:ext cx="7754112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2983230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0982" y="2983230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Backspace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5" y="2983230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35, 36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8038" y="2983230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End, Home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559302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0982" y="3559302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5" y="3559302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65~90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8038" y="3559302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~ 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135374"/>
            <a:ext cx="7754112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135374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0982" y="4135374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5" y="4135374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112~123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8038" y="4135374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F1 ~ F12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711446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0982" y="4711446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Shift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57215" y="4711446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48~57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8038" y="4711446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 ~ 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287518"/>
            <a:ext cx="7754112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5287518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30982" y="5287518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Ctrl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7215" y="5287518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37~40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8038" y="5287518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← ↑ → 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863590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0982" y="5863590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Pause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57215" y="5863590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8038" y="5863590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Print Screen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" y="6439662"/>
            <a:ext cx="7754112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280160" y="6439662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0982" y="6439662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Caps Lock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7215" y="6439662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08038" y="6439662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Insert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" y="7015733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0982" y="7015733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Esc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57215" y="7015733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08038" y="7015733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4128" y="7591806"/>
            <a:ext cx="7754112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1280160" y="7591806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33, 34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30982" y="7591806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Page Up, Down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57215" y="7591806"/>
            <a:ext cx="103875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144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08038" y="7591806"/>
            <a:ext cx="181416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Num Lock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44000" y="2468880"/>
            <a:ext cx="8119872" cy="55549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509760" y="2571750"/>
            <a:ext cx="73883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SELF STUDY 9-3 풀이 — 화살표로 10픽셀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46336" y="3065526"/>
            <a:ext cx="7315200" cy="48348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Form1_KeyDown(object sender, KeyEventArgs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x = pb_dog.Location.X;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y = pb_dog.Location.Y;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(e.KeyCode == Keys.Left)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x -= 10;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(e.KeyCode == Keys.Right)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x += 10;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(e.KeyCode == Keys.Up)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y -= 10;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 if (e.KeyCode == Keys.Down)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y += 10;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pb_dog.Location = new Point(x, y);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PictureBox의 KeyDown은 속성 창에 없고 포커스도 못 받는다(직접 확인) → 폼 KeyDown에서 처리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4.3절 · 표 9-2 · SELF STUDY 9-3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MenuStrip으로 메뉴 만들기 — 소스 9-13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6693408" cy="34975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p61_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925" y="2561463"/>
            <a:ext cx="4391814" cy="285978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513832"/>
            <a:ext cx="6693408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513832"/>
            <a:ext cx="618134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그림 9-29 메뉴·PictureBox·TrackBar — 교재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6223635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24128" y="6249352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2223" y="6043612"/>
            <a:ext cx="592531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[메뉴 및 도구 모음] </a:t>
            </a:r>
            <a:r>
              <a:rPr sz="21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MenuStrip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더블클릭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7026021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24128" y="7051738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2223" y="6845998"/>
            <a:ext cx="592531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'여기에 입력'에 </a:t>
            </a: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파일 › 열기, 닫기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7828407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24128" y="7854124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2223" y="7648384"/>
            <a:ext cx="5925312" cy="678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 </a:t>
            </a:r>
            <a:r>
              <a:rPr sz="18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pb_image</a:t>
            </a: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· TrackBar </a:t>
            </a:r>
            <a:r>
              <a:rPr sz="18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tbar_image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468880"/>
            <a:ext cx="9217152" cy="39090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0" y="2571750"/>
            <a:ext cx="848563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9-13 — 메뉴 항목 더블클릭 → Click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3065526"/>
            <a:ext cx="8412480" cy="31889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열기ToolStripMenuItem_Click(object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pb_image.Image = Bitmap.FromFile("C:/CookC#/Images/dog1.png");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닫기ToolStripMenuItem_Click(object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MessageBox.Show("프로그램을 종료합니다.~~");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this.Close();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6583680"/>
            <a:ext cx="9217152" cy="21602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046720" y="6583680"/>
            <a:ext cx="91440" cy="21602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412480" y="6686550"/>
            <a:ext cx="848563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(폼 Text: 메뉴 연습)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7036308"/>
            <a:ext cx="8412480" cy="15841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[파일]-[열기] → dog1.png 표시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[파일]-[닫기] → 프로그램을 종료합니다.~~ → 창 닫힘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한글 메뉴라 이름도 열기ToolStripMenuItem — 그대로 컴파일된다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5.1절 · p.385 · 소스 9-13 · Project09_8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열기 대화상자 — 소스 9-14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621792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468880"/>
            <a:ext cx="3416198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대화상자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8694" y="2468880"/>
            <a:ext cx="192389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용도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2983230"/>
            <a:ext cx="6217920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2983230"/>
            <a:ext cx="3343046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MessageBox.Show()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5270" y="2983230"/>
            <a:ext cx="185074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메시지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00450"/>
            <a:ext cx="3343046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OpenFileDialog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5270" y="3600450"/>
            <a:ext cx="185074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열기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217670"/>
            <a:ext cx="6217920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217670"/>
            <a:ext cx="3343046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SaveFileDialog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5270" y="4217670"/>
            <a:ext cx="185074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834890"/>
            <a:ext cx="3343046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ColorDialog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5270" y="4834890"/>
            <a:ext cx="185074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색상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5452110"/>
            <a:ext cx="6217920" cy="61722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5452110"/>
            <a:ext cx="3343046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FontDialog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5270" y="5452110"/>
            <a:ext cx="185074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글꼴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069330"/>
            <a:ext cx="3343046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FolderBrowserDialog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35270" y="6069330"/>
            <a:ext cx="1850745" cy="6172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폴더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6943725"/>
            <a:ext cx="6217920" cy="180022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426464" y="7118604"/>
            <a:ext cx="541324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Filter 형식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7581519"/>
            <a:ext cx="5413248" cy="10184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'설명|패턴' 쌍. 원문처럼 패턴이 비어도 동작, | 까지 빼면 예외(직접 확인).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2468880"/>
            <a:ext cx="9582912" cy="339471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46720" y="2571750"/>
            <a:ext cx="88513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[열기]를 대화상자 방식으로 교체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83296" y="3065526"/>
            <a:ext cx="8778240" cy="26746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열기ToolStripMenuItem_Click(object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OpenFileDialog ofd = new OpenFileDialog();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ofd.Filter = "그림 파일 (*.jpg,*.png,*.gif,*.bmp)|";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(ofd.ShowDialog() == DialogResult.Cancel)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pb_image.Image = Bitmap.FromFile(ofd.FileName);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6069330"/>
            <a:ext cx="9582912" cy="26746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p65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4922" y="6161913"/>
            <a:ext cx="5114987" cy="2036826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7680960" y="8291322"/>
            <a:ext cx="958291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936992" y="8291322"/>
            <a:ext cx="907084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실행: 고른 사진이 PictureBox에 — 교재 발췌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[취소] → DialogResult.Cancel → return  ·  ofd.FileName = 고른 파일 전체 경로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5.2절 · p.387 · 소스 9-14 · 그림 9-30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2] 소스 9-15 — 픽셀마다 밝기 더하기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8083296" cy="586359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571750"/>
            <a:ext cx="73517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tbar_image_Scroll (1~17행)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065526"/>
            <a:ext cx="7278624" cy="5143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tbar_image_Scroll(object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Bitmap bitmap = new Bitmap(pb_image.Image);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R,G,B;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Color c;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bitmap.Height;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0; k &lt; bitmap.Width; k++)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 = bitmap.GetPixel(k, i);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R = c.R + tbar_image.Value;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G = c.G + tbar_image.Value;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 = c.B + tbar_image.Value;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if (R &gt; 255)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R = 255;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else if (R &lt; 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R = 0;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3728" y="2468880"/>
            <a:ext cx="8010144" cy="586359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19488" y="2571750"/>
            <a:ext cx="72786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(18~33행)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4" y="3065526"/>
            <a:ext cx="7205472" cy="5143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if (G &gt; 255)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G = 255;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else if (G &lt; 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G = 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if (B &gt; 255)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B = 255;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else if (B &lt; 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B = 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 = Color.FromArgb(R, G, B);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bitmap.SetPixel(k, i, c);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pb_image.Image = bitmap;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TrackBar 더블클릭 → Scroll  ·  GetPixel(k, i) = (x, y) 순서  ·  색 값 0~255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5.3절 · p.388 · 소스 9-15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소스 9-15를 따라가 보면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3840480" cy="154305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468880"/>
            <a:ext cx="3840480" cy="10287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16735" y="267462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① 복사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5" y="3106674"/>
            <a:ext cx="3255264" cy="761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 사진을 Bitmap으로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301409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57216" y="2468880"/>
            <a:ext cx="3840480" cy="154305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57216" y="2468880"/>
            <a:ext cx="3840480" cy="10287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449824" y="267462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② 읽기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106674"/>
            <a:ext cx="3255264" cy="761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GetPixel(k, i)로 픽셀 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301409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90304" y="2468880"/>
            <a:ext cx="3840480" cy="154305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290304" y="2468880"/>
            <a:ext cx="3840480" cy="10287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82912" y="267462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③ 더하고 자르기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3106674"/>
            <a:ext cx="3255264" cy="761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R·G·B + Value → 0~255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57632" y="301409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423392" y="2468880"/>
            <a:ext cx="3840480" cy="154305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3423392" y="2468880"/>
            <a:ext cx="3840480" cy="10287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3716000" y="267462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④ 쓰기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0" y="3106674"/>
            <a:ext cx="3255264" cy="76123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SetPixel 후 Image에 다시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4269105"/>
            <a:ext cx="4754880" cy="447484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p68_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4521856"/>
            <a:ext cx="4425696" cy="3516714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024128" y="8291322"/>
            <a:ext cx="475488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80160" y="8291322"/>
            <a:ext cx="42428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실행: 밝아진 사진 — 교재 발췌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4269105"/>
            <a:ext cx="5303520" cy="44748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10528" y="4464558"/>
            <a:ext cx="45720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왜 잘라야 하나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092065"/>
            <a:ext cx="4572000" cy="35284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c.R은 byte(0~255)지만 Value와 더하면 </a:t>
            </a:r>
            <a:r>
              <a:rPr sz="21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int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260도 담긴다.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그대로 FromArgb(256, …)에 넣으면 </a:t>
            </a:r>
            <a:r>
              <a:rPr sz="21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ArgumentException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(직접 확인).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14048" y="4269105"/>
            <a:ext cx="5449824" cy="44748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2179808" y="4464558"/>
            <a:ext cx="471830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생각해 볼 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79808" y="5092065"/>
            <a:ext cx="4718304" cy="35284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TrackBar 기본 범위는 </a:t>
            </a:r>
            <a:r>
              <a:rPr sz="23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0~10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(직접 확인) — 변화가 작다.</a:t>
            </a:r>
          </a:p>
          <a:p>
            <a:pPr algn="l">
              <a:lnSpc>
                <a:spcPct val="142000"/>
              </a:lnSpc>
            </a:pP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Scroll마다 </a:t>
            </a:r>
            <a:r>
              <a:rPr sz="23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이미 밝아진 사진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또 더한다 → 왼쪽으로 밀어도 계속 밝아진다.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사진을 열기 전에 TrackBar를 움직이면 Image가 null — 예외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5.3절 · 소스 9-15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VB의 InputBox 빌려 쓰기 — 소스 9-16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49459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299144"/>
            <a:ext cx="4901184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[참조]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우클릭 → </a:t>
            </a: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[참조 추가]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25069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27640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080956"/>
            <a:ext cx="4901184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왼쪽 </a:t>
            </a:r>
            <a:r>
              <a:rPr sz="25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[어셈블리]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(.NET 4.8)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03250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05822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3862768"/>
            <a:ext cx="4901184" cy="65836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lang="ko-KR" altLang="en-US">
                <a:solidFill>
                  <a:srgbClr val="C0392B"/>
                </a:solidFill>
                <a:latin typeface="프리젠테이션 5 Medium"/>
                <a:ea typeface="프리젠테이션 5 Medium"/>
                <a:cs typeface="프리젠테이션 5 Medium"/>
              </a:rPr>
              <a:t>Microsoft.VisualBasic</a:t>
            </a: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체크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937760"/>
            <a:ext cx="566928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243584" y="4937760"/>
            <a:ext cx="296265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Button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1" y="4937760"/>
            <a:ext cx="18288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TextBox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5452110"/>
            <a:ext cx="5669280" cy="66865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80160" y="5452110"/>
            <a:ext cx="2889503" cy="6686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btn_string 문자열 입력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7" y="5452110"/>
            <a:ext cx="1755648" cy="6686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tb_string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6120765"/>
            <a:ext cx="2889503" cy="6686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btn_int 정수 입력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7" y="6120765"/>
            <a:ext cx="1755648" cy="6686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tb_int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6789420"/>
            <a:ext cx="5669280" cy="668655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80160" y="6789420"/>
            <a:ext cx="2889503" cy="6686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btn_float 실수 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7" y="6789420"/>
            <a:ext cx="1755648" cy="6686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tb_float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" y="7612380"/>
            <a:ext cx="5669280" cy="11315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024128" y="7612380"/>
            <a:ext cx="91440" cy="11315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389888" y="7715250"/>
            <a:ext cx="49377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입력 → TextBox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6464" y="8065008"/>
            <a:ext cx="4864608" cy="5554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안녕하세요? / 1234 / 3.141592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22592" y="2468880"/>
            <a:ext cx="10241280" cy="586359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388352" y="257175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Project09_9 — 폼 Text: VB의 활용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8" y="3065526"/>
            <a:ext cx="9436608" cy="51435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btn_string_Click(object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 = Microsoft.VisualBasic.Interaction.InputBox("문자열 입력");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tb_string.Text = str;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btn_int_Click(object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 = Microsoft.VisualBasic.Interaction.InputBox("정수 입력");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intVal = int.Parse(str);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tb_int.Text = intVal.ToString();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btn_float_Click(object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 = Microsoft.VisualBasic.Interaction.InputBox("실수 입력");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float floatVal = float.Parse(str);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tb_float.Text = floatVal.ToString();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InputBox는 항상 string → int.Parse · float.Parse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5.4절 · p.390 · 소스 9-16 · 그림 9-31~9-32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정리 — 이벤트 메서드는 어디서 생겼나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09 · 버튼이 있는 창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46888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468880"/>
            <a:ext cx="573219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메서드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14686" y="2468880"/>
            <a:ext cx="605698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만드는 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10584" y="2468880"/>
            <a:ext cx="313383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C0392B"/>
                </a:solidFill>
                <a:latin typeface="페이퍼로지 8 ExtraBold"/>
                <a:ea typeface="페이퍼로지 8 ExtraBold"/>
                <a:cs typeface="페이퍼로지 8 ExtraBold"/>
              </a:rPr>
              <a:t>e의 형식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2983230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2983230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Form1_Load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1262" y="2983230"/>
            <a:ext cx="598383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폼 → 번개 → Load (폼 더블클릭도 됨)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47160" y="2983230"/>
            <a:ext cx="30606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EventArgs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59302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btn_…_Click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1262" y="3559302"/>
            <a:ext cx="598383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버튼 더블클릭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47160" y="3559302"/>
            <a:ext cx="30606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EventArgs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135374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135374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btn_change_MouseEnter / Leave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1262" y="4135374"/>
            <a:ext cx="598383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버튼 한 번 클릭 → 번개 → 빈칸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47160" y="4135374"/>
            <a:ext cx="30606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EventArgs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711446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tree_pet_AfterSelect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1262" y="4711446"/>
            <a:ext cx="598383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TreeView 더블클릭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47160" y="4711446"/>
            <a:ext cx="30606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TreeViewEventArgs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287518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280160" y="5287518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…_CheckedChanged · …_ValueChanged · …_Scroll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1262" y="5287518"/>
            <a:ext cx="598383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CheckBox · DateTimePicker · TrackBar 더블클릭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947160" y="5287518"/>
            <a:ext cx="30606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EventArgs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863590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pb_image_MouseDown / DoubleClick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1262" y="5863590"/>
            <a:ext cx="598383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 → 번개 → 빈칸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947160" y="5863590"/>
            <a:ext cx="30606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MouseEventArgs / EventArgs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6439662"/>
            <a:ext cx="16239744" cy="57607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80160" y="6439662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Form1_KeyDown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1262" y="6439662"/>
            <a:ext cx="598383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폼 → 번개 → KeyDown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47160" y="6439662"/>
            <a:ext cx="30606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KeyEventArgs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80160" y="7015733"/>
            <a:ext cx="5659038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열기ToolStripMenuItem_Click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1262" y="7015733"/>
            <a:ext cx="5983833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메뉴 항목 더블클릭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947160" y="7015733"/>
            <a:ext cx="3060679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EventArgs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" y="7766685"/>
            <a:ext cx="16239744" cy="97726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426464" y="7766685"/>
            <a:ext cx="15435071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시험 함정 — (Name)↔Text · 더블클릭은 기본 이벤트만 · e.Control · GetPixel(x, y) · 0~255 · InputBox는 string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다음 장: CH10 파일 입출력과 예외 처리 (p.403~)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9장 전체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