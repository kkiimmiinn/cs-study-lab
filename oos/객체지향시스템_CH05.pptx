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저작권 안내. 인용 근거(저작권법 28조·37조 출처명시)와 자체 제작 원칙을 밝혀 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결론 먼저. 파이썬을 병행하는 학생은 들여쓰기 습관 때문에 줄바꿈의 함정에 가장 잘 빠진다는 점을 예고한다.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학점 계산기 실행 예(그림 5-1)는 99 A, 88 B, 18 F, 60 D, 17 F — 한 번의 예일 뿐. 띠 알아보기는 2002 % 12 = 10 이라 말 그림.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조건 결과는 참·거짓 두 가지뿐. 비교 연산자(CH04)가 조건식의 재료다. 세미콜론 실수는 오류가 아니라 경고라 더 위험하다는 점 강조.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학생에게 먼저 결과를 예측시키고 실행한다. 대부분 '프로그램 끝!' 한 줄만 나올 거라 답한다. 이것이 교재가 말하는 '줄바꿈의 함정'.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왼쪽은 소스 5-2를 줄바꿈만 바꾼 것 — 실행해 보면 결과가 똑같다. 들여쓰기는 사람을 위한 것이지 컴파일러를 위한 것이 아니다.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경계값 질문을 던진다: a가 100이면? 문장 내용과 실제가 어긋나는 사례 — 시험에서 즐겨 묻는 지점.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블록 없이 if 한 문장; 둘째 문장; else … 로 쓰면 else가 짝을 잃는다 — 컴파일러가 'else로 문을 시작할 수 없습니다'라고 알려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% 2 가 0이면 짝수, 1이면 홀수. 8행 괄호 뒤 공백은 원문 그대로 — 공백은 의미가 없다.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{ 바로 뒤에 문장을 붙여 쓴 모양, ==0 붙여 쓴 모양은 원문 그대로. 둘 다 문법상 문제없다. 15처럼 둘 다의 배수도 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50 &lt; a &lt; 100 만 알고 싶다면 if (a &gt; 50 &amp;&amp; a &lt; 100) 한 줄로도 된다. 중첩은 '어느 문에서 막혔는지'에 따라 다른 말을 하고 싶을 때 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교재도 1~16행, 17~28행 두 단으로 실었다. 큰 기준(90)부터 차례로 검사하는 계단 구조를 손가락으로 따라가며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위의 결과는 진짜 컴파일러로 한 번 돌린 것. 조건 순서를 뒤집어 60을 먼저 검사하면 95점도 D가 된다는 반례를 보여 준다.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들여쓰기가 한 단계로 정리되니 조건이 9개로 늘어도 읽기 쉽다 — 바로 다음 SELF STUDY 5-2가 그 연습.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기준: 95↑ A+, 90↑ A0, 85↑ B+, 80↑ B0, 75↑ C+, 70↑ C0, 65↑ D+, 60↑ D0, 미만 F. else if 사다리를 한 칸씩 늘리면 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if는 문장을 실행하고 삼항은 값을 만든다 — 그래서 대입의 오른쪽에 온다. 원문의 세미콜론 앞 공백은 의미 없음.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switch (a) 의 a 값과 같은 case로 바로 간다. 어디에도 맞지 않으면 default — if 사다리의 마지막 else 역할.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그림 5-10의 점선 화살표를 칠판에 그린다: switch → case 3 → break → 닫는 중괄호 밖.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실제로 break를 지우고 빌드해 오류 목록을 함께 읽는다. 오류 메시지 읽기 훈련(CH01)과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11·12행 빈 줄 두 개, case 9 : 의 콜론 앞 공백은 원문 그대로 — 실행에 영향 없음. 핵심은 13행 score /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교재 실행 예는 76 C, 99 A, 9 F, 78 C, 87 B. 9점이 9 / 10 = 0 → default → F 가 되는 과정을 짚는다.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SELF STUDY 5-3(switch를 중첩 if로)이 바로 이 둘이 같은 일을 할 수 있음을 확인하는 연습.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CH01에서 켠 '파일 확장명 표시'가 여기서 쓸모 있다 — 말.png.png 같은 이중 확장명 실수를 막는다.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(Name)은 코드가 부르는 변수 이름, Text는 화면에 보이는 글자. 이벤트 연결 절차는 교재 슬라이드에 따로 없어 CH02 방식으로 보충했다.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각 case를 한 줄에 몰아 썼을 뿐 소스 5-10과 같은 문법. 5행 앞 공백 한 칸 더 들어간 것은 원문 그대로.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나머지 0이 쥐가 아니라 원숭이인 이유: 2016년처럼 12로 나누어떨어지는 해가 원숭이해이기 때문. 가장 많이 틀리는 암기 포인트.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끝의 \\ 를 빼먹으면 폴더와 파일 이름이 붙어 c:\CookC#\images말.png 가 된다. @"…" 문자열은 교재 밖 일반 문법으로만 소개.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앞뒤(this.Text, int.Parse, imageFile 선언, Image.FromFile, SizeMode)는 소스 5-12와 같다.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모범 코드는 정리 노트 10절과 웹 실습실 연습 문제에 모두 있다. 결과 → 코드 역산을 매 장 습관으로.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5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8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9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0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1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notesSlide" Target="../notesSlides/notesSlide23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notesSlide" Target="../notesSlides/notesSlide24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5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Relationship Id="rId9" Type="http://schemas.openxmlformats.org/officeDocument/2006/relationships/image" Target="../media/image11.png"/><Relationship Id="rId10" Type="http://schemas.openxmlformats.org/officeDocument/2006/relationships/image" Target="../media/image12.png"/><Relationship Id="rId11" Type="http://schemas.openxmlformats.org/officeDocument/2006/relationships/image" Target="../media/image13.png"/><Relationship Id="rId12" Type="http://schemas.openxmlformats.org/officeDocument/2006/relationships/image" Target="../media/image14.png"/><Relationship Id="rId13" Type="http://schemas.openxmlformats.org/officeDocument/2006/relationships/image" Target="../media/image15.png"/><Relationship Id="rId14" Type="http://schemas.openxmlformats.org/officeDocument/2006/relationships/image" Target="../media/image16.png"/><Relationship Id="rId15" Type="http://schemas.openxmlformats.org/officeDocument/2006/relationships/notesSlide" Target="../notesSlides/notesSlide26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8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1280160" y="2777490"/>
            <a:ext cx="128016" cy="308610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828800" y="2859786"/>
            <a:ext cx="146304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 · 컴퓨터및소프트웨어공학전공(박사과정)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435858"/>
            <a:ext cx="14630400" cy="1440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85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객체지향시스템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5102352"/>
            <a:ext cx="987552" cy="473202"/>
          </a:xfrm>
          <a:prstGeom prst="roundRect">
            <a:avLst>
              <a:gd name="adj" fmla="val 20000"/>
            </a:avLst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828800" y="5133213"/>
            <a:ext cx="987552" cy="411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6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35808" y="5102352"/>
            <a:ext cx="128016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900" b="0" lang="ko-KR" altLang="en-US">
                <a:solidFill>
                  <a:srgbClr val="CFC7E2"/>
                </a:solidFill>
                <a:latin typeface="페이퍼로지 6 SemiBold"/>
                <a:ea typeface="페이퍼로지 6 SemiBold"/>
                <a:cs typeface="페이퍼로지 6 SemiBold"/>
              </a:rPr>
              <a:t>CHAPTER 05  ·  조건에 따라 갈라지는 코드</a:t>
            </a:r>
          </a:p>
        </p:txBody>
      </p:sp>
      <p:sp>
        <p:nvSpPr>
          <p:cNvPr id="8" name="Rectangle 7"/>
          <p:cNvSpPr/>
          <p:nvPr/>
        </p:nvSpPr>
        <p:spPr>
          <a:xfrm>
            <a:off x="1280160" y="6480810"/>
            <a:ext cx="15727680" cy="12344"/>
          </a:xfrm>
          <a:prstGeom prst="rect">
            <a:avLst/>
          </a:prstGeom>
          <a:solidFill>
            <a:srgbClr val="4A3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80160" y="6737985"/>
            <a:ext cx="14630400" cy="10287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70000"/>
              </a:lnSpc>
            </a:pPr>
            <a:r>
              <a:rPr sz="25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참고 교재  우재남, 『C# 프로그래밍 for Beginner』 (한빛아카데미)</a:t>
            </a:r>
          </a:p>
          <a:p>
            <a:pPr algn="l">
              <a:lnSpc>
                <a:spcPct val="170000"/>
              </a:lnSpc>
            </a:pPr>
            <a:r>
              <a:rPr sz="25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정리  김민  ·  대학원 학습·연구용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자료에 대하여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B03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92223" y="2299144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교재는 </a:t>
            </a:r>
            <a:r>
              <a:rPr sz="2200" b="0" lang="ko-KR" altLang="en-US">
                <a:solidFill>
                  <a:srgbClr val="B0306A"/>
                </a:solidFill>
                <a:latin typeface="프리젠테이션 5 Medium"/>
                <a:ea typeface="프리젠테이션 5 Medium"/>
                <a:cs typeface="프리젠테이션 5 Medium"/>
              </a:rPr>
              <a:t>수업 진도에 맞춘 참고용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이다 — 목차와 개념 체계를 참고하되, 내용은 직접 조사해 재구성·각색했다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024128" y="3559302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B03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024128" y="358501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92223" y="3286696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교재의 그림·내용 일부를 </a:t>
            </a:r>
            <a:r>
              <a:rPr sz="2100" b="0" lang="ko-KR" altLang="en-US">
                <a:solidFill>
                  <a:srgbClr val="B0306A"/>
                </a:solidFill>
                <a:latin typeface="프리젠테이션 5 Medium"/>
                <a:ea typeface="프리젠테이션 5 Medium"/>
                <a:cs typeface="프리젠테이션 5 Medium"/>
              </a:rPr>
              <a:t>저작권법 제28조(공표된 저작물의 인용)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에 따라 교육·연구 목적으로 발췌·인용하고, 각 슬라이드에 출처(교재 절·그림 번호)를 명시했다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454685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B03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24128" y="457257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92223" y="4274248"/>
            <a:ext cx="15471648" cy="86410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도표·그래프·예시 그림은 교재 것을 쓰지 않고 </a:t>
            </a:r>
            <a:r>
              <a:rPr sz="2900" b="0" lang="ko-KR" altLang="en-US">
                <a:solidFill>
                  <a:srgbClr val="B0306A"/>
                </a:solidFill>
                <a:latin typeface="프리젠테이션 5 Medium"/>
                <a:ea typeface="프리젠테이션 5 Medium"/>
                <a:cs typeface="프리젠테이션 5 Medium"/>
              </a:rPr>
              <a:t>전부 직접 제작</a:t>
            </a:r>
            <a:r>
              <a:rPr sz="2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했다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5863590"/>
            <a:ext cx="16239744" cy="159448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426464" y="6038469"/>
            <a:ext cx="15435071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이용 범위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6501384"/>
            <a:ext cx="15435071" cy="81267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 자료는 </a:t>
            </a:r>
            <a:r>
              <a:rPr sz="1900" b="0" lang="ko-KR" altLang="en-US">
                <a:solidFill>
                  <a:srgbClr val="B0306A"/>
                </a:solidFill>
                <a:latin typeface="프리젠테이션 5 Medium"/>
                <a:ea typeface="프리젠테이션 5 Medium"/>
                <a:cs typeface="프리젠테이션 5 Medium"/>
              </a:rPr>
              <a:t>대학원 개인 학습·연구 목적</a:t>
            </a: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으로만 제작·사용한다.</a:t>
            </a:r>
          </a:p>
          <a:p>
            <a:pPr algn="l">
              <a:lnSpc>
                <a:spcPct val="140000"/>
              </a:lnSpc>
            </a:pPr>
            <a:r>
              <a:rPr sz="19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저작권자의 허락 없는 무단 복제·전재·재배포 및 상업적 이용을 금한다.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4128" y="7766685"/>
            <a:ext cx="16239744" cy="185166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389888" y="796213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참고 문헌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89888" y="8589645"/>
            <a:ext cx="15508224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우재남, 『C# 프로그래밍 for Beginner』, 한빛아카데미  ·  수업 자료(CH01~09)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80160" y="2263140"/>
            <a:ext cx="7315200" cy="1645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100" b="0" lang="ko-KR" altLang="en-US">
                <a:solidFill>
                  <a:srgbClr val="54418A"/>
                </a:solidFill>
                <a:latin typeface="페이퍼로지 8 ExtraBold"/>
                <a:ea typeface="페이퍼로지 8 ExtraBold"/>
                <a:cs typeface="페이퍼로지 8 ExtraBold"/>
              </a:rPr>
              <a:t>CH 05</a:t>
            </a:r>
          </a:p>
        </p:txBody>
      </p:sp>
      <p:sp>
        <p:nvSpPr>
          <p:cNvPr id="3" name="Rectangle 2"/>
          <p:cNvSpPr/>
          <p:nvPr/>
        </p:nvSpPr>
        <p:spPr>
          <a:xfrm>
            <a:off x="1353312" y="4166235"/>
            <a:ext cx="2194560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280160" y="4526280"/>
            <a:ext cx="14264640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55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조건에 따라 갈라지는 코드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5709285"/>
            <a:ext cx="1426464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Branching with if, the Ternary Operator, and switch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53312" y="6583680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4B9D9"/>
                </a:solidFill>
                <a:latin typeface="프리젠테이션 5 Medium"/>
                <a:ea typeface="프리젠테이션 5 Medium"/>
                <a:cs typeface="프리젠테이션 5 Medium"/>
              </a:rPr>
              <a:t>·  if 한 문장의 규칙   ·   줄바꿈의 함정과 블록 { 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53312" y="7087743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4B9D9"/>
                </a:solidFill>
                <a:latin typeface="프리젠테이션 5 Medium"/>
                <a:ea typeface="프리젠테이션 5 Medium"/>
                <a:cs typeface="프리젠테이션 5 Medium"/>
              </a:rPr>
              <a:t>·  if ~ else · 중첩 if · else if 사다리 · 삼항 연산자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53312" y="7591806"/>
            <a:ext cx="12801600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C4B9D9"/>
                </a:solidFill>
                <a:latin typeface="프리젠테이션 5 Medium"/>
                <a:ea typeface="프리젠테이션 5 Medium"/>
                <a:cs typeface="프리젠테이션 5 Medium"/>
              </a:rPr>
              <a:t>·  switch ~ case와 break   ·   윈폼으로 띠 그림 띄우기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장에서 가져갈 것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조건에 따라 갈라지는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B03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3" y="2350579"/>
            <a:ext cx="1547164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블록 없는 if가 </a:t>
            </a:r>
            <a:r>
              <a:rPr sz="2700" b="0" lang="ko-KR" altLang="en-US">
                <a:solidFill>
                  <a:srgbClr val="B0306A"/>
                </a:solidFill>
                <a:latin typeface="프리젠테이션 5 Medium"/>
                <a:ea typeface="프리젠테이션 5 Medium"/>
                <a:cs typeface="프리젠테이션 5 Medium"/>
              </a:rPr>
              <a:t>바로 아래 한 문장만</a:t>
            </a:r>
            <a:r>
              <a:rPr sz="2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책임진다는 것을 코드로 보여 줄 수 있다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456432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B03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" y="348214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3" y="3235261"/>
            <a:ext cx="1547164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if ~ else · 중첩 if · else if · 삼항 연산자 · switch를 </a:t>
            </a:r>
            <a:r>
              <a:rPr sz="2700" b="0" lang="ko-KR" altLang="en-US">
                <a:solidFill>
                  <a:srgbClr val="B0306A"/>
                </a:solidFill>
                <a:latin typeface="프리젠테이션 5 Medium"/>
                <a:ea typeface="프리젠테이션 5 Medium"/>
                <a:cs typeface="프리젠테이션 5 Medium"/>
              </a:rPr>
              <a:t>상황에 맞게 골라</a:t>
            </a:r>
            <a:r>
              <a:rPr sz="2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쓴다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434111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B03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436683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3" y="4119943"/>
            <a:ext cx="15471648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700" b="0" lang="ko-KR" altLang="en-US">
                <a:solidFill>
                  <a:srgbClr val="B0306A"/>
                </a:solidFill>
                <a:latin typeface="프리젠테이션 5 Medium"/>
                <a:ea typeface="프리젠테이션 5 Medium"/>
                <a:cs typeface="프리젠테이션 5 Medium"/>
              </a:rPr>
              <a:t>switch (year % 12)</a:t>
            </a:r>
            <a:r>
              <a:rPr sz="2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로 띠를 계산해 PictureBox에 그림을 띄우는 윈폼을 만든다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5554980"/>
            <a:ext cx="16239744" cy="313753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389888" y="5750433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미리 보는 결론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6377940"/>
            <a:ext cx="15508224" cy="219113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조건은 참(True)과 거짓(False) 두 갈래뿐이다.</a:t>
            </a:r>
          </a:p>
          <a:p>
            <a:pPr algn="l">
              <a:lnSpc>
                <a:spcPct val="142000"/>
              </a:lnSpc>
            </a:pPr>
            <a:r>
              <a:rPr sz="2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두 문장 이상을 조건에 묶으려면 반드시 </a:t>
            </a:r>
            <a:r>
              <a:rPr sz="2800" b="0" lang="ko-KR" altLang="en-US">
                <a:solidFill>
                  <a:srgbClr val="B0306A"/>
                </a:solidFill>
                <a:latin typeface="프리젠테이션 5 Medium"/>
                <a:ea typeface="프리젠테이션 5 Medium"/>
                <a:cs typeface="프리젠테이션 5 Medium"/>
              </a:rPr>
              <a:t>블록 { }</a:t>
            </a:r>
            <a:r>
              <a:rPr sz="2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, switch의 각 case는 반드시 </a:t>
            </a:r>
            <a:r>
              <a:rPr sz="2800" b="0" lang="ko-KR" altLang="en-US">
                <a:solidFill>
                  <a:srgbClr val="B0306A"/>
                </a:solidFill>
                <a:latin typeface="프리젠테이션 5 Medium"/>
                <a:ea typeface="프리젠테이션 5 Medium"/>
                <a:cs typeface="프리젠테이션 5 Medium"/>
              </a:rPr>
              <a:t>break</a:t>
            </a:r>
            <a:r>
              <a:rPr sz="28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로 끝낸다.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5장 · p.181~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이 장에서 만들 두 프로그램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조건에 따라 갈라지는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058400" cy="534924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2578608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306A"/>
                </a:solidFill>
                <a:latin typeface="페이퍼로지 8 ExtraBold"/>
                <a:ea typeface="페이퍼로지 8 ExtraBold"/>
                <a:cs typeface="페이퍼로지 8 ExtraBold"/>
              </a:rPr>
              <a:t>프로그램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61104" y="2571750"/>
            <a:ext cx="6601968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306A"/>
                </a:solidFill>
                <a:latin typeface="페이퍼로지 8 ExtraBold"/>
                <a:ea typeface="페이퍼로지 8 ExtraBold"/>
                <a:cs typeface="페이퍼로지 8 ExtraBold"/>
              </a:rPr>
              <a:t>하는 일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106674"/>
            <a:ext cx="10058400" cy="144018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80160" y="3106674"/>
            <a:ext cx="2505456" cy="1440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B0306A"/>
                </a:solidFill>
                <a:latin typeface="프리젠테이션 5 Medium"/>
                <a:ea typeface="프리젠테이션 5 Medium"/>
                <a:cs typeface="프리젠테이션 5 Medium"/>
              </a:rPr>
              <a:t>학점 계산기</a:t>
            </a:r>
          </a:p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(콘솔)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106674"/>
            <a:ext cx="6528816" cy="1440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0~99 난수 점수 5개에 A·B·C·D·F 학점을 매긴다 — 중첩 if, switch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546854"/>
            <a:ext cx="2505456" cy="1440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B0306A"/>
                </a:solidFill>
                <a:latin typeface="프리젠테이션 5 Medium"/>
                <a:ea typeface="프리젠테이션 5 Medium"/>
                <a:cs typeface="프리젠테이션 5 Medium"/>
              </a:rPr>
              <a:t>띠 알아보기</a:t>
            </a:r>
          </a:p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(윈폼)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297680" y="4546854"/>
            <a:ext cx="6528816" cy="14401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출생 연도를 넣고 버튼을 누르면 띠 동물 그림이 뜬다 — switch (year % 12)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5966460"/>
            <a:ext cx="10058400" cy="272605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426464" y="6141339"/>
            <a:ext cx="9253728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난수 주의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26464" y="6604254"/>
            <a:ext cx="9253728" cy="194424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학점 계산기는 점수를 Random으로 뽑는다. </a:t>
            </a:r>
            <a:r>
              <a:rPr sz="2600" b="0" lang="ko-KR" altLang="en-US">
                <a:solidFill>
                  <a:srgbClr val="B0306A"/>
                </a:solidFill>
                <a:latin typeface="프리젠테이션 5 Medium"/>
                <a:ea typeface="프리젠테이션 5 Medium"/>
                <a:cs typeface="프리젠테이션 5 Medium"/>
              </a:rPr>
              <a:t>실행할 때마다 결과가 다르다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교재 화면과 달라도 정상이다.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521440" y="2571750"/>
            <a:ext cx="5742432" cy="612076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3" name="Picture 22" descr="fig5-2_ru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368623" y="2664333"/>
            <a:ext cx="4048065" cy="5482971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11521440" y="8239887"/>
            <a:ext cx="5742432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1777472" y="8239887"/>
            <a:ext cx="5230367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19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5-2 발췌 — 2002 입력 → 말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1절 · p.182 · 그림 5-1, 5-2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if 문 — 참이면 바로 아래 한 문장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조건에 따라 갈라지는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509760" cy="329184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778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5-1 · Project05_1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705088" cy="25717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a = 99;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(a &lt; 100)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Console.WriteLine("100보다 작군요.");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6172200"/>
            <a:ext cx="9509760" cy="123444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24128" y="6172200"/>
            <a:ext cx="91440" cy="123444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6275070"/>
            <a:ext cx="877824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6624828"/>
            <a:ext cx="8705088" cy="6583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100보다 작군요.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45952" y="2571750"/>
            <a:ext cx="6217920" cy="612076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411712" y="2767203"/>
            <a:ext cx="54864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형식과 흐름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11712" y="3394710"/>
            <a:ext cx="5486400" cy="51743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if (조건식) 실행할_문장;</a:t>
            </a:r>
          </a:p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조건식이 </a:t>
            </a:r>
            <a:r>
              <a:rPr sz="2600" b="0" lang="ko-KR" altLang="en-US">
                <a:solidFill>
                  <a:srgbClr val="B0306A"/>
                </a:solidFill>
                <a:latin typeface="프리젠테이션 5 Medium"/>
                <a:ea typeface="프리젠테이션 5 Medium"/>
                <a:cs typeface="프리젠테이션 5 Medium"/>
              </a:rPr>
              <a:t>참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이면 실행하고, </a:t>
            </a:r>
            <a:r>
              <a:rPr sz="2600" b="0" lang="ko-KR" altLang="en-US">
                <a:solidFill>
                  <a:srgbClr val="B0306A"/>
                </a:solidFill>
                <a:latin typeface="프리젠테이션 5 Medium"/>
                <a:ea typeface="프리젠테이션 5 Medium"/>
                <a:cs typeface="프리젠테이션 5 Medium"/>
              </a:rPr>
              <a:t>거짓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이면 건너뛴 뒤 다음 줄로 합류한다.</a:t>
            </a:r>
          </a:p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 = 99라서 99 &lt; 100은 참, 그래서 출력된다.</a:t>
            </a:r>
          </a:p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쉽게 말하면 if는 </a:t>
            </a:r>
            <a:r>
              <a:rPr sz="2600" b="0" lang="ko-KR" altLang="en-US">
                <a:solidFill>
                  <a:srgbClr val="B0306A"/>
                </a:solidFill>
                <a:latin typeface="프리젠테이션 5 Medium"/>
                <a:ea typeface="프리젠테이션 5 Medium"/>
                <a:cs typeface="프리젠테이션 5 Medium"/>
              </a:rPr>
              <a:t>문지기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통과증이 있으면 바로 앞 방 한 칸만 열어 준다.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if (a &lt; 100); 처럼 조건 뒤 세미콜론은 빈 문장 — 경고 CS0642만 뜨고 아래 줄은 항상 실행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2.1절 · p.184~ · 그림 5-3, 5-4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줄바꿈의 함정 — 들여 썼는데 왜 찍힐까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조건에 따라 갈라지는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058400" cy="432054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326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5-2 · Project05_2 — a = 200, 조건은 거짓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253728" cy="360045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a = 200;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(a &lt; 100)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Console.WriteLine("100보다 작군요.");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Console.WriteLine("거짓이므로 이 문장은 안 보이겠죠?");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Console.WriteLine("프로그램 끝! 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7149465"/>
            <a:ext cx="10058400" cy="154305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24128" y="7149465"/>
            <a:ext cx="91440" cy="154305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7252335"/>
            <a:ext cx="932688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7602093"/>
            <a:ext cx="9253728" cy="96697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거짓이므로 이 문장은 안 보이겠죠?</a:t>
            </a:r>
          </a:p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프로그램 끝!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21440" y="2571750"/>
            <a:ext cx="5742432" cy="612076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923776" y="2746629"/>
            <a:ext cx="4937760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6행만 건너뛴다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923776" y="3209544"/>
            <a:ext cx="4937760" cy="53389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블록이 없는 if는 들여쓰기와 상관없이 </a:t>
            </a:r>
            <a:r>
              <a:rPr sz="2600" b="0" lang="ko-KR" altLang="en-US">
                <a:solidFill>
                  <a:srgbClr val="B0306A"/>
                </a:solidFill>
                <a:latin typeface="프리젠테이션 5 Medium"/>
                <a:ea typeface="프리젠테이션 5 Medium"/>
                <a:cs typeface="프리젠테이션 5 Medium"/>
              </a:rPr>
              <a:t>바로 아래 한 문장(6행)만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조건에 걸린다.</a:t>
            </a:r>
          </a:p>
          <a:p>
            <a:pPr algn="l">
              <a:lnSpc>
                <a:spcPct val="140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7행은 들여쓰기만 같을 뿐 if와 무관한 문장이라 항상 실행된다.</a:t>
            </a:r>
          </a:p>
          <a:p>
            <a:pPr algn="l">
              <a:lnSpc>
                <a:spcPct val="140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C#은 들여쓰기를 보지 않는다 — 파이썬과 정반대다.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2.1절 · 소스 5-2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해결책은 블록 { }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조건에 따라 갈라지는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936992" cy="288036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2054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컴파일러 눈에 보이는 소스 5-2 — 결과 동일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132320" cy="216027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(a &lt; 100)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Console.WriteLine("100보다 작군요.");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Console.WriteLine("거짓이므로 이 문장은 안 보이겠죠?");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Console.WriteLine("프로그램 끝! ");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571750"/>
            <a:ext cx="7936992" cy="473202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92640" y="2674620"/>
            <a:ext cx="72054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5-3 · Project05_3 — 블록으로 묶음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9216" y="3168396"/>
            <a:ext cx="7132320" cy="401193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a = 200;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(a &lt; 100)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Console.WriteLine("100보다 작군요.");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Console.WriteLine("거짓이므로 이 문장은 안보이겠죠?");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Console.WriteLine("프로그램 끝! 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26880" y="7509510"/>
            <a:ext cx="7936992" cy="118300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9326880" y="7509510"/>
            <a:ext cx="91440" cy="118300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692640" y="7612380"/>
            <a:ext cx="720547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29216" y="7962138"/>
            <a:ext cx="7132320" cy="60693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프로그램 끝! 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24128" y="5709285"/>
            <a:ext cx="7936992" cy="298323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389888" y="5904738"/>
            <a:ext cx="72054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블록 = 한 덩어리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89888" y="6532245"/>
            <a:ext cx="7205472" cy="20368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{ } 안의 문장은 한꺼번에 실행되거나 한꺼번에 건너뛴다.</a:t>
            </a:r>
          </a:p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문장이 하나뿐이어도 { }를 쓰는 습관이 함정을 막는다.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8행 '안보이겠죠?'는 원문 표기(띄어쓰기 없음) 그대로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2.1절 · 소스 5-3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if ~ else — 두 갈래 중 하나는 반드시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조건에 따라 갈라지는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09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509760" cy="370332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77824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5-4 · Project05_4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705088" cy="298323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a = 200;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(a &lt; 100)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Console.WriteLine("100보다 작군요..");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else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Console.WriteLine("100보다 크군요..");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6532245"/>
            <a:ext cx="9509760" cy="123444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24128" y="6532245"/>
            <a:ext cx="91440" cy="123444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6635115"/>
            <a:ext cx="877824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6984873"/>
            <a:ext cx="8705088" cy="65836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100보다 크군요..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045952" y="2571750"/>
            <a:ext cx="6217920" cy="612076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411712" y="2767203"/>
            <a:ext cx="54864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갈림길 표지판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11712" y="3394710"/>
            <a:ext cx="5486400" cy="51743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참이면 실행할_문장_1, 거짓이면 실행할_문장_2.</a:t>
            </a:r>
          </a:p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둘 다 실행되거나 둘 다 건너뛰는 일은 없다.</a:t>
            </a:r>
          </a:p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경계값 주의 — a가 정확히 100이면 100 &lt; 100은 거짓이라 '100보다 크군요..'가 나온다.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2.2절 · p.186~ · 그림 5-5, 5-6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양쪽 갈래에 여러 문장 — 블록으로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조건에 따라 갈라지는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05840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326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5-5 · Project05_5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25372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a = 200;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(a &lt; 100)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Console.WriteLine("100보다 작군요..");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Console.WriteLine("참이면 이 문장도 보이겠죠?");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else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Console.WriteLine("100보다 크군요..");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Console.WriteLine("거짓이면 이 문장도 보이겠죠?");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Console.WriteLine("프로그램 끝! 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521440" y="2571750"/>
            <a:ext cx="5742432" cy="205740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521440" y="2571750"/>
            <a:ext cx="91440" cy="205740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887200" y="2674620"/>
            <a:ext cx="501091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23776" y="3024378"/>
            <a:ext cx="4937760" cy="148132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100보다 크군요..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거짓이면 이 문장도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보이겠죠?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프로그램 끝! 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21440" y="4886325"/>
            <a:ext cx="5742432" cy="380619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887200" y="5081778"/>
            <a:ext cx="50109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읽는 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0" y="5709285"/>
            <a:ext cx="5010912" cy="285978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거짓이므로 else 블록 두 줄이 모두 실행되고, if ~ else가 끝나면 16행으로 합류한다.</a:t>
            </a:r>
          </a:p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블록 없이 두 문장을 쓰고 else를 붙이면 CS8641 오류.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실행 결과 둘째 줄은 상자 폭 때문에 나눠 적었을 뿐 한 줄이다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2.2절 · 소스 5-5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짝수·홀수 구분 — 나머지 연산자 %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조건에 따라 갈라지는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05840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326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5-6 · Project05_6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25372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a;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Console.Write("정수를 입력하세요 : 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a = int.Parse(Console.ReadLine());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( a % 2 == 0)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Console.WriteLine("짝수를 입력했군요..");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else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Console.WriteLine("홀수를 입력했군요..");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521440" y="2571750"/>
            <a:ext cx="5742432" cy="185166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521440" y="2571750"/>
            <a:ext cx="91440" cy="185166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887200" y="2674620"/>
            <a:ext cx="501091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(7 입력)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23776" y="3024378"/>
            <a:ext cx="4937760" cy="12755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정수를 입력하세요 : 7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홀수를 입력했군요..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21440" y="4629150"/>
            <a:ext cx="5742432" cy="185166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11521440" y="4629150"/>
            <a:ext cx="91440" cy="185166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1887200" y="4732020"/>
            <a:ext cx="501091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(10 입력)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923776" y="5081778"/>
            <a:ext cx="4937760" cy="12755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정수를 입력하세요 : 10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짝수를 입력했군요..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521440" y="6686550"/>
            <a:ext cx="5742432" cy="200596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1887200" y="6882003"/>
            <a:ext cx="50109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핵심 두 가지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0" y="7509510"/>
            <a:ext cx="5010912" cy="10595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ReadLine은 문자열 → int.Parse로 정수로.</a:t>
            </a:r>
          </a:p>
          <a:p>
            <a:pPr algn="l">
              <a:lnSpc>
                <a:spcPct val="142000"/>
              </a:lnSpc>
            </a:pPr>
            <a:r>
              <a:rPr sz="17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비교는 == (= 하나면 CS0131 오류).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교재에 결과 화면이 없어 직접 실행한 결과를 실었다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2.2절 · 소스 5-6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SELF STUDY 5-1 — 3의 배수 또는 5의 배수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조건에 따라 갈라지는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972800" cy="452628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102412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풀이 코드 (Main 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10168128" cy="380619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a;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Console.Write("정수를 입력하세요 : 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a = int.Parse(Console.ReadLine());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(a % 3 == 0 || a % 5 ==0)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    Console.WriteLine("3의 배수 또는 5의 배수를 입력했군요..");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else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    Console.WriteLine("3의 배수도 아니고 5의 배수도 아닙니다..");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7303770"/>
            <a:ext cx="10972800" cy="138874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024128" y="7303770"/>
            <a:ext cx="91440" cy="138874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389888" y="7406640"/>
            <a:ext cx="1024128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7756398"/>
            <a:ext cx="10168128" cy="81267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정수를 입력하세요 : 333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3의 배수 또는 5의 배수를 입력했군요..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2435840" y="2571750"/>
            <a:ext cx="4828032" cy="612076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2801600" y="2767203"/>
            <a:ext cx="40965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이거나 = ||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801600" y="3394710"/>
            <a:ext cx="4096512" cy="51743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둘 중 하나만 참이어도 전체가 참이다.</a:t>
            </a:r>
          </a:p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333 = 3 × 111이라 참.</a:t>
            </a:r>
          </a:p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7을 넣으면 else 쪽 문장이 나온다.</a:t>
            </a:r>
          </a:p>
          <a:p>
            <a:pPr algn="l">
              <a:lnSpc>
                <a:spcPct val="142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문제 화면은 마침표 한 개, 풀이 코드는 두 개다.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2.2절 · SELF STUDY 5-1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중첩 if — 1층 문을 지나야 2층 문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조건에 따라 갈라지는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05840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326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5-7 · Project05_7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25372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a = 75;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(a &gt; 50)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if (a &lt; 100)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{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Console.WriteLine("50보다 크고 100보다 작군요..");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else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{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Console.WriteLine("와~~ 100보다 크군요..");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else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Console.WriteLine("아~ 50보다 작군요..");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521440" y="2571750"/>
            <a:ext cx="5742432" cy="133731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521440" y="2571750"/>
            <a:ext cx="91440" cy="133731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1887200" y="2674620"/>
            <a:ext cx="501091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923776" y="3024378"/>
            <a:ext cx="4937760" cy="76123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50보다 크고 100보다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작군요..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521440" y="4217670"/>
            <a:ext cx="5742432" cy="493776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740896" y="4217670"/>
            <a:ext cx="1054120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306A"/>
                </a:solidFill>
                <a:latin typeface="페이퍼로지 8 ExtraBold"/>
                <a:ea typeface="페이퍼로지 8 ExtraBold"/>
                <a:cs typeface="페이퍼로지 8 ExtraBold"/>
              </a:rPr>
              <a:t>a 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233928" y="4217670"/>
            <a:ext cx="3810487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306A"/>
                </a:solidFill>
                <a:latin typeface="페이퍼로지 8 ExtraBold"/>
                <a:ea typeface="페이퍼로지 8 ExtraBold"/>
                <a:cs typeface="페이퍼로지 8 ExtraBold"/>
              </a:rPr>
              <a:t>출력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1521440" y="4711446"/>
            <a:ext cx="5742432" cy="82296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1777472" y="4711446"/>
            <a:ext cx="98096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270504" y="4711446"/>
            <a:ext cx="37373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50보다 크고 100보다 작군요..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777472" y="5534406"/>
            <a:ext cx="98096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150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70504" y="5534406"/>
            <a:ext cx="37373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와~~ 100보다 크군요..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1521440" y="6357366"/>
            <a:ext cx="5742432" cy="82296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1777472" y="6357366"/>
            <a:ext cx="980968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70504" y="6357366"/>
            <a:ext cx="3737335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아~ 50보다 작군요..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1521440" y="7303770"/>
            <a:ext cx="5742432" cy="138874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1887200" y="7447788"/>
            <a:ext cx="5010912" cy="47217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정의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887200" y="7991970"/>
            <a:ext cx="5010912" cy="577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if의 결과로 다시 if를 판정 — 중첩(중복) if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3절 · p.190 · 그림 5-7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[프로그램 1] 학점 계산기 — 소스 5-8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조건에 따라 갈라지는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936992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2054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Project05_8 · 1~16행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132320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score;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Random rnd = new Random();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0; i &lt; 5; i++)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score = rnd.Next(0, 100);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Console.Write("취득 점수 " + score + " ==&gt; 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if ( score &gt;= 90)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Console.Write("A");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else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if (score &gt;= 80)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Console.Write("B");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571750"/>
            <a:ext cx="7936992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92640" y="2674620"/>
            <a:ext cx="72054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17~28행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9216" y="3168396"/>
            <a:ext cx="7132320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else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if (score &gt;= 70)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    Console.Write("C");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else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    if (score &gt;= 60)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        Console.Write("D");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    else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        Console.Write("F");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 학점");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Random을 쓰므로 실행할 때마다 결과가 다르다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3.1절 · p.191~ · 소스 5-8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학점 계산기 — 결과와 핵심 부품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조건에 따라 갈라지는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315200" cy="308610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024128" y="2571750"/>
            <a:ext cx="91440" cy="308610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89888" y="2674620"/>
            <a:ext cx="658368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(한 번의 예)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3024378"/>
            <a:ext cx="6510528" cy="251002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취득 점수 24 ==&gt; F 학점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취득 점수 30 ==&gt; F 학점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취득 점수 79 ==&gt; C 학점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취득 점수 3 ==&gt; F 학점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취득 점수 67 ==&gt; D 학점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24128" y="5915025"/>
            <a:ext cx="7315200" cy="277749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426464" y="6089904"/>
            <a:ext cx="6510528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매번 다르다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26464" y="6552819"/>
            <a:ext cx="6510528" cy="19956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난수라서 실행할 때마다 점수가 바뀐다. 교재 예는 99 A · 88 B · 18 F · 60 D · 17 F.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2571750"/>
            <a:ext cx="8485632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997696" y="2571750"/>
            <a:ext cx="3294766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306A"/>
                </a:solidFill>
                <a:latin typeface="페이퍼로지 8 ExtraBold"/>
                <a:ea typeface="페이퍼로지 8 ExtraBold"/>
                <a:cs typeface="페이퍼로지 8 ExtraBold"/>
              </a:rPr>
              <a:t>코드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2731374" y="2571750"/>
            <a:ext cx="4313041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306A"/>
                </a:solidFill>
                <a:latin typeface="페이퍼로지 8 ExtraBold"/>
                <a:ea typeface="페이퍼로지 8 ExtraBold"/>
                <a:cs typeface="페이퍼로지 8 ExtraBold"/>
              </a:rPr>
              <a:t>뜻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3086100"/>
            <a:ext cx="8485632" cy="106984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034272" y="3086100"/>
            <a:ext cx="3221614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new Random()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767950" y="3086100"/>
            <a:ext cx="4239889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난수 만드는 도구 준비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34272" y="4155948"/>
            <a:ext cx="3221614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rnd.Next(0, 100)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767950" y="4155948"/>
            <a:ext cx="4239889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B0306A"/>
                </a:solidFill>
                <a:latin typeface="프리젠테이션 5 Medium"/>
                <a:ea typeface="프리젠테이션 5 Medium"/>
                <a:cs typeface="프리젠테이션 5 Medium"/>
              </a:rPr>
              <a:t>0~99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— 100은 안 나옴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778240" y="5225796"/>
            <a:ext cx="8485632" cy="106984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034272" y="5225796"/>
            <a:ext cx="3221614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for (… i &lt; 5 …)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767950" y="5225796"/>
            <a:ext cx="4239889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5번 반복 (CH06)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34272" y="6295644"/>
            <a:ext cx="3221614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Console.Write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767950" y="6295644"/>
            <a:ext cx="4239889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줄 안 바꾸고 이어 찍기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778240" y="7365492"/>
            <a:ext cx="8485632" cy="106984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9034272" y="7365492"/>
            <a:ext cx="3221614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" 학점"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767950" y="7365492"/>
            <a:ext cx="4239889" cy="10698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앞 공백 → A 학점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90 이상은 이미 걸러졌으니 두 번째 조건 score &gt;= 80 만으로 80~89가 된다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3.1절 · 그림 5-8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여기서 잠깐 — else if 사다리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조건에 따라 갈라지는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412480" cy="462915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68096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5-8의 12~24행을 간소화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607808" cy="390906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(score &gt;= 90)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Console.Write("A");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else if (score &gt;= 80)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Console.Write("B");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else if (score &gt;= 70)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Console.Write("C");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else if (score &gt;= 60)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Console.Write("D");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else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Console.Write("F");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875520" y="2571750"/>
            <a:ext cx="7388352" cy="308610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0" y="2767203"/>
            <a:ext cx="665683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계단식 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241280" y="3394710"/>
            <a:ext cx="6656832" cy="21396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else 바로 뒤에 if를 붙였을 뿐, 문법은 같은 중첩 if다.</a:t>
            </a:r>
          </a:p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가장 촘촘한 체(90 이상)부터 걸러 내고, 어디에도 안 걸리면 맨 아래 else로 떨어진다.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875520" y="5915025"/>
            <a:ext cx="7388352" cy="277749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77856" y="6089904"/>
            <a:ext cx="6583680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순서가 곧 정답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277856" y="6552819"/>
            <a:ext cx="6583680" cy="199567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위에서부터 검사해 처음 참인 곳에서 멈춘다. </a:t>
            </a:r>
            <a:r>
              <a:rPr sz="2500" b="0" lang="ko-KR" altLang="en-US">
                <a:solidFill>
                  <a:srgbClr val="B0306A"/>
                </a:solidFill>
                <a:latin typeface="프리젠테이션 5 Medium"/>
                <a:ea typeface="프리젠테이션 5 Medium"/>
                <a:cs typeface="프리젠테이션 5 Medium"/>
              </a:rPr>
              <a:t>큰 기준부터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써야 한다.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7458075"/>
            <a:ext cx="8412480" cy="123444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389888" y="7602093"/>
            <a:ext cx="7680960" cy="4197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4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동작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8093811"/>
            <a:ext cx="7680960" cy="47525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끼워 실행해 보면 소스 5-8과 똑같이 동작한다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3.1절 '여기서 잠깐'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SELF STUDY 5-2 — 학점을 9단계로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조건에 따라 갈라지는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31520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65836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판정 부분 (나머지는 소스 5-8과 동일)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651052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(score &gt;= 95)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Console.Write("A+");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else if (score &gt;= 90)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Console.Write("A0");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else if (score &gt;= 85)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Console.Write("B+");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else if (score &gt;= 80)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Console.Write("B0");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else if (score &gt;= 75)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Console.Write("C+");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else if (score &gt;= 70)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Console.Write("C0");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else if (score &gt;= 65)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Console.Write("D+");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else if (score &gt;= 60)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Console.Write("D0");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else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Console.Write("F");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778240" y="2571750"/>
            <a:ext cx="8485632" cy="288036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8778240" y="2571750"/>
            <a:ext cx="91440" cy="288036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44000" y="2674620"/>
            <a:ext cx="775411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문제의 실행 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80576" y="3024378"/>
            <a:ext cx="7680960" cy="230428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취득 점수 89 ==&gt; B+ 학점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취득 점수 99 ==&gt; A+ 학점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취득 점수 11 ==&gt; F 학점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취득 점수 37 ==&gt; F 학점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취득 점수 73 ==&gt; C0 학점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78240" y="5709285"/>
            <a:ext cx="8485632" cy="298323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144000" y="5904738"/>
            <a:ext cx="77541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검증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6532245"/>
            <a:ext cx="7754112" cy="20368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경계값 95·90·85·80·75·70·65·60·59를 넣어 돌려 모두 기준대로 나오는 것을 확인했다.</a:t>
            </a:r>
          </a:p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이 프로그램도 난수라 실행할 때마다 결과가 다르다.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3.1절 · SELF STUDY 5-2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삼항 연산자 — if ~ else를 한 줄로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조건에 따라 갈라지는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144000" cy="4114800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8412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5-9 · Project05_9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8339328" cy="3394710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jumsu = 55;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string res;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if (jumsu &gt;= 60)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res = "합격";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else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res = "불합격";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Console.WriteLine(res);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6892290"/>
            <a:ext cx="9144000" cy="180022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389888" y="6995160"/>
            <a:ext cx="84124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6~9행을 삼항 연산자로 — 결과는 똑같이 '불합격'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26464" y="7488936"/>
            <a:ext cx="8339328" cy="108013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res = (jumsu &gt;= 60) ? "합격" : "불합격" ;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680192" y="2571750"/>
            <a:ext cx="6583680" cy="1183005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ectangle 17"/>
          <p:cNvSpPr/>
          <p:nvPr/>
        </p:nvSpPr>
        <p:spPr>
          <a:xfrm>
            <a:off x="10680192" y="2571750"/>
            <a:ext cx="91440" cy="118300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1045952" y="2674620"/>
            <a:ext cx="585216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82528" y="3024378"/>
            <a:ext cx="5779008" cy="606933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5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불합격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680192" y="4011930"/>
            <a:ext cx="6583680" cy="216027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11045952" y="4207383"/>
            <a:ext cx="585216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(조건식) ? 참일_때 : 거짓일_때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045952" y="4834890"/>
            <a:ext cx="5852160" cy="121386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참이면 앞의 값, 거짓이면 뒤의 값이 결과로 돌아온다. 항이 셋이라 삼항.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680192" y="6429375"/>
            <a:ext cx="6583680" cy="226314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1082528" y="6604254"/>
            <a:ext cx="5779008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자주 하는 실수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82528" y="7067169"/>
            <a:ext cx="5779008" cy="14813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두 값의 형식이 다르면 CS0173. else를 빼 res가 빌 수 있으면 CS0165.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3.2절 · p.193~ · 소스 5-9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switch ~ case — 값으로 곧장 점프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조건에 따라 갈라지는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19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936992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2054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소스 5-10 · Project05_10 · 1~14행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132320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a;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Console.Write("1 ~ 4 중에 선택하세요 : 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a = int.Parse(Console.ReadLine());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switch (a)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case 1: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Console.WriteLine("1을 선택했다.");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break;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case 2: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Console.WriteLine("2를 선택했다.");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571750"/>
            <a:ext cx="7936992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92640" y="2674620"/>
            <a:ext cx="72054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15~26행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9216" y="3168396"/>
            <a:ext cx="7132320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break;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case 3: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Console.WriteLine("3을 선택했다.");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break;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case 4: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Console.WriteLine("4를 선택했다.");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break;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default: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Console.WriteLine("이상한 것을 선택했다.");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break;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case 뒤는 콜론(:), 각 case 끝은 break;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4절 · p.195~ · 소스 5-10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switch의 흐름 — 엘리베이터 층 버튼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조건에 따라 갈라지는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936992" cy="154305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1024128" y="2571750"/>
            <a:ext cx="91440" cy="154305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389888" y="2674620"/>
            <a:ext cx="720547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(3 입력)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26464" y="3024378"/>
            <a:ext cx="7132320" cy="96697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 ~ 4 중에 선택하세요 : 3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3을 선택했다.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326880" y="2571750"/>
            <a:ext cx="7936992" cy="154305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9326880" y="2571750"/>
            <a:ext cx="91440" cy="154305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692640" y="2674620"/>
            <a:ext cx="7205472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(7 입력)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29216" y="3024378"/>
            <a:ext cx="7132320" cy="96697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1 ~ 4 중에 선택하세요 : 7</a:t>
            </a:r>
          </a:p>
          <a:p>
            <a:pPr>
              <a:lnSpc>
                <a:spcPct val="132000"/>
              </a:lnSpc>
            </a:pPr>
            <a:r>
              <a:rPr sz="14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이상한 것을 선택했다.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4423410"/>
            <a:ext cx="3840480" cy="216027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1024128" y="4423410"/>
            <a:ext cx="3840480" cy="102870"/>
          </a:xfrm>
          <a:prstGeom prst="rect">
            <a:avLst/>
          </a:prstGeom>
          <a:solidFill>
            <a:srgbClr val="B03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316735" y="4629150"/>
            <a:ext cx="3255264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lang="ko-KR" altLang="en-US">
                <a:solidFill>
                  <a:srgbClr val="B0306A"/>
                </a:solidFill>
                <a:latin typeface="페이퍼로지 8 ExtraBold"/>
                <a:ea typeface="페이퍼로지 8 ExtraBold"/>
                <a:cs typeface="페이퍼로지 8 ExtraBold"/>
              </a:rPr>
              <a:t>switch (a)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16735" y="5061204"/>
            <a:ext cx="3255264" cy="13784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 = 3 확인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91456" y="5277231"/>
            <a:ext cx="4389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300" b="0" lang="ko-KR" altLang="en-US">
                <a:solidFill>
                  <a:srgbClr val="6B7A80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157216" y="4423410"/>
            <a:ext cx="3840480" cy="216027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157216" y="4423410"/>
            <a:ext cx="3840480" cy="102870"/>
          </a:xfrm>
          <a:prstGeom prst="rect">
            <a:avLst/>
          </a:prstGeom>
          <a:solidFill>
            <a:srgbClr val="B03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449824" y="4629150"/>
            <a:ext cx="3255264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lang="ko-KR" altLang="en-US">
                <a:solidFill>
                  <a:srgbClr val="B0306A"/>
                </a:solidFill>
                <a:latin typeface="페이퍼로지 8 ExtraBold"/>
                <a:ea typeface="페이퍼로지 8 ExtraBold"/>
                <a:cs typeface="페이퍼로지 8 ExtraBold"/>
              </a:rPr>
              <a:t>case 3: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49824" y="5061204"/>
            <a:ext cx="3255264" cy="13784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1·2는 검사도 없이 곧장 점프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24544" y="5277231"/>
            <a:ext cx="4389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300" b="0" lang="ko-KR" altLang="en-US">
                <a:solidFill>
                  <a:srgbClr val="6B7A80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90304" y="4423410"/>
            <a:ext cx="3840480" cy="216027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ectangle 29"/>
          <p:cNvSpPr/>
          <p:nvPr/>
        </p:nvSpPr>
        <p:spPr>
          <a:xfrm>
            <a:off x="9290304" y="4423410"/>
            <a:ext cx="3840480" cy="102870"/>
          </a:xfrm>
          <a:prstGeom prst="rect">
            <a:avLst/>
          </a:prstGeom>
          <a:solidFill>
            <a:srgbClr val="B03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9582912" y="4629150"/>
            <a:ext cx="3255264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lang="ko-KR" altLang="en-US">
                <a:solidFill>
                  <a:srgbClr val="B0306A"/>
                </a:solidFill>
                <a:latin typeface="페이퍼로지 8 ExtraBold"/>
                <a:ea typeface="페이퍼로지 8 ExtraBold"/>
                <a:cs typeface="페이퍼로지 8 ExtraBold"/>
              </a:rPr>
              <a:t>출력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82912" y="5061204"/>
            <a:ext cx="3255264" cy="13784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3을 선택했다.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3057632" y="5277231"/>
            <a:ext cx="438912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3300" b="0" lang="ko-KR" altLang="en-US">
                <a:solidFill>
                  <a:srgbClr val="6B7A80"/>
                </a:solidFill>
                <a:latin typeface="페이퍼로지 8 ExtraBold"/>
                <a:ea typeface="페이퍼로지 8 ExtraBold"/>
                <a:cs typeface="페이퍼로지 8 ExtraBold"/>
              </a:rPr>
              <a:t>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3423392" y="4423410"/>
            <a:ext cx="3840480" cy="216027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ectangle 34"/>
          <p:cNvSpPr/>
          <p:nvPr/>
        </p:nvSpPr>
        <p:spPr>
          <a:xfrm>
            <a:off x="13423392" y="4423410"/>
            <a:ext cx="3840480" cy="102870"/>
          </a:xfrm>
          <a:prstGeom prst="rect">
            <a:avLst/>
          </a:prstGeom>
          <a:solidFill>
            <a:srgbClr val="B03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13716000" y="4629150"/>
            <a:ext cx="3255264" cy="39090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lang="ko-KR" altLang="en-US">
                <a:solidFill>
                  <a:srgbClr val="B0306A"/>
                </a:solidFill>
                <a:latin typeface="페이퍼로지 8 ExtraBold"/>
                <a:ea typeface="페이퍼로지 8 ExtraBold"/>
                <a:cs typeface="페이퍼로지 8 ExtraBold"/>
              </a:rPr>
              <a:t>break;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3716000" y="5061204"/>
            <a:ext cx="3255264" cy="137845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} 밖으로 빠져나감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4128" y="6840855"/>
            <a:ext cx="16239744" cy="185166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1389888" y="7036308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쉽게 말하면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389888" y="7663815"/>
            <a:ext cx="15508224" cy="9052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3층 버튼을 누르면 1·2층을 거치지 않고 3층에서 문이 열린다. break는 내리는 동작이다.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교재 그림 속 코드는 C 언어식 printf — 흐름만 참고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4절 · 그림 5-10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break는 선택이 아니라 필수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조건에 따라 갈라지는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508260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306A"/>
                </a:solidFill>
                <a:latin typeface="페이퍼로지 8 ExtraBold"/>
                <a:ea typeface="페이퍼로지 8 ExtraBold"/>
                <a:cs typeface="페이퍼로지 8 ExtraBold"/>
              </a:rPr>
              <a:t>break를 빼면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65096" y="2571750"/>
            <a:ext cx="10279319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306A"/>
                </a:solidFill>
                <a:latin typeface="페이퍼로지 8 ExtraBold"/>
                <a:ea typeface="페이퍼로지 8 ExtraBold"/>
                <a:cs typeface="페이퍼로지 8 ExtraBold"/>
              </a:rPr>
              <a:t>진짜 컴파일러의 오류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086100"/>
            <a:ext cx="16239744" cy="1131570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80160" y="3086100"/>
            <a:ext cx="5009448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case 1 문장 뒤 break 없이 case 2로 이어짐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01672" y="3086100"/>
            <a:ext cx="10206167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B0306A"/>
                </a:solidFill>
                <a:latin typeface="프리젠테이션 5 Medium"/>
                <a:ea typeface="프리젠테이션 5 Medium"/>
                <a:cs typeface="프리젠테이션 5 Medium"/>
              </a:rPr>
              <a:t>CS0163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한 case 레이블('case 1:')에서 다른 case 레이블로 제어를 이동할 수 없습니다.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4217670"/>
            <a:ext cx="5009448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마지막 default 뒤 break 없음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01672" y="4217670"/>
            <a:ext cx="10206167" cy="113157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600" b="0" lang="ko-KR" altLang="en-US">
                <a:solidFill>
                  <a:srgbClr val="B0306A"/>
                </a:solidFill>
                <a:latin typeface="프리젠테이션 5 Medium"/>
                <a:ea typeface="프리젠테이션 5 Medium"/>
                <a:cs typeface="프리젠테이션 5 Medium"/>
              </a:rPr>
              <a:t>CS8070</a:t>
            </a: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최종 case 레이블('default:')의 스위치에서 제어를 이동할 수 없습니다.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5657850"/>
            <a:ext cx="7936992" cy="303466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389888" y="5853303"/>
            <a:ext cx="72054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왜 이렇게 엄격할까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89888" y="6480810"/>
            <a:ext cx="7205472" cy="20882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C·자바는 break 없이 다음 case로 흘러내려 가는 것(fall-through)을 허용해 버그가 잦다.</a:t>
            </a:r>
          </a:p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C#은 컴파일 단계에서 막는다 — CH01의 '엄격한 문법' 특징.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326880" y="5657850"/>
            <a:ext cx="7936992" cy="3034665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9729216" y="5832729"/>
            <a:ext cx="7132320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마지막 default에도 break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29216" y="6295644"/>
            <a:ext cx="7132320" cy="2252853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5-10의 C식 코드는 default 뒤 break가 없지만, C#에서 그대로 쓰면 CS8070 오류다.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4절 · p.195~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switch로 다시 쓴 학점 계산기 — 소스 5-11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조건에 따라 갈라지는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936992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2054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Project05_11 · 1~17행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7132320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static void Main(string[] args)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score;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Random rnd = new Random();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for (int i = 0; i &lt; 5; i++)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score = rnd.Next(0, 100);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Console.Write("취득 점수 " + score + " ==&gt; 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switch (score / 10)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case 10: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case 9 :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Console.Write("A");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2571750"/>
            <a:ext cx="7936992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92640" y="2674620"/>
            <a:ext cx="720547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18~34행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9216" y="3168396"/>
            <a:ext cx="7132320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break;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case 8: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Console.Write("B");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break;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case 7: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Console.Write("C");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break;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case 6: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Console.Write("D");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break;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default: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Console.Write("F");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        break;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Console.WriteLine(" 학점");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▲  Random을 쓰므로 실행할 때마다 결과가 다르다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4절 · 소스 5-11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score / 10 — 범위를 값으로 바꾸는 계산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조건에 따라 갈라지는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9509760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222382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306A"/>
                </a:solidFill>
                <a:latin typeface="페이퍼로지 8 ExtraBold"/>
                <a:ea typeface="페이퍼로지 8 ExtraBold"/>
                <a:cs typeface="페이퍼로지 8 ExtraBold"/>
              </a:rPr>
              <a:t>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906316" y="2571750"/>
            <a:ext cx="203362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306A"/>
                </a:solidFill>
                <a:latin typeface="페이퍼로지 8 ExtraBold"/>
                <a:ea typeface="페이퍼로지 8 ExtraBold"/>
                <a:cs typeface="페이퍼로지 8 ExtraBold"/>
              </a:rPr>
              <a:t>score / 10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78854" y="2571750"/>
            <a:ext cx="203362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306A"/>
                </a:solidFill>
                <a:latin typeface="페이퍼로지 8 ExtraBold"/>
                <a:ea typeface="페이퍼로지 8 ExtraBold"/>
                <a:cs typeface="페이퍼로지 8 ExtraBold"/>
              </a:rPr>
              <a:t>case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51392" y="2571750"/>
            <a:ext cx="1463040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306A"/>
                </a:solidFill>
                <a:latin typeface="페이퍼로지 8 ExtraBold"/>
                <a:ea typeface="페이퍼로지 8 ExtraBold"/>
                <a:cs typeface="페이퍼로지 8 ExtraBold"/>
              </a:rPr>
              <a:t>학점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024128" y="3086100"/>
            <a:ext cx="9509760" cy="88468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280160" y="3086100"/>
            <a:ext cx="2150668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42892" y="3086100"/>
            <a:ext cx="1960473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5430" y="3086100"/>
            <a:ext cx="1960473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10 → 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87968" y="3086100"/>
            <a:ext cx="1389888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3970782"/>
            <a:ext cx="2150668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90~99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942892" y="3970782"/>
            <a:ext cx="1960473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9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15430" y="3970782"/>
            <a:ext cx="1960473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9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887968" y="3970782"/>
            <a:ext cx="1389888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24128" y="4855464"/>
            <a:ext cx="9509760" cy="88468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1280160" y="4855464"/>
            <a:ext cx="2150668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80~89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42892" y="4855464"/>
            <a:ext cx="1960473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15430" y="4855464"/>
            <a:ext cx="1960473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887968" y="4855464"/>
            <a:ext cx="1389888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280160" y="5740146"/>
            <a:ext cx="2150668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70~79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942892" y="5740146"/>
            <a:ext cx="1960473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15430" y="5740146"/>
            <a:ext cx="1960473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87968" y="5740146"/>
            <a:ext cx="1389888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4128" y="6624828"/>
            <a:ext cx="9509760" cy="88468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1280160" y="6624828"/>
            <a:ext cx="2150668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60~69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942892" y="6624828"/>
            <a:ext cx="1960473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15430" y="6624828"/>
            <a:ext cx="1960473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887968" y="6624828"/>
            <a:ext cx="1389888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7509510"/>
            <a:ext cx="2150668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0~59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942892" y="7509510"/>
            <a:ext cx="1960473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0~5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15430" y="7509510"/>
            <a:ext cx="1960473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default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887968" y="7509510"/>
            <a:ext cx="1389888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F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11045952" y="2571750"/>
            <a:ext cx="6217920" cy="2983230"/>
          </a:xfrm>
          <a:prstGeom prst="roundRect">
            <a:avLst>
              <a:gd name="adj" fmla="val 2500"/>
            </a:avLst>
          </a:prstGeom>
          <a:solidFill>
            <a:srgbClr val="FBF0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Rectangle 43"/>
          <p:cNvSpPr/>
          <p:nvPr/>
        </p:nvSpPr>
        <p:spPr>
          <a:xfrm>
            <a:off x="11045952" y="2571750"/>
            <a:ext cx="91440" cy="2983230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11411712" y="2674620"/>
            <a:ext cx="5486400" cy="30861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■  실행 결과 (한 번의 예)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448288" y="3024378"/>
            <a:ext cx="5413248" cy="2407158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취득 점수 97 ==&gt; A 학점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취득 점수 47 ==&gt; F 학점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취득 점수 90 ==&gt; A 학점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취득 점수 62 ==&gt; D 학점</a:t>
            </a:r>
          </a:p>
          <a:p>
            <a:pPr>
              <a:lnSpc>
                <a:spcPct val="132000"/>
              </a:lnSpc>
            </a:pPr>
            <a:r>
              <a:rPr sz="1300">
                <a:solidFill>
                  <a:srgbClr val="1E2A30"/>
                </a:solidFill>
                <a:latin typeface="Consolas"/>
                <a:ea typeface="Consolas"/>
                <a:cs typeface="Consolas"/>
              </a:rPr>
              <a:t>취득 점수 38 ==&gt; F 학점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1045952" y="5812155"/>
            <a:ext cx="6217920" cy="288036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1411712" y="6007608"/>
            <a:ext cx="548640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빈 case 연속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411712" y="6635115"/>
            <a:ext cx="5486400" cy="19339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문장 없는 case 10: 은 아래 case 9 : 와 이어져 같은 문장을 쓴다 — 오류가 아니다.</a:t>
            </a:r>
          </a:p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점수가 0~99라 case 10은 만점 대비용.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정수끼리 나누면 몫만 남는다 — 87 / 10 = 8 (CH04)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4절 · 소스 5-11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if 사다리와 switch — 언제 무엇을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조건에 따라 갈라지는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24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936992" cy="4546853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756916"/>
            <a:ext cx="72054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9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if ~ else if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55648" y="3312414"/>
            <a:ext cx="6473952" cy="22631"/>
          </a:xfrm>
          <a:prstGeom prst="rect">
            <a:avLst/>
          </a:prstGeom>
          <a:solidFill>
            <a:srgbClr val="6B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9326880" y="2571750"/>
            <a:ext cx="7936992" cy="4546853"/>
          </a:xfrm>
          <a:prstGeom prst="roundRect">
            <a:avLst>
              <a:gd name="adj" fmla="val 6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692640" y="2756916"/>
            <a:ext cx="7205472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9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switch ~ case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0" y="3312414"/>
            <a:ext cx="6473952" cy="22631"/>
          </a:xfrm>
          <a:prstGeom prst="rect">
            <a:avLst/>
          </a:prstGeom>
          <a:solidFill>
            <a:srgbClr val="6B7A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572768" y="3477006"/>
            <a:ext cx="6839712" cy="11007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범위·복합 조건</a:t>
            </a:r>
          </a:p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score &gt;= 90, a &gt; 50 &amp;&amp; a &lt; 100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477006"/>
            <a:ext cx="6839712" cy="11007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값 하나가 딱 맞는지</a:t>
            </a:r>
          </a:p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case 3: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608576"/>
            <a:ext cx="6839712" cy="11007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조건마다 식을 모두 적는다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4608576"/>
            <a:ext cx="6839712" cy="11007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값 목록이 한눈에 보인다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5740146"/>
            <a:ext cx="6839712" cy="11007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주의: 조건 순서(큰 기준부터)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875520" y="5740146"/>
            <a:ext cx="6839712" cy="110070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주의: case마다 break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7303770"/>
            <a:ext cx="16239744" cy="138874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389888" y="7447788"/>
            <a:ext cx="15508224" cy="47217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요령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7991970"/>
            <a:ext cx="15508224" cy="5771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범위를 switch로 쓰고 싶으면 score / 10, year % 12 처럼 범위를 값으로 바꾸는 계산을 먼저 한다.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3~4절 정리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[프로그램 2] 띠 알아보기 ① — 그림과 프로젝트 준비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조건에 따라 갈라지는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8046720" cy="612076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fig5-11_fil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1629" y="2664333"/>
            <a:ext cx="7071718" cy="548297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8239887"/>
            <a:ext cx="804672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8239887"/>
            <a:ext cx="753465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5-11 발췌 — 띠 이미지 파일 12개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582912" y="2623185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B03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582912" y="2648902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51008" y="2360866"/>
            <a:ext cx="6912864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12띠 그림을 </a:t>
            </a:r>
            <a:r>
              <a:rPr sz="2500" b="0" lang="ko-KR" altLang="en-US">
                <a:solidFill>
                  <a:srgbClr val="B0306A"/>
                </a:solidFill>
                <a:latin typeface="프리젠테이션 5 Medium"/>
                <a:ea typeface="프리젠테이션 5 Medium"/>
                <a:cs typeface="프리젠테이션 5 Medium"/>
              </a:rPr>
              <a:t>C:\CookC#\images\</a:t>
            </a: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에 저장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582912" y="3590163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B03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582912" y="3615880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351008" y="3327844"/>
            <a:ext cx="6912864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파일 이름은 </a:t>
            </a:r>
            <a:r>
              <a:rPr sz="2100" b="0" lang="ko-KR" altLang="en-US">
                <a:solidFill>
                  <a:srgbClr val="B0306A"/>
                </a:solidFill>
                <a:latin typeface="프리젠테이션 5 Medium"/>
                <a:ea typeface="프리젠테이션 5 Medium"/>
                <a:cs typeface="프리젠테이션 5 Medium"/>
              </a:rPr>
              <a:t>동물이름.png</a:t>
            </a: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 (쥐.png … 돼지.png)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582912" y="4557141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B03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582912" y="4582858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351008" y="4294822"/>
            <a:ext cx="6912864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0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[새 프로젝트 만들기] → </a:t>
            </a:r>
            <a:r>
              <a:rPr sz="2000" b="0" lang="ko-KR" altLang="en-US">
                <a:solidFill>
                  <a:srgbClr val="B0306A"/>
                </a:solidFill>
                <a:latin typeface="프리젠테이션 5 Medium"/>
                <a:ea typeface="프리젠테이션 5 Medium"/>
                <a:cs typeface="프리젠테이션 5 Medium"/>
              </a:rPr>
              <a:t>Windows Forms 앱(.NET Framework)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582912" y="5524119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B03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582912" y="5549836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351008" y="5261800"/>
            <a:ext cx="6912864" cy="84353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프로젝트 이름 </a:t>
            </a:r>
            <a:r>
              <a:rPr sz="2500" b="0" lang="ko-KR" altLang="en-US">
                <a:solidFill>
                  <a:srgbClr val="B0306A"/>
                </a:solidFill>
                <a:latin typeface="프리젠테이션 5 Medium"/>
                <a:ea typeface="프리젠테이션 5 Medium"/>
                <a:cs typeface="프리젠테이션 5 Medium"/>
              </a:rPr>
              <a:t>Project05_12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582912" y="6635115"/>
            <a:ext cx="7680960" cy="205740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9985248" y="6809994"/>
            <a:ext cx="6876288" cy="43205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이름이 곧 주소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985248" y="7272909"/>
            <a:ext cx="6876288" cy="12755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코드가 파일 이름을 글자 그대로 찾는다. 한 글자라도 다르면 실행 중 오류.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4.1절 · p.198~ · 실습 5-1 ①②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띠 알아보기 ② — 폼 설계와 이벤트 연결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조건에 따라 갈라지는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6949440" cy="6120765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DBD6E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fig5-12_for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043" y="2664333"/>
            <a:ext cx="5835610" cy="5482971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1024128" y="8239887"/>
            <a:ext cx="6949440" cy="452628"/>
          </a:xfrm>
          <a:prstGeom prst="roundRect">
            <a:avLst>
              <a:gd name="adj" fmla="val 2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1280160" y="8239887"/>
            <a:ext cx="6437376" cy="4526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</a:pPr>
            <a:r>
              <a:rPr sz="23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교재 그림 5-12 발췌 — 윈폼 구성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412480" y="2571750"/>
            <a:ext cx="8851392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631936" y="2571750"/>
            <a:ext cx="221650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306A"/>
                </a:solidFill>
                <a:latin typeface="페이퍼로지 8 ExtraBold"/>
                <a:ea typeface="페이퍼로지 8 ExtraBold"/>
                <a:cs typeface="페이퍼로지 8 ExtraBold"/>
              </a:rPr>
              <a:t>컨트롤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87353" y="2571750"/>
            <a:ext cx="2039477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306A"/>
                </a:solidFill>
                <a:latin typeface="페이퍼로지 8 ExtraBold"/>
                <a:ea typeface="페이퍼로지 8 ExtraBold"/>
                <a:cs typeface="페이퍼로지 8 ExtraBold"/>
              </a:rPr>
              <a:t>(Name)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65743" y="2571750"/>
            <a:ext cx="3278672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306A"/>
                </a:solidFill>
                <a:latin typeface="페이퍼로지 8 ExtraBold"/>
                <a:ea typeface="페이퍼로지 8 ExtraBold"/>
                <a:cs typeface="페이퍼로지 8 ExtraBold"/>
              </a:rPr>
              <a:t>속성값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12480" y="3086100"/>
            <a:ext cx="8851392" cy="78181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8668512" y="3086100"/>
            <a:ext cx="2143353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TextBox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23929" y="3086100"/>
            <a:ext cx="1966325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tb_year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02319" y="3086100"/>
            <a:ext cx="3205520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Text 비움 · 위 왼쪽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68512" y="3867912"/>
            <a:ext cx="2143353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Button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323929" y="3867912"/>
            <a:ext cx="1966325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btn_run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02319" y="3867912"/>
            <a:ext cx="3205520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Text: 띠 알아보기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412480" y="4649724"/>
            <a:ext cx="8851392" cy="781812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8668512" y="4649724"/>
            <a:ext cx="2143353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PictureBox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323929" y="4649724"/>
            <a:ext cx="1966325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pbox_tti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802319" y="4649724"/>
            <a:ext cx="3205520" cy="7818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아래쪽 큰 사각형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12480" y="5709285"/>
            <a:ext cx="8851392" cy="2983230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778240" y="5904738"/>
            <a:ext cx="811987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6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이벤트 연결 (CH02 실습 2-6과 같은 방법)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78240" y="6532245"/>
            <a:ext cx="8119872" cy="203682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(Name)을 먼저 btn_run으로 바꾼 뒤 디자인 창에서 버튼을 </a:t>
            </a:r>
            <a:r>
              <a:rPr sz="2200" b="0" lang="ko-KR" altLang="en-US">
                <a:solidFill>
                  <a:srgbClr val="B0306A"/>
                </a:solidFill>
                <a:latin typeface="프리젠테이션 5 Medium"/>
                <a:ea typeface="프리젠테이션 5 Medium"/>
                <a:cs typeface="프리젠테이션 5 Medium"/>
              </a:rPr>
              <a:t>더블클릭</a:t>
            </a: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하면 btn_run_Click 메서드가 생긴다.</a:t>
            </a:r>
          </a:p>
          <a:p>
            <a:pPr algn="l">
              <a:lnSpc>
                <a:spcPct val="142000"/>
              </a:lnSpc>
            </a:pPr>
            <a:r>
              <a:rPr sz="22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먼저 더블클릭하면 button1_Click이 생기니 순서 주의.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각 컨트롤의 BackColor는 적당히 지정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4.1절 · 실습 5-1 ③ · 그림 5-12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띠 알아보기 ③ — 소스 5-12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조건에 따라 갈라지는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27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7754112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702259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Project05_12 · btn_run_Click 1~11행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6949440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private void btn_run_Click(object sender, EventArgs e)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this.Text = "띠 알아보기";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int year = int.Parse(tb_year.Text);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string imageFile = "c:\\CookC#\\images\\";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switch (year % 12)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{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case 0: imageFile += "원숭이.png"; break;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case 1: imageFile += "닭.png"; break;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case 2: imageFile += "개.png"; break;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case 3: imageFile += "돼지.png"; break;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2571750"/>
            <a:ext cx="8119872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0" y="2674620"/>
            <a:ext cx="7388352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12~23행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546336" y="3168396"/>
            <a:ext cx="7315200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case 4: imageFile += "쥐.png"; break;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case 5: imageFile += "소.png"; break;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case 6: imageFile += "호랑이.png"; break;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case 7: imageFile += "토끼.png"; break;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case 8: imageFile += "용.png"; break;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case 9: imageFile += "뱀.png"; break;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case 10: imageFile += "말.png"; break;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    case 11: imageFile += "양.png"; break;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}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pbox_tti.Image = Image.FromFile(imageFile);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   pbox_tti.SizeMode = PictureBoxSizeMode.StretchImage;</a:t>
            </a:r>
          </a:p>
          <a:p>
            <a:pPr>
              <a:lnSpc>
                <a:spcPct val="132000"/>
              </a:lnSpc>
            </a:pPr>
            <a:r>
              <a:rPr sz="120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}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컴파일 성공 확인 (TextBox·Button·PictureBox 필드를 둔 Form 클래스에서)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4.1절 · 소스 5-12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year % 12 대응표 — 나머지 0은 원숭이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조건에 따라 갈라지는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28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2462784" cy="2978086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2" name="Picture 11" descr="원숭이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7008" y="2697360"/>
            <a:ext cx="2097024" cy="223309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4128" y="4994338"/>
            <a:ext cx="246278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lang="ko-KR" altLang="en-US">
                <a:solidFill>
                  <a:srgbClr val="B0306A"/>
                </a:solidFill>
                <a:latin typeface="페이퍼로지 8 ExtraBold"/>
                <a:ea typeface="페이퍼로지 8 ExtraBold"/>
                <a:cs typeface="페이퍼로지 8 ExtraBold"/>
              </a:rPr>
              <a:t>0  ·  원숭이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779519" y="2571750"/>
            <a:ext cx="2462784" cy="2978086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5" name="Picture 14" descr="닭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2399" y="2730308"/>
            <a:ext cx="2097024" cy="2167194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779519" y="4994338"/>
            <a:ext cx="246278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lang="ko-KR" altLang="en-US">
                <a:solidFill>
                  <a:srgbClr val="B0306A"/>
                </a:solidFill>
                <a:latin typeface="페이퍼로지 8 ExtraBold"/>
                <a:ea typeface="페이퍼로지 8 ExtraBold"/>
                <a:cs typeface="페이퍼로지 8 ExtraBold"/>
              </a:rPr>
              <a:t>1  ·  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34912" y="2571750"/>
            <a:ext cx="2462784" cy="2978086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18" name="Picture 17" descr="개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7792" y="2729711"/>
            <a:ext cx="2097024" cy="216838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534912" y="4994338"/>
            <a:ext cx="246278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lang="ko-KR" altLang="en-US">
                <a:solidFill>
                  <a:srgbClr val="B0306A"/>
                </a:solidFill>
                <a:latin typeface="페이퍼로지 8 ExtraBold"/>
                <a:ea typeface="페이퍼로지 8 ExtraBold"/>
                <a:cs typeface="페이퍼로지 8 ExtraBold"/>
              </a:rPr>
              <a:t>2  ·  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90304" y="2571750"/>
            <a:ext cx="2462784" cy="2978086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1" name="Picture 20" descr="돼지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73184" y="2726074"/>
            <a:ext cx="2097024" cy="2175662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9290304" y="4994338"/>
            <a:ext cx="246278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lang="ko-KR" altLang="en-US">
                <a:solidFill>
                  <a:srgbClr val="B0306A"/>
                </a:solidFill>
                <a:latin typeface="페이퍼로지 8 ExtraBold"/>
                <a:ea typeface="페이퍼로지 8 ExtraBold"/>
                <a:cs typeface="페이퍼로지 8 ExtraBold"/>
              </a:rPr>
              <a:t>3  ·  돼지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2045695" y="2571750"/>
            <a:ext cx="2462784" cy="2978086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4" name="Picture 23" descr="쥐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228575" y="2696683"/>
            <a:ext cx="2097024" cy="2234443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2045695" y="4994338"/>
            <a:ext cx="246278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lang="ko-KR" altLang="en-US">
                <a:solidFill>
                  <a:srgbClr val="B0306A"/>
                </a:solidFill>
                <a:latin typeface="페이퍼로지 8 ExtraBold"/>
                <a:ea typeface="페이퍼로지 8 ExtraBold"/>
                <a:cs typeface="페이퍼로지 8 ExtraBold"/>
              </a:rPr>
              <a:t>4  ·  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801087" y="2571750"/>
            <a:ext cx="2462784" cy="2978086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27" name="Picture 26" descr="소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83967" y="2687371"/>
            <a:ext cx="2097024" cy="2253068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14801087" y="4994338"/>
            <a:ext cx="246278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lang="ko-KR" altLang="en-US">
                <a:solidFill>
                  <a:srgbClr val="B0306A"/>
                </a:solidFill>
                <a:latin typeface="페이퍼로지 8 ExtraBold"/>
                <a:ea typeface="페이퍼로지 8 ExtraBold"/>
                <a:cs typeface="페이퍼로지 8 ExtraBold"/>
              </a:rPr>
              <a:t>5  ·  소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5714428"/>
            <a:ext cx="2462784" cy="2978086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0" name="Picture 29" descr="호랑이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07008" y="5809685"/>
            <a:ext cx="2097024" cy="229379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1024128" y="8137017"/>
            <a:ext cx="246278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lang="ko-KR" altLang="en-US">
                <a:solidFill>
                  <a:srgbClr val="B0306A"/>
                </a:solidFill>
                <a:latin typeface="페이퍼로지 8 ExtraBold"/>
                <a:ea typeface="페이퍼로지 8 ExtraBold"/>
                <a:cs typeface="페이퍼로지 8 ExtraBold"/>
              </a:rPr>
              <a:t>6  ·  호랑이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779519" y="5714428"/>
            <a:ext cx="2462784" cy="2978086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3" name="Picture 32" descr="토끼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962399" y="5993430"/>
            <a:ext cx="2097024" cy="1926306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3779519" y="8137017"/>
            <a:ext cx="246278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lang="ko-KR" altLang="en-US">
                <a:solidFill>
                  <a:srgbClr val="B0306A"/>
                </a:solidFill>
                <a:latin typeface="페이퍼로지 8 ExtraBold"/>
                <a:ea typeface="페이퍼로지 8 ExtraBold"/>
                <a:cs typeface="페이퍼로지 8 ExtraBold"/>
              </a:rPr>
              <a:t>7  ·  토끼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534912" y="5714428"/>
            <a:ext cx="2462784" cy="2978086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6" name="Picture 35" descr="용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717792" y="5889651"/>
            <a:ext cx="2097024" cy="2133863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6534912" y="8137017"/>
            <a:ext cx="246278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lang="ko-KR" altLang="en-US">
                <a:solidFill>
                  <a:srgbClr val="B0306A"/>
                </a:solidFill>
                <a:latin typeface="페이퍼로지 8 ExtraBold"/>
                <a:ea typeface="페이퍼로지 8 ExtraBold"/>
                <a:cs typeface="페이퍼로지 8 ExtraBold"/>
              </a:rPr>
              <a:t>8  ·  용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290304" y="5714428"/>
            <a:ext cx="2462784" cy="2978086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9" name="Picture 38" descr="뱀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73184" y="5921688"/>
            <a:ext cx="2097024" cy="2069789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9290304" y="8137017"/>
            <a:ext cx="246278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lang="ko-KR" altLang="en-US">
                <a:solidFill>
                  <a:srgbClr val="B0306A"/>
                </a:solidFill>
                <a:latin typeface="페이퍼로지 8 ExtraBold"/>
                <a:ea typeface="페이퍼로지 8 ExtraBold"/>
                <a:cs typeface="페이퍼로지 8 ExtraBold"/>
              </a:rPr>
              <a:t>9  ·  뱀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2045695" y="5714428"/>
            <a:ext cx="2462784" cy="2978086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2" name="Picture 41" descr="말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228575" y="5919196"/>
            <a:ext cx="2097023" cy="2074774"/>
          </a:xfrm>
          <a:prstGeom prst="rect">
            <a:avLst/>
          </a:prstGeom>
        </p:spPr>
      </p:pic>
      <p:sp>
        <p:nvSpPr>
          <p:cNvPr id="43" name="TextBox 42"/>
          <p:cNvSpPr txBox="1"/>
          <p:nvPr/>
        </p:nvSpPr>
        <p:spPr>
          <a:xfrm>
            <a:off x="12045695" y="8137017"/>
            <a:ext cx="246278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lang="ko-KR" altLang="en-US">
                <a:solidFill>
                  <a:srgbClr val="B0306A"/>
                </a:solidFill>
                <a:latin typeface="페이퍼로지 8 ExtraBold"/>
                <a:ea typeface="페이퍼로지 8 ExtraBold"/>
                <a:cs typeface="페이퍼로지 8 ExtraBold"/>
              </a:rPr>
              <a:t>10  ·  말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14801087" y="5714428"/>
            <a:ext cx="2462784" cy="2978086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45" name="Picture 44" descr="양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4983967" y="5938989"/>
            <a:ext cx="2097024" cy="2035188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14801087" y="8137017"/>
            <a:ext cx="246278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500" b="0" lang="ko-KR" altLang="en-US">
                <a:solidFill>
                  <a:srgbClr val="B0306A"/>
                </a:solidFill>
                <a:latin typeface="페이퍼로지 8 ExtraBold"/>
                <a:ea typeface="페이퍼로지 8 ExtraBold"/>
                <a:cs typeface="페이퍼로지 8 ExtraBold"/>
              </a:rPr>
              <a:t>11  ·  양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2002 % 12 = 10 → 말 · 2020 → 4 쥐 · 2024 → 8 용 (콘솔판으로 직접 확인)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4.1절 · 소스 5-12 case 0~11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띠 알아보기 ④ — 핵심 줄 읽기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조건에 따라 갈라지는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29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6239744" cy="514350"/>
          </a:xfrm>
          <a:prstGeom prst="roundRect">
            <a:avLst>
              <a:gd name="adj" fmla="val 3000"/>
            </a:avLst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243584" y="2571750"/>
            <a:ext cx="6056985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306A"/>
                </a:solidFill>
                <a:latin typeface="페이퍼로지 8 ExtraBold"/>
                <a:ea typeface="페이퍼로지 8 ExtraBold"/>
                <a:cs typeface="페이퍼로지 8 ExtraBold"/>
              </a:rPr>
              <a:t>코드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39481" y="2571750"/>
            <a:ext cx="9304934" cy="51435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2500" b="0" lang="ko-KR" altLang="en-US">
                <a:solidFill>
                  <a:srgbClr val="B0306A"/>
                </a:solidFill>
                <a:latin typeface="페이퍼로지 8 ExtraBold"/>
                <a:ea typeface="페이퍼로지 8 ExtraBold"/>
                <a:cs typeface="페이퍼로지 8 ExtraBold"/>
              </a:rPr>
              <a:t>뜻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086100"/>
            <a:ext cx="16239744" cy="76123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280160" y="3086100"/>
            <a:ext cx="5983833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this.Text = "띠 알아보기";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6057" y="3086100"/>
            <a:ext cx="923178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지금 이 폼의 창 제목을 바꾼다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847338"/>
            <a:ext cx="5983833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int.Parse(tb_year.Text)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6057" y="3847338"/>
            <a:ext cx="923178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TextBox의 글자를 정수로 — 콘솔의 ReadLine과 같은 원리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24128" y="4608576"/>
            <a:ext cx="16239744" cy="76123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280160" y="4608576"/>
            <a:ext cx="5983833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"c:\\CookC#\\images\\"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6057" y="4608576"/>
            <a:ext cx="923178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\\ 는 백슬래시 한 개 → 실제 값 c:\CookC#\images\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80160" y="5369814"/>
            <a:ext cx="5983833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imageFile += "말.png";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6057" y="5369814"/>
            <a:ext cx="923178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폴더 경로 뒤에 파일 이름을 이어 붙인다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4128" y="6131052"/>
            <a:ext cx="16239744" cy="761238"/>
          </a:xfrm>
          <a:prstGeom prst="roundRect">
            <a:avLst>
              <a:gd name="adj" fmla="val 1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280160" y="6131052"/>
            <a:ext cx="5983833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Image.FromFile(imageFile)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6057" y="6131052"/>
            <a:ext cx="923178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3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 경로의 그림 파일을 읽어 PictureBox의 Image에 넣는다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80160" y="6892290"/>
            <a:ext cx="5983833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4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PictureBoxSizeMode.StretchImage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76057" y="6892290"/>
            <a:ext cx="9231782" cy="76123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그림을 PictureBox 크기에 맞게 늘이거나 줄여 채운다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4128" y="7766685"/>
            <a:ext cx="16239744" cy="925830"/>
          </a:xfrm>
          <a:prstGeom prst="roundRect">
            <a:avLst>
              <a:gd name="adj" fmla="val 5000"/>
            </a:avLst>
          </a:prstGeom>
          <a:solidFill>
            <a:srgbClr val="FBF0E8"/>
          </a:solidFill>
          <a:ln w="25400">
            <a:solidFill>
              <a:srgbClr val="B88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1426464" y="7766685"/>
            <a:ext cx="15435071" cy="92583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400" b="0" lang="ko-KR" altLang="en-US">
                <a:solidFill>
                  <a:srgbClr val="B88A2A"/>
                </a:solidFill>
                <a:latin typeface="페이퍼로지 8 ExtraBold"/>
                <a:ea typeface="페이퍼로지 8 ExtraBold"/>
                <a:cs typeface="페이퍼로지 8 ExtraBold"/>
              </a:rPr>
              <a:t>▲  빈 TextBox → FormatException · 파일 없음 → FileNotFoundException · \ 하나만 쓰면 CS1009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—  교재 실행 화면의 창 제목은 '띠 알아내기' — 코드대로면 '띠 알아보기'</a:t>
            </a:r>
          </a:p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4.1절 · 소스 5-12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SELF STUDY 5-3 — switch를 중첩 if로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조건에 따라 갈라지는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10058400" cy="6120765"/>
          </a:xfrm>
          <a:prstGeom prst="roundRect">
            <a:avLst>
              <a:gd name="adj" fmla="val 2500"/>
            </a:avLst>
          </a:prstGeom>
          <a:solidFill>
            <a:srgbClr val="141E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389888" y="2674620"/>
            <a:ext cx="9326880" cy="3291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 b="0" lang="ko-KR" altLang="en-US">
                <a:solidFill>
                  <a:srgbClr val="A79BC6"/>
                </a:solidFill>
                <a:latin typeface="페이퍼로지 6 SemiBold"/>
                <a:ea typeface="페이퍼로지 6 SemiBold"/>
                <a:cs typeface="페이퍼로지 6 SemiBold"/>
              </a:rPr>
              <a:t>btn_run_Click의 switch 부분을 바꾼 코드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26464" y="3168396"/>
            <a:ext cx="9253728" cy="5400675"/>
          </a:xfrm>
          <a:prstGeom prst="rect">
            <a:avLst/>
          </a:prstGeom>
          <a:noFill/>
        </p:spPr>
        <p:txBody>
          <a:bodyPr wrap="none" anchor="t" lIns="0" rIns="0" tIns="0" bIns="0">
            <a:spAutoFit/>
          </a:bodyPr>
          <a:lstStyle/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int r = year % 12;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if (r == 0) imageFile += "원숭이.png";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else if (r == 1) imageFile += "닭.png";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else if (r == 2) imageFile += "개.png";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else if (r == 3) imageFile += "돼지.png";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else if (r == 4) imageFile += "쥐.png";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else if (r == 5) imageFile += "소.png";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else if (r == 6) imageFile += "호랑이.png";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else if (r == 7) imageFile += "토끼.png";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else if (r == 8) imageFile += "용.png";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else if (r == 9) imageFile += "뱀.png";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else if (r == 10) imageFile += "말.png";</a:t>
            </a:r>
          </a:p>
          <a:p>
            <a:pPr>
              <a:lnSpc>
                <a:spcPct val="132000"/>
              </a:lnSpc>
            </a:pPr>
            <a:r>
              <a:rPr sz="1250">
                <a:solidFill>
                  <a:srgbClr val="E8EEF2"/>
                </a:solidFill>
                <a:latin typeface="Consolas"/>
                <a:ea typeface="Consolas"/>
                <a:cs typeface="Consolas"/>
              </a:rPr>
              <a:t>else imageFile += "양.png";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521440" y="2571750"/>
            <a:ext cx="5742432" cy="612076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1887200" y="2767203"/>
            <a:ext cx="5010912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바꾸는 요령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0" y="3394710"/>
            <a:ext cx="5010912" cy="517436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나머지를 int r에 한 번만 계산해 두면 조건마다 year % 12를 다시 쓰지 않아도 된다.</a:t>
            </a:r>
          </a:p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마지막은 else로 끝낸다 — 양수 연도라면 남는 경우는 11(양)뿐.</a:t>
            </a:r>
          </a:p>
          <a:p>
            <a:pPr algn="l">
              <a:lnSpc>
                <a:spcPct val="142000"/>
              </a:lnSpc>
            </a:pPr>
            <a:r>
              <a:rPr sz="26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컴파일 성공 확인. 값이 딱 맞는지만 보는 12갈래는 switch가 더 읽기 쉽다.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4400" y="8867394"/>
            <a:ext cx="91440" cy="884682"/>
          </a:xfrm>
          <a:prstGeom prst="rect">
            <a:avLst/>
          </a:prstGeom>
          <a:solidFill>
            <a:srgbClr val="E2DF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207008" y="8867394"/>
            <a:ext cx="15910560" cy="88468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·  교재 4.1절 · SELF STUDY 5-3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1B4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47472" y="226314"/>
            <a:ext cx="4864608" cy="709803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Picture 2" descr="kyungnam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7667" y="318897"/>
            <a:ext cx="421465" cy="52463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214323" y="293179"/>
            <a:ext cx="3913632" cy="5760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경남대학교 대학원 융합IT공학과</a:t>
            </a:r>
          </a:p>
          <a:p>
            <a:pPr algn="l">
              <a:lnSpc>
                <a:spcPct val="122000"/>
              </a:lnSpc>
            </a:pPr>
            <a:r>
              <a:rPr sz="1250" b="0" lang="ko-KR" altLang="en-US">
                <a:solidFill>
                  <a:srgbClr val="2B1B4D"/>
                </a:solidFill>
                <a:latin typeface="페이퍼로지 6 SemiBold"/>
                <a:ea typeface="페이퍼로지 6 SemiBold"/>
                <a:cs typeface="페이퍼로지 6 SemiBold"/>
              </a:rPr>
              <a:t>컴퓨터및소프트웨어공학전공(박사과정)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0" y="446455"/>
            <a:ext cx="7424928" cy="278777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1600" b="0" lang="ko-KR" altLang="en-US">
                <a:solidFill>
                  <a:srgbClr val="A79BC6"/>
                </a:solidFill>
                <a:latin typeface="프리젠테이션 5 Medium"/>
                <a:ea typeface="프리젠테이션 5 Medium"/>
                <a:cs typeface="프리젠테이션 5 Medium"/>
              </a:rPr>
              <a:t>객체지향시스템 · C#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7472" y="1152144"/>
            <a:ext cx="17593056" cy="8949690"/>
          </a:xfrm>
          <a:prstGeom prst="roundRect">
            <a:avLst>
              <a:gd name="adj" fmla="val 12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914400" y="1378458"/>
            <a:ext cx="12435840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3500" b="0" lang="ko-KR" altLang="en-US">
                <a:solidFill>
                  <a:srgbClr val="1E2A30"/>
                </a:solidFill>
                <a:latin typeface="페이퍼로지 8 ExtraBold"/>
                <a:ea typeface="페이퍼로지 8 ExtraBold"/>
                <a:cs typeface="페이퍼로지 8 ExtraBold"/>
              </a:rPr>
              <a:t>시험 대비 — 결과를 보고 코드를 떠올리기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108835"/>
            <a:ext cx="768096" cy="51435"/>
          </a:xfrm>
          <a:prstGeom prst="rect">
            <a:avLst/>
          </a:prstGeom>
          <a:solidFill>
            <a:srgbClr val="B88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12435840" y="1460754"/>
            <a:ext cx="4754880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200" b="0" lang="ko-KR" altLang="en-US">
                <a:solidFill>
                  <a:srgbClr val="6B7A80"/>
                </a:solidFill>
                <a:latin typeface="페이퍼로지 6 SemiBold"/>
                <a:ea typeface="페이퍼로지 6 SemiBold"/>
                <a:cs typeface="페이퍼로지 6 SemiBold"/>
              </a:rPr>
              <a:t>CH 05 · 조건에 따라 갈라지는 코드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0" y="9717100"/>
            <a:ext cx="2926080" cy="2468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>
              <a:lnSpc>
                <a:spcPct val="125000"/>
              </a:lnSpc>
            </a:pPr>
            <a:r>
              <a:rPr sz="2100" b="0" lang="ko-KR" altLang="en-US">
                <a:solidFill>
                  <a:srgbClr val="6B7A80"/>
                </a:solidFill>
                <a:latin typeface="프리젠테이션 5 Medium"/>
                <a:ea typeface="프리젠테이션 5 Medium"/>
                <a:cs typeface="프리젠테이션 5 Medium"/>
              </a:rPr>
              <a:t>31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24128" y="2571750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B03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24128" y="2597467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92223" y="2360866"/>
            <a:ext cx="1547164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'거짓이므로 이 문장은 안 보이겠죠?'가 찍힌다 → 블록 없는 if (소스 5-2)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24128" y="3435858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B03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024128" y="3461575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792223" y="3224974"/>
            <a:ext cx="1547164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7 입력에 '홀수를 입력했군요..' → if (a % 2 == 0) ~ else (소스 5-6)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24128" y="4299966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B03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24128" y="4325683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92223" y="4089082"/>
            <a:ext cx="1547164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'취득 점수 97 ==&gt; A 학점' 5줄 → Random + for + if 사다리 또는 switch (score / 10)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024128" y="5164074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B03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24128" y="5189791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92223" y="4953190"/>
            <a:ext cx="1547164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'불합격' 한 줄 → res = (jumsu &gt;= 60) ? "합격" : "불합격";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24128" y="6028182"/>
            <a:ext cx="548640" cy="318897"/>
          </a:xfrm>
          <a:prstGeom prst="roundRect">
            <a:avLst>
              <a:gd name="adj" fmla="val 25000"/>
            </a:avLst>
          </a:prstGeom>
          <a:solidFill>
            <a:srgbClr val="B030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024128" y="6053899"/>
            <a:ext cx="548640" cy="26746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5000"/>
              </a:lnSpc>
            </a:pPr>
            <a:r>
              <a:rPr sz="2200" b="0" lang="ko-KR" altLang="en-US">
                <a:solidFill>
                  <a:srgbClr val="FFFFFF"/>
                </a:solidFill>
                <a:latin typeface="페이퍼로지 8 ExtraBold"/>
                <a:ea typeface="페이퍼로지 8 ExtraBold"/>
                <a:cs typeface="페이퍼로지 8 ExtraBold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92223" y="5817298"/>
            <a:ext cx="15471648" cy="74066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25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'2002년생은 말띠입니다.' → switch (year % 12), case 10은 말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4128" y="6995160"/>
            <a:ext cx="16239744" cy="1697355"/>
          </a:xfrm>
          <a:prstGeom prst="roundRect">
            <a:avLst>
              <a:gd name="adj" fmla="val 6000"/>
            </a:avLst>
          </a:prstGeom>
          <a:solidFill>
            <a:srgbClr val="F2F0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1389888" y="7190613"/>
            <a:ext cx="15508224" cy="47320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2700" b="0" lang="ko-KR" altLang="en-US">
                <a:solidFill>
                  <a:srgbClr val="2B1B4D"/>
                </a:solidFill>
                <a:latin typeface="페이퍼로지 8 ExtraBold"/>
                <a:ea typeface="페이퍼로지 8 ExtraBold"/>
                <a:cs typeface="페이퍼로지 8 ExtraBold"/>
              </a:rPr>
              <a:t>다음 장 예고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89888" y="7818120"/>
            <a:ext cx="15508224" cy="7509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2000"/>
              </a:lnSpc>
            </a:pPr>
            <a:r>
              <a:rPr sz="2100" b="0" lang="ko-KR" altLang="en-US">
                <a:solidFill>
                  <a:srgbClr val="1E2A30"/>
                </a:solidFill>
                <a:latin typeface="프리젠테이션 5 Medium"/>
                <a:ea typeface="프리젠테이션 5 Medium"/>
                <a:cs typeface="프리젠테이션 5 Medium"/>
              </a:rPr>
              <a:t>CH06 반복을 맡기는 법 — 학점 계산기에서 미리 쓴 for를 비롯해 while · do~while · break · continue.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