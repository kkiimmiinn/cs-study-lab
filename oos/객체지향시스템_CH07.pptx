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7장은 배열. 값 여러 개를 번호로 줄 세우는 법을 1차원 → 2차원 → 3차원 → 스택 순으로 넓혀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먼저. '첨자는 0부터, 그래서 for와 짝'이 이 장 전체를 꿰는 한 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완성품을 먼저 보여 준다. 왼쪽은 콘솔, 오른쪽은 윈폼+터틀. 둘 다 '배열이 없으면 못 만드는' 프로그램이다.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변수는 상자마다 이름, 배열은 상자 묶음에 이름 하나. 칸 번호를 첨자라고 부르고 0부터 센다는 것을 표로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선언 두 방식. 교재 형식 슬라이드의 new [개수]는 오탈자라 컴파일되지 않는다는 점도 짚는다. aa[4] 오류는 직접 확인한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소스 7-1(변수 네 개)과 결과는 똑같다. 달라진 세 줄만 비교. 변수가 100개라면? 하고 물어 for 문으로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첨자 자리에 i. 반복마다 i와 칸이 어떻게 짝지어지는지 표로. 교재 그림 7-4의 scanf는 C언어식 표기라는 것도 한마디.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초기화 네 가지 + 기본값 0. 선언과 대입을 떼면 new int[]가 필요하다는 것이 가장 흔한 실수.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3~8행이 네 가지 초기화, 아래는 확인 출력. 15행 들여쓰기가 없어도 for 몸통이라는 것 — C#은 들여쓰기로 판단하지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큰 배열은 for로 초기화. 역순 첨자 99 - i를 i = 0, 99일 때 대입해 보며 확인. 시프트는 나머지 연산으로 원형 첨자를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밖 보충 예제. 시험에 자주 나오는 배열 기본기 세 가지를 한 번에 연습한다. 결과는 진짜 컴파일러로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Resize는 기존 값 유지, 늘어난 칸은 0. ref 없으면 CS1620(직접 확인). 7~8행과 15~16행은 foreach로 바꿔도 결과가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크기가 정해지지 않은 입력을 받는 요령. 표의 Length 열과 저장 칸 열을 나란히 읽으며 Length - 1이 왜 마지막 칸인지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무한 반복 + break 패턴은 CH06에서 배운 것. 크기 0에서 시작해 한 칸씩 늘리는 흐름을 줄 번호와 함께 따라간다.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정수 ÷ 정수는 몫만 남아서 (float)로 바꿔 나눈다. 그런데 float는 정밀도가 낮아 64비트에선 끝자리가 드러난다. double로 나누는 습관을 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 숫자는 가로줄(행) 수, 뒤 숫자는 세로줄(열) 수. 극장 좌석표 비유. 소스 7-9는 12칸을 손으로 채우는 버전이라 정리 노트로 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안쪽 for가 한 바퀴(4칸)를 다 돌아야 바깥 for가 한 칸 나간다. 오른쪽 아래 표의 숫자가 value가 들어가는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달걀판 비유 — 한 줄씩 칸막이, 판 전체를 큰 상자에. 크기를 안 써도 중괄호 모양에서 3행 4열이 정해진다.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1~12행이 입력과 생성, 오른쪽 13~31행이 채우기와 출력. 10행 크기 자리에 변수 row, col — 실행 중에 크기가 정해진다.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값은 교재 그림 7-13 예시, 실제는 매번 난수. 초기화 버튼의 이름·코드는 이 장 슬라이드에 없다 — CH04에서는 Turtle.Init().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윈폼 + 터틀이라 실습실에서는 못 돌린다. 데이터 준비(12~20행)와 그리기(22~38행)가 나뉜 구조를 먼저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24~25행 펜 굵기·색, 26~29행 중앙에서 목표 좌표로 선, 31~32행 Atan2로 방향 각도(라디안 × 180 / π), 33~37행 9각형. 그림 7-2의 도넛이 이것.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아파트의 층·줄·호. 교재 그림의 aa[2][3][4]는 C언어식 표기 — C#은 [면, 행, 열] 쉼표로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7-17~7-20의 흐름을 표 한 장으로. top이 늘 빈자리를 가리키니 뺄 때는 먼저 줄여야 마지막 차가 있는 칸이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문자 5칸 배열이 주차장, top이 다음 자리. 넣기는 '넣고 → 올리고'. 문자열이 공백으로 시작해 줄 앞에 한 칸씩 띄워 찍힌다.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빼기는 '내리고 → 꺼내고'. 들어간 순서 A B C, 나온 순서 C B A — 출력으로 LIFO를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화면 → 코드 역산 연습. 이 과목 시험 스타일과 같다. 각 줄의 핵심 코드만 떠올리면 나머지는 소스 틀을 그대로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줄 요약으로 닫는다. 응용예제 11·12는 원천 자료가 없어 내용을 만들지 않았다 — 교재를 보고 보강할 부분.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07  ·  값을 줄 세우는 배열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값을 줄 세우는 배열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Arrays: 1D, 2D, Dynamic Allocation and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변수 네 개 vs 배열 한 줄   ·   선언·초기화·Length·Array.Resize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2차원 배열(행·열)   ·   동적 할당   ·   3차원 배열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배열로 만든 스택 — push·pop·top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71153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배열을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한 줄로 붙인 상자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그리고, 첨자가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0부터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시작함을 설명한다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1528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4100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14687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선언·생성·초기화와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Length · Array.Resize · foreach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1차원 배열을 다룬다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5881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8453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58221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2차원 배열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(행·열)과 동적 할당, 3차원 배열의 모양을 표로 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10235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12806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901755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 하나와 변수 top으로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스택(push·pop)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구현한다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657850"/>
            <a:ext cx="16239744" cy="30346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585330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6480810"/>
            <a:ext cx="15508224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배열은 같은 종류의 값 여러 개를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번호(0부터)로 줄 세운 것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첨자에 변수 i를 넣는 </a:t>
            </a:r>
            <a:r>
              <a:rPr sz="2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for 문과 짝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이룬다 — 이 장의 소스는 모두 이 요령의 변주다.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7장 · p.259~298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만들 프로그램 두 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8046720" cy="32918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417445"/>
            <a:ext cx="91440" cy="32918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520315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[프로그램 1] 실행 결과 — 32비트 빌드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870073"/>
            <a:ext cx="7242048" cy="27157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33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77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1234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8989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55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0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합계 ==&gt; 10388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평균 ==&gt; 2077.6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863590"/>
            <a:ext cx="8046720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059043"/>
            <a:ext cx="73152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크기가 고정되지 않은 배열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6686550"/>
            <a:ext cx="7315200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0을 입력할 때까지 숫자를 받아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배열을 </a:t>
            </a: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한 칸씩 늘리며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저장하고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합계·평균을 낸다 — 소스 7-8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17445"/>
            <a:ext cx="7754112" cy="62750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0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471" y="2510028"/>
            <a:ext cx="5126690" cy="563727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509760" y="8239887"/>
            <a:ext cx="775411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65792" y="8239887"/>
            <a:ext cx="724204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7-2 발췌 — [프로그램 2] 화면 중앙에서 나타나는 거북이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1차원은 소스 7-8, 2차원 + 터틀은 소스 7-13에서 완성한다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1절 · p.260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변수 네 개 vs 배열 한 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509760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0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780" y="2510028"/>
            <a:ext cx="5904455" cy="32712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873877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873877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7-3 발췌 — 배열의 개념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2417445"/>
            <a:ext cx="6291072" cy="39090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12898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 — 아파트 한 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3240405"/>
            <a:ext cx="5559552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동 이름(aa)은 하나,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집마다 호수가 붙는다.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다만 호수는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1이 아니라 0부터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4칸이면 aa[0]~aa[3].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532245"/>
            <a:ext cx="16239744" cy="565785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6532245"/>
            <a:ext cx="4108216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첨자(인덱스)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0712" y="6532245"/>
            <a:ext cx="2484241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3866" y="6532245"/>
            <a:ext cx="2484241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37020" y="6532245"/>
            <a:ext cx="2484241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60174" y="6532245"/>
            <a:ext cx="2484241" cy="5657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709803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7098030"/>
            <a:ext cx="4035064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부르는 이름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7288" y="7098030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442" y="7098030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73596" y="7098030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96750" y="7098030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7859268"/>
            <a:ext cx="4035064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new int[4] 직후 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7288" y="7859268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0442" y="7859268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73596" y="7859268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96750" y="7859268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상자(변수)를 한 줄로 붙이고 전체에 이름 하나 — 칸 번호가 첨자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p.262 · 그림 7-3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선언하고 만들기 — 마지막 칸은 개수 − 1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7936992" cy="2592324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0261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변수로 쓸 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15810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417445"/>
            <a:ext cx="7936992" cy="2592324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0261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배열로 쓸 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15810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322701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a, b, c, d;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322701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aa = new int[4];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42791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· b · c · d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042791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aa[0] · aa[1] · aa[2] · aa[3]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194935"/>
            <a:ext cx="9875520" cy="349758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89888" y="5390388"/>
            <a:ext cx="91440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선언 방법 두 가지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6017895"/>
            <a:ext cx="9144000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</a:t>
            </a: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int[] aa = new int[4];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선언과 생성을 한 줄에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</a:t>
            </a: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int[] aa;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먼저 선언 → </a:t>
            </a: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aa = new int[4];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나중에 생성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int[]의 대괄호는 '배열'이라는 표시, new int[4]가 실제로 칸 4개를 만든다.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38560" y="5194935"/>
            <a:ext cx="5925312" cy="349758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740896" y="5369814"/>
            <a:ext cx="512064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없는 칸 aa[4]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40896" y="5832729"/>
            <a:ext cx="5120640" cy="2715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칸이 4개면 첨자는 0~3.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aa[4]에 접근하면 실행 중에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IndexOutOfRangeException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(인덱스가 배열 범위를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벗어났습니다).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형식 설명의 'new [개수]'는 데이터형이 빠진 인쇄 — 실제로는 new int[4]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p.262~264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 → 7-2 — 변수를 배열로 바꾸기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005840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7-2 (Project07_2) — 7-1의 a, b, c, d를 aa[0]~aa[3]으로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925372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aa = new int[4];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Console.Write("1번째 숫자를 입력하세요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aa[0]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Console.Write("2번째 숫자를 입력하세요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aa[1]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Console.Write("3번째 숫자를 입력하세요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aa[2]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Console.Write("4번째 숫자를 입력하세요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aa[3]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hap = aa[0] + aa[1] + aa[2] + aa[3];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Console.WriteLine("합계 ==&gt; {0}", hap);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417445"/>
            <a:ext cx="5742432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417445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520315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2870073"/>
            <a:ext cx="4937760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1번째 숫자를 입력하세요 : 10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2번째 숫자를 입력하세요 : 20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3번째 숫자를 입력하세요 : 30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4번째 숫자를 입력하세요 : 40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합계 ==&gt;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886325"/>
            <a:ext cx="5742432" cy="38061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508177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7-1과 달라진 세 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5709285"/>
            <a:ext cx="5010912" cy="2859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3행 int a, b, c, d;</a:t>
            </a:r>
          </a:p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</a:t>
            </a:r>
            <a:r>
              <a:rPr sz="1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int[] aa = new int[4];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7행 a = …</a:t>
            </a:r>
          </a:p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</a:t>
            </a:r>
            <a:r>
              <a:rPr sz="1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aa[0] = …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15행 a + b + c + d</a:t>
            </a:r>
          </a:p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</a:t>
            </a:r>
            <a:r>
              <a:rPr sz="1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aa[0] + … + aa[3]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'1번째' 값이 들어가는 곳은 aa[1]이 아니라 aa[0]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소스 7-1, 7-2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7-3 — for 문이 첨자를 바꿔 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509760" cy="59664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7-3 (Project07_3)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8705088" cy="52463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aa = new int[4];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&lt;= 3; i++)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Console.Write("{0}번째 숫자를 입력하세요 : ", i + 1);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aa[i] = int.Parse(Console.ReadLine());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hap = aa[0] + aa[1] + aa[2] + aa[3];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Console.WriteLine("합계 ==&gt; {0}", hap);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417445"/>
            <a:ext cx="629107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192256" y="2417445"/>
            <a:ext cx="8193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50470" y="2417445"/>
            <a:ext cx="207751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66899" y="2417445"/>
            <a:ext cx="207751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저장 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931795"/>
            <a:ext cx="6291072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28832" y="2931795"/>
            <a:ext cx="74615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87046" y="2931795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1번째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03475" y="2931795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3487293"/>
            <a:ext cx="74615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87046" y="3487293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2번째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03475" y="3487293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4042791"/>
            <a:ext cx="6291072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228832" y="4042791"/>
            <a:ext cx="74615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87046" y="4042791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3번째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03475" y="4042791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8832" y="4598289"/>
            <a:ext cx="74615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87046" y="4598289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4번째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03475" y="4598289"/>
            <a:ext cx="200436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0" y="5349240"/>
            <a:ext cx="6291072" cy="21602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0972800" y="5349240"/>
            <a:ext cx="91440" cy="21602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338560" y="545211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75136" y="5801868"/>
            <a:ext cx="5486400" cy="15841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1번째 숫자를 입력하세요 : 10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2번째 숫자를 입력하세요 : 20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3번째 숫자를 입력하세요 : 30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4번째 숫자를 입력하세요 : 40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합계 ==&gt; 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0" y="7663815"/>
            <a:ext cx="6291072" cy="102870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375136" y="7663815"/>
            <a:ext cx="548640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i = 1부터 i &lt;= 4면 aa[4] 오류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7-1: 5개 + while — 초기식·조건식·증감식을 while 앞·괄호·몸통 끝으로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p.265 · 그림 7-4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초기화 — 만들면서 값까지 넣기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17445"/>
            <a:ext cx="80057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코드 (소스 7-4)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8250" y="2417445"/>
            <a:ext cx="735616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만들어진 배열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2952369"/>
            <a:ext cx="16239744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952369"/>
            <a:ext cx="793260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aa = { 100, 200, 300, 400 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4826" y="2952369"/>
            <a:ext cx="728301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[100, 200, 300, 400] — 선언과 동시에, 개수 생략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10737"/>
            <a:ext cx="793260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bb = new int[] { 100, 200, 300 };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4826" y="3610737"/>
            <a:ext cx="728301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[100, 200, 300]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269105"/>
            <a:ext cx="16239744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269105"/>
            <a:ext cx="793260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cc;   cc = new int[] { 100, 200 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4826" y="4269105"/>
            <a:ext cx="728301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[100, 200] — 선언 후 나중에 대입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27473"/>
            <a:ext cx="793260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dd = new int[1];   dd[0] = 100;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4826" y="4927473"/>
            <a:ext cx="728301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[100] — 칸을 만든 뒤 대입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585841"/>
            <a:ext cx="16239744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585841"/>
            <a:ext cx="793260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int[] aa = new int[4];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4826" y="5585841"/>
            <a:ext cx="728301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[0, 0, 0, 0] — 값을 안 주면 모두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6429375"/>
            <a:ext cx="9509760" cy="226314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26464" y="6604254"/>
            <a:ext cx="870508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cc = { 100, 200 }; 는 오류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7067169"/>
            <a:ext cx="870508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선언과 떼어 대입할 때는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new int[]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꼭 붙인다.</a:t>
            </a:r>
          </a:p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(직접 확인: CS1525 잘못된 식의 항 '{')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0" y="6429375"/>
            <a:ext cx="6291072" cy="22631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338560" y="6624828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7252335"/>
            <a:ext cx="5559552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아파트를 지으면서 입주자까지 정하면 초기화, 빈 집만 지으면 new int[4] — 빈 칸엔 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선언과 동시에 초기화할 때는 개수를 쓰지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그림 7-5, 7-6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7-4 — 초기화 네 가지를 한 번에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7973568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7-4 (Project07_4) 1~12행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7168896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aa = { 100, 200, 300, 400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bb = new int[] { 100, 200, 300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cc;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cc = new int[] { 100, 200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dd = new int[1];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dd[0] = 100;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4;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Console.Write("aa[{0}]==&gt;{1}\t", i, aa[i]);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2417445"/>
            <a:ext cx="7973568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6064" y="2520315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13~25행 — 15행은 교재도 들여쓰기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14091"/>
            <a:ext cx="7168896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3;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Console.Write("bb[{0}]==&gt;{1}\t", i, bb[i]);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2;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Console.Write("cc[{0}]==&gt;{1}\t", i, cc[i]);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1;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Console.Write("dd[{0}]==&gt;{1}\t", i, dd[i]);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149465"/>
            <a:ext cx="16239744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7149465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252335"/>
            <a:ext cx="1550822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602093"/>
            <a:ext cx="15435071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aa[0]==&gt;100     aa[1]==&gt;200     aa[2]==&gt;300     aa[3]==&gt;400    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bb[0]==&gt;100     bb[1]==&gt;200     bb[2]==&gt;300    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cc[0]==&gt;100     cc[1]==&gt;200    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dd[0]==&gt;100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\t(탭)은 콘솔에서 8칸 단위로 맞춰 벌어진다 — 줄 끝에도 탭이 하나 붙는다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7-4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7-5 — 짝수 100개를 역순으로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060704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7-5 (Project07_5)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980236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aa = new int[100];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bb = new int[100];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100;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aa[i] = i * 2;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100;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bb[i] = aa[99 - i];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Console.WriteLine("bb[0]는 {0}, bb[99]는 {1} 입력됨.", bb[0], bb[99]);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2417445"/>
            <a:ext cx="5193792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2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783" y="2510028"/>
            <a:ext cx="3562385" cy="183108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2070080" y="4433697"/>
            <a:ext cx="51937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26112" y="4433697"/>
            <a:ext cx="468172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7-7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5040630"/>
            <a:ext cx="5193792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070080" y="504063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435840" y="5143500"/>
            <a:ext cx="44622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2416" y="5493258"/>
            <a:ext cx="4389120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bb[0]는 198, bb[99]는 0 입력됨.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0" y="6326505"/>
            <a:ext cx="5193792" cy="23660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35840" y="6521958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역순의 핵심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0" y="7149465"/>
            <a:ext cx="4462272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bb[i] = aa[99 - i]</a:t>
            </a: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칸이 n개면 n - 1 - i.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SELF STUDY 7-2 시프트:</a:t>
            </a: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aa[(i + 50) % 100]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본문 '0, 2, 4, 8, …'은 인쇄 오류 — 실제 값은 0, 2, 4, 6, …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그림 7-7 · 소스 7-5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보충 — 합계·최댓값·역순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024128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보충 예제 (교재 밖) — 실습실 07_x1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943660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int[] score = { 72, 95, 60, 88, 79 };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hap = 0, max = score[0];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0; i &lt; score.Length; i++)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hap += score[i];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(score[i] &gt; max)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max = score[i];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Console.WriteLine("합계 ==&gt; {0}", hap);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Console.WriteLine("최대 ==&gt; {0}", max);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Console.Write("역순 ==&gt;");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(int i = score.Length - 1; i &gt;= 0; i--)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 {0}", score[i]);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417445"/>
            <a:ext cx="5559552" cy="16459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04320" y="2417445"/>
            <a:ext cx="91440" cy="16459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0" y="2520315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06656" y="2870073"/>
            <a:ext cx="4754880" cy="10698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합계 ==&gt; 394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최대 ==&gt; 95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역순 ==&gt; 79 88 60 95 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4269105"/>
            <a:ext cx="5559552" cy="44234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0" y="4464558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세 가지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5092065"/>
            <a:ext cx="4828032" cy="347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합계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hap을 0에서 시작해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score[i]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최댓값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후보를 첫 칸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score[0]으로 두고 더 크면 교체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역순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첨자를 Length - 1부터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0까지 줄이며 읽기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max를 0으로 시작하면 음수만 있는 배열에서 틀린다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보충 — 교재 2.2절 배열 활용의 응용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크기 알기·바꾸기 — Length와 Array.Resize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87552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7-7 (Project07_7)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907084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aa = { 10, 20, 30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Console.WriteLine("현 배열 크기 ==&gt; {0}", aa.Length);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Console.Write("현 배열 내용 ==&gt;");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aa.Length;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Console.Write("{0, 3:D} ", aa[i]);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Array.Resize(ref aa, 5);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Console.WriteLine("새 배열 크기 ==&gt; {0}", aa.Length);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Console.Write("새 배열 내용 ==&gt;");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aa.Length;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Console.Write("{0, 3:D} ", aa[i]);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0" y="2417445"/>
            <a:ext cx="5925312" cy="18516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338560" y="2417445"/>
            <a:ext cx="91440" cy="18516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04320" y="2520315"/>
            <a:ext cx="51937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40896" y="2870073"/>
            <a:ext cx="5120640" cy="12755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현 배열 크기 ==&gt; 3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현 배열 내용 ==&gt; 10  20  30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새 배열 크기 ==&gt; 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새 배열 내용 ==&gt; 10  20  30   0   0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38560" y="4423410"/>
            <a:ext cx="5925312" cy="18002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40896" y="4598289"/>
            <a:ext cx="512064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ref를 빼면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40896" y="5061204"/>
            <a:ext cx="5120640" cy="10184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Array.Resize(aa, 5);</a:t>
            </a:r>
          </a:p>
          <a:p>
            <a:pPr algn="l">
              <a:lnSpc>
                <a:spcPct val="140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CS1620: 인수는 ref 키워드와</a:t>
            </a:r>
          </a:p>
          <a:p>
            <a:pPr algn="l">
              <a:lnSpc>
                <a:spcPct val="140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함께 전달해야 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38560" y="6377940"/>
            <a:ext cx="5925312" cy="23145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704320" y="6573393"/>
            <a:ext cx="51937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소스 7-6 · foreach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7200900"/>
            <a:ext cx="5193792" cy="1368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aa.Length = 5, sizeof(int) = 4</a:t>
            </a: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5 × 4 = </a:t>
            </a:r>
            <a:r>
              <a:rPr sz="13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20바이트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foreach (int data in aa) —</a:t>
            </a:r>
          </a:p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첨자 없이 차례로 꺼냄(읽기 전용)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반복 조건에 숫자 대신 aa.Length — 크기가 바뀌어도 그대로 동작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그림 7-8 · 소스 7-6, 7-7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입력마다 한 칸씩 자라는 배열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7315200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3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705" y="2510028"/>
            <a:ext cx="4326046" cy="30655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668137"/>
            <a:ext cx="73152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668137"/>
            <a:ext cx="68031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7-9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417445"/>
            <a:ext cx="848563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97696" y="2417445"/>
            <a:ext cx="108850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5109" y="2417445"/>
            <a:ext cx="100364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67667" y="2417445"/>
            <a:ext cx="14279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저장 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34506" y="2417445"/>
            <a:ext cx="320990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931795"/>
            <a:ext cx="8485632" cy="54521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34272" y="2931795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685" y="2931795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4243" y="2931795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71082" y="2931795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[33]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3477006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685" y="3477006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4243" y="3477006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71082" y="3477006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[33, 77]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022217"/>
            <a:ext cx="8485632" cy="54521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34272" y="4022217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685" y="4022217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04243" y="4022217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71082" y="4022217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[33, 77, 1234]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567428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8989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685" y="4567428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04243" y="4567428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ary[3]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71082" y="4567428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[… , 8989]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5112639"/>
            <a:ext cx="8485632" cy="54521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34272" y="5112639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685" y="5112639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4243" y="5112639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ary[4]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71082" y="5112639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[… , 55]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5657850"/>
            <a:ext cx="1015349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685" y="5657850"/>
            <a:ext cx="930493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break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04243" y="5657850"/>
            <a:ext cx="1354775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71082" y="5657850"/>
            <a:ext cx="3136757" cy="5452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합계 10388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" y="642937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24128" y="645509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92223" y="6280213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 </a:t>
            </a: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 배열로 시작 — int[] ary = new int[0];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" y="7170039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24128" y="7195756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92223" y="7020877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입력마다 </a:t>
            </a: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Array.Resize(ref ary, ary.Length + 1)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한 칸 추가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4128" y="7910703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24128" y="7936420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92223" y="7761541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칸 = 마지막 칸 </a:t>
            </a: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ary[ary.Length - 1]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에 저장 · 0이면 break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p.273 · 그림 7-9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7-8 (1) — 입력받으며 배열 늘리기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024128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7-8 (Project07_8) 1~16행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943660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ary = new int[0];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num, hap = 0;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double avg;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(true)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Console.Write("숫자를 입력하세요(0은 종료) :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num = int.Parse(Console.ReadLine());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(num == 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Array.Resize(ref ary, ary.Length + 1);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ary[ary.Length - 1] = num;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417445"/>
            <a:ext cx="5559552" cy="62750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70080" y="2612898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줄별 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3240405"/>
            <a:ext cx="4828032" cy="5328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3행 — 칸이 하나도 없는 배열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7행 — while (true):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11~12행 break가 유일한 출구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14행 — 현재 크기 + 1로 늘림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15행 — 방금 늘린 마지막 칸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 Length - 1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ary[ary.Length] = num; 은 범위 초과 — 마지막 칸은 항상 Length - 1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소스 7-8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7-8 (2) — 합계·평균, 그리고 끝자리의 비밀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144000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17~27행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8339328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ary.Length; i++)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+= ary[i];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avg = (float)hap / ary.Length;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Console.WriteLine("합계 ==&gt; {0}", hap);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Console.WriteLine("평균 ==&gt; {0}", avg);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Array.Resize(ref ary, 0);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417445"/>
            <a:ext cx="6656832" cy="31889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417445"/>
            <a:ext cx="91440" cy="31889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520315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64비트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2870073"/>
            <a:ext cx="5852160" cy="26128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33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77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1234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8989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55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숫자를 입력하세요(0은 종료) : 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합계 ==&gt; 10388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평균 ==&gt; 2077.60009765625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789420"/>
            <a:ext cx="16239744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696429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화면은 2077.6 — 왜 다를까?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427214"/>
            <a:ext cx="15435071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(float)hap / ary.Length는 float(유효숫자 약 7자리)로 나눈다. 64비트 빌드는 2077.60009765625, 32비트 빌드(VS 기본값 '32비트 선호')는 2077.6 — 직접 확인했다.</a:t>
            </a:r>
          </a:p>
          <a:p>
            <a:pPr algn="l">
              <a:lnSpc>
                <a:spcPct val="140000"/>
              </a:lnSpc>
            </a:pPr>
            <a:r>
              <a:rPr sz="17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(double)hap / ary.Length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쓰면 어느 쪽에서도 2077.6.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7-3: 문자열로 받아 "" 검사 → double.Parse, 합계는 foreach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소스 7-8 · 그림 7-1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2차원 배열 — 행과 열로 줄 세우기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6239744" cy="19545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3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760" y="2510028"/>
            <a:ext cx="4428480" cy="131673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3919347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3919347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7-11 발췌 — 2차원 배열의 개념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52628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4526280"/>
            <a:ext cx="150985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2353" y="452628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0열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5096" y="452628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1열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40" y="452628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2열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10584" y="452628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3열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040630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5040630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0행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8929" y="5040630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ary[0, 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1672" y="5040630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ary[0,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4416" y="5040630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ary[0, 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47160" y="5040630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ary[0, 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96128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1행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8929" y="5596128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ary[1, 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1672" y="5596128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ary[1, 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4416" y="5596128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ary[1, 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47160" y="5596128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ary[1, 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6151626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6151626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2행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8929" y="6151626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ary[2, 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1672" y="6151626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ary[2, 1]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4416" y="6151626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ary[2, 2]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47160" y="6151626"/>
            <a:ext cx="3060679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ary[2, 3]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" y="6892290"/>
            <a:ext cx="16239744" cy="18002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389888" y="708774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보충 — GetLength (교재 밖)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7715250"/>
            <a:ext cx="1550822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int[,] ary = new int[3, 4]; → </a:t>
            </a: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GetLength(0) = 3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(행), </a:t>
            </a: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GetLength(1) = 4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(열), </a:t>
            </a: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Length = 12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(전체). 마지막 칸은 ary[3, 4]가 아니라 </a:t>
            </a: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ary[2, 3]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소스 7-9는 12칸을 한 줄씩 직접 대입 — 다음 장의 중첩 for로 줄인다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p.276 · 그림 7-10, 7-11 · 소스 7-9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7-10 — 중첩 for: 바깥은 행, 안쪽은 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7973568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7-10 1~13행 — 채우기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7168896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int[,] ary = new int[3, 4];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value = 1;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3;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4;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ary[i, k] = value;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value++;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2417445"/>
            <a:ext cx="7973568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6064" y="2520315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14~25행 —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14091"/>
            <a:ext cx="7168896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Console.WriteLine("ary[0, 0]부터 ary[2, 3]까지 출력");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3;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4;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Console.Write("{0, 3:D} ", ary[i, k] 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149465"/>
            <a:ext cx="7973568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7149465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7252335"/>
            <a:ext cx="7242048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602093"/>
            <a:ext cx="7168896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ary[0, 0]부터 ary[2, 3]까지 출력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1   2   3   4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5   6   7   8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9  10  11  12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7149465"/>
            <a:ext cx="7973568" cy="39090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0" y="7149465"/>
            <a:ext cx="1155801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4473" y="7149465"/>
            <a:ext cx="1155801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k=0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99187" y="7149465"/>
            <a:ext cx="1155801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k=1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3900" y="7149465"/>
            <a:ext cx="1155801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k=2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88614" y="7149465"/>
            <a:ext cx="1155801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k=3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7540371"/>
            <a:ext cx="7973568" cy="401193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46335" y="7540371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i=0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1049" y="7540371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35763" y="7540371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30476" y="7540371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25190" y="7540371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5" y="7941564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i=1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1049" y="7941564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35763" y="7941564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30476" y="7941564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25190" y="7941564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0304" y="8342757"/>
            <a:ext cx="7973568" cy="401193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546335" y="8342757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i=2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41049" y="8342757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35763" y="8342757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30476" y="8342757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925190" y="8342757"/>
            <a:ext cx="1082649" cy="4011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7-4: value += 2로 홀수, 두 for를 모두 거꾸로(i: 2→0, k: 3→0)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소스 7-10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2차원 초기화 — 행마다 중괄호, 사이는 쉼표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8046720" cy="2571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4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006" y="2510028"/>
            <a:ext cx="5066964" cy="19339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536567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536567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7-12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417445"/>
            <a:ext cx="7754112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0" y="2520315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7-11 (Project07_11)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3014091"/>
            <a:ext cx="6949440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int[,] ary =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{ 1, 2, 3, 4 },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{ 5, 6, 7, 8 },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{ 9, 10, 11, 12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Console.WriteLine("ary[0, 0]부터 ary[2, 3]까지 출력");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3;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4;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Console.Write("{0, 3:D}", ary[i, k]);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143500"/>
            <a:ext cx="8046720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24128" y="5143500"/>
            <a:ext cx="91440" cy="18002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524637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5596128"/>
            <a:ext cx="7242048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ary[0, 0]부터 ary[2, 3]까지 출력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1  2  3  4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5  6  7  8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9 10 11 12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098030"/>
            <a:ext cx="8046720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26464" y="7098030"/>
            <a:ext cx="7242048" cy="15944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마지막 행 뒤엔 쉼표 없음 — 14행은 서식 뒤 공백이 없어 숫자 간격이 한 칸 좁다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p.279 · 그림 7-12 · 소스 7-11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동적 할당 — 크기를 입력으로 정한다 (소스 7-12)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5669280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2561463"/>
            <a:ext cx="4864608" cy="36415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row, col;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Console.Write("행 개수를 입력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row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Console.Write("열 개수를 입력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col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int[,] ary = new int[ row , col 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value = 1;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6429375"/>
            <a:ext cx="5669280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24128" y="6429375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532245"/>
            <a:ext cx="49377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6882003"/>
            <a:ext cx="4864608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행 개수를 입력 : 3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열 개수를 입력 : 5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ary[0, 0]부터 ary[3, 5]까지 출력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1  2  3  4  5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6  7  8  9 10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11 12 13 14 15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6016" y="2417445"/>
            <a:ext cx="10277856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88352" y="2561463"/>
            <a:ext cx="9473184" cy="6007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row;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col;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ary[i, k] = value;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value++;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Console.WriteLine("ary[0, 0]부터 ary[{0}, {1}]까지 출력", row, col);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row;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col;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Console.Write("{0, 3:D}", ary[i, k]);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동적 할당 = 크기를 입력으로 지정 · 22행 제목은 ary[3, 5]로 찍히지만 실제 마지막 칸은 ary[2, 4]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3.3절 · p.280 · 소스 7-12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거북이 명단을 2차원 배열로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6217920" cy="62750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0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43" y="2510028"/>
            <a:ext cx="5126690" cy="56372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62179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57058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7-2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417445"/>
            <a:ext cx="95829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00416" y="2417445"/>
            <a:ext cx="5193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707" y="2417445"/>
            <a:ext cx="109435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1973" y="2417445"/>
            <a:ext cx="99852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29409" y="2417445"/>
            <a:ext cx="90269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71017" y="2417445"/>
            <a:ext cx="99852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08454" y="2417445"/>
            <a:ext cx="99852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45891" y="2417445"/>
            <a:ext cx="99852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931795"/>
            <a:ext cx="9582912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36992" y="2931795"/>
            <a:ext cx="4462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5283" y="2931795"/>
            <a:ext cx="102120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8549" y="29317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65985" y="2931795"/>
            <a:ext cx="82954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07593" y="29317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45030" y="29317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82467" y="29317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446145"/>
            <a:ext cx="4462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5283" y="3446145"/>
            <a:ext cx="102120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-232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8549" y="34461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65985" y="3446145"/>
            <a:ext cx="82954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07593" y="34461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45030" y="34461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82467" y="34461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960495"/>
            <a:ext cx="9582912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936992" y="3960495"/>
            <a:ext cx="4462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5283" y="3960495"/>
            <a:ext cx="102120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8549" y="39604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65985" y="3960495"/>
            <a:ext cx="82954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07593" y="39604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45030" y="39604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82467" y="396049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474845"/>
            <a:ext cx="4462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5283" y="4474845"/>
            <a:ext cx="102120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8549" y="44748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65985" y="4474845"/>
            <a:ext cx="82954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07593" y="44748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45030" y="44748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82467" y="4474845"/>
            <a:ext cx="9253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5194935"/>
            <a:ext cx="95829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900416" y="5194935"/>
            <a:ext cx="166932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8656" y="5194935"/>
            <a:ext cx="281927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66846" y="5194935"/>
            <a:ext cx="37775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속성값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5709285"/>
            <a:ext cx="9582912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936992" y="5709285"/>
            <a:ext cx="159617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5232" y="5709285"/>
            <a:ext cx="27461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btn_draw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03422" y="5709285"/>
            <a:ext cx="370441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Text: 그리기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36992" y="6264783"/>
            <a:ext cx="159617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5232" y="6264783"/>
            <a:ext cx="27461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(슬라이드에 없음)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303422" y="6264783"/>
            <a:ext cx="370441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Text: 초기화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680960" y="6820281"/>
            <a:ext cx="9582912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936992" y="6820281"/>
            <a:ext cx="159617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5232" y="6820281"/>
            <a:ext cx="274612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303422" y="6820281"/>
            <a:ext cx="370441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Text·크기는 코드에서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80960" y="7560945"/>
            <a:ext cx="9582912" cy="113157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083296" y="7560945"/>
            <a:ext cx="87782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준비: NuGet으로 Nakov.TurtleGraphics 설치 (CH04 실습 4-1)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거북이 한 마리 = 한 행, 속성 6개 = 6열 → int[turtleNumber, 6]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3.4절 · p.281 · 그림 7-13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7-13 (1) — 거북이 명단 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396871"/>
            <a:ext cx="12161520" cy="632650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2540889"/>
            <a:ext cx="11356848" cy="60590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btn_draw_Click(object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swidth = 800, sheight = 800;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this.Text = "거북이 쇼";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this.ClientSize = new Size(sheight, swidth);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Turtle.Delay 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Random rnd = new Random();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turtleNumber = rnd.Next(50,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int[,] turtleAry = new int[turtleNumber, 6]; // X좌표, Y좌표, 거북이 크기, R, G, B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turtleNumber;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0] = rnd.Next(-swidth / 2, swidth / 2);    // X좌표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1] = rnd.Next(-sheight / 2, sheight / 2);  // Y좌표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2] = rnd.Next(1, 20);  // 거북이 크기 및 펜 두께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3] = rnd.Next(0, 256); // Red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4] = rnd.Next(0, 256); // Green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turtleAry[i, 5] = rnd.Next(0, 256); // Blue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0" y="2396871"/>
            <a:ext cx="3730752" cy="63265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898880" y="2592324"/>
            <a:ext cx="29992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줄별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0" y="3219831"/>
            <a:ext cx="2999232" cy="5380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3~6행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800×800 창, 제목, 속도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8~9행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거북이 50~99마리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10행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[마리 수, 6] 배열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 동적 할당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12~20행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행마다 X·Y·크기·R·G·B 난수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Next(50, 100)은 100 미만 — 50~99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3.4절 · 소스 7-13 1~20행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7-13 (2) — 한 마리씩 선과 원 그리기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396871"/>
            <a:ext cx="16239744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2540889"/>
            <a:ext cx="15435071" cy="6007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turtleNumber;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Turtle.PenSize = turtleAry[i, 2];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Turtle.PenColor = Color.FromArgb(turtleAry[i, 3], turtleAry[i, 4], turtleAry[i, 5]);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Turtle.PenUp();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Turtle.MoveTo(0, 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Turtle.PenDown();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Turtle.MoveTo(turtleAry[i, 0], turtleAry[i, 1]);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angle = (int)(Math.Atan2(turtleAry[i, 0], turtleAry[i, 1]) * 180 / Math.PI); // 각도 구함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Turtle.RotateTo(angle - 90); // 거북이의 머리를 회전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9; k++)     // 40도씩 각도를 아홉 번 회전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Turtle.Forward(turtleAry[i, 2]);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Turtle.Rotate(40);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Forward(크기) + Rotate(40) × 9번 = 360° → 선 끝의 작은 9각형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3.4절 · 소스 7-13 21~39행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3차원 배열 — 2차원 판을 층층이 쌓는다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5852160" cy="62750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5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56370"/>
            <a:ext cx="5522976" cy="55445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58521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53400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7-15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417445"/>
            <a:ext cx="9948672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34656" y="2417445"/>
            <a:ext cx="23467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0면 (윗면)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20284" y="241744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0열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1045" y="241744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1열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01806" y="241744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2열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92567" y="241744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3열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911221"/>
            <a:ext cx="9948672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71232" y="2911221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6860" y="291122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47621" y="291122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38382" y="291122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9143" y="291122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2" y="3404997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6860" y="340499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47621" y="340499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38382" y="340499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9143" y="340499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898773"/>
            <a:ext cx="9948672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71232" y="3898773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6860" y="389877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47621" y="389877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38382" y="389877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9143" y="389877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577715"/>
            <a:ext cx="9948672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34656" y="4577715"/>
            <a:ext cx="23467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1면 (아랫면)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0284" y="457771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0열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11045" y="457771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1열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01806" y="457771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2열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92567" y="4577715"/>
            <a:ext cx="13518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3열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5071491"/>
            <a:ext cx="9948672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71232" y="5071491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6860" y="507149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47621" y="507149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38382" y="507149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9143" y="5071491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2" y="5565267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6860" y="556526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47621" y="556526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938382" y="556526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29143" y="5565267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0" y="6059043"/>
            <a:ext cx="9948672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571232" y="6059043"/>
            <a:ext cx="22735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6860" y="605904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47621" y="605904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38382" y="605904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29143" y="6059043"/>
            <a:ext cx="127869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6737985"/>
            <a:ext cx="9948672" cy="19545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680960" y="6933438"/>
            <a:ext cx="92171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C# 선언과 접근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7560945"/>
            <a:ext cx="9217152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int[,,] ary = new int[2, 3, 4]; — 쉼표 둘 = 3차원, 24칸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ary[1, 2, 0] = 1면 2행 0열 = </a:t>
            </a:r>
            <a:r>
              <a:rPr sz="21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7-5: 3중 for(면·행·열), 면이 끝날 때마다 빈 줄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3.5절 · p.283 · 그림 7-14, 7-15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스택 — 한쪽이 막힌 주차장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6239744" cy="19545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5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347" y="2510028"/>
            <a:ext cx="4571306" cy="131673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3919347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3919347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7-16 발췌 — 스택의 구조와 원리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52628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4526280"/>
            <a:ext cx="167225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4750" y="4526280"/>
            <a:ext cx="556979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6" y="4526280"/>
            <a:ext cx="69787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[0]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238" y="4526280"/>
            <a:ext cx="69787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37020" y="4526280"/>
            <a:ext cx="118506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60994" y="4526280"/>
            <a:ext cx="69787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97776" y="4526280"/>
            <a:ext cx="69787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34558" y="4526280"/>
            <a:ext cx="150985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040630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040630"/>
            <a:ext cx="159910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빈 주차장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1326" y="5040630"/>
            <a:ext cx="549664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top = 0;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5040630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6814" y="5040630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73596" y="5040630"/>
            <a:ext cx="111191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97570" y="5040630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34352" y="5040630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71134" y="5040630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596128"/>
            <a:ext cx="159910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push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1326" y="5596128"/>
            <a:ext cx="549664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parking[top] = 'A'; top++;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5596128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6814" y="5596128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73596" y="5596128"/>
            <a:ext cx="111191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97570" y="5596128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34352" y="5596128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71134" y="5596128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" y="6151626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80160" y="6151626"/>
            <a:ext cx="159910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 push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1326" y="6151626"/>
            <a:ext cx="549664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parking[top] = 'B'; top++;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6151626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6814" y="6151626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73596" y="6151626"/>
            <a:ext cx="111191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97570" y="6151626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34352" y="6151626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71134" y="6151626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6707124"/>
            <a:ext cx="159910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push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1326" y="6707124"/>
            <a:ext cx="549664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parking[top] = 'C'; top++;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6707124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6814" y="6707124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73596" y="6707124"/>
            <a:ext cx="111191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97570" y="6707124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434352" y="6707124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71134" y="6707124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" y="7262622"/>
            <a:ext cx="16239744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280160" y="7262622"/>
            <a:ext cx="159910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pop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91326" y="7262622"/>
            <a:ext cx="549664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top--; 후 parking[top] 꺼냄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0032" y="7262622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36814" y="7262622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73596" y="7262622"/>
            <a:ext cx="1111910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(C 나감)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97570" y="7262622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34352" y="7262622"/>
            <a:ext cx="62471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71134" y="7262622"/>
            <a:ext cx="1436705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4128" y="7972425"/>
            <a:ext cx="16239744" cy="7200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426464" y="7972425"/>
            <a:ext cx="15435071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top = 다음에 넣을 자리 → pop은 top-- 먼저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LIFO — 가장 나중에 들어간 것이 가장 먼저 나온다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4.1~4.2절 · p.285 · 그림 7-16~7-20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7-14 (1) — push: 넣고 top 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509760" cy="62750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7-14 (Project07_14) 1~18행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8705088" cy="5554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char[] parking = new char[5];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top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'A';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주차장에 들어감", parking[top]);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'B';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주차장에 들어감", parking[top]);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'C';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주차장에 들어감", parking[top]);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417445"/>
            <a:ext cx="6291072" cy="62750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338560" y="2612898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용어 네 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3240405"/>
            <a:ext cx="5559552" cy="5328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스택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한쪽이 막힌 구조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LIFO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Last In First Out,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나중에 넣은 것이 먼저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push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넣기: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parking[top] = 값; top++;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pop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빼기: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top--; 후 parking[top]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top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마지막 데이터의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바로 다음 위치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출력(7행)을 top++ 전에 해야 방금 넣은 차가 찍힌다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4.2절 · 소스 7-14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7-14 (2) — pop: top 내리고 꺼내기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9509760" cy="48348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2031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19~31행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4091"/>
            <a:ext cx="8705088" cy="411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top--;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주차장을 빠져나감", parking[top]);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 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top--;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주차장을 빠져나감", parking[top]);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 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top--;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{0} 자동차가 주차장을 빠져나감", parking[top]);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parking[top] = ' ';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417445"/>
            <a:ext cx="6291072" cy="272605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417445"/>
            <a:ext cx="91440" cy="272605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520315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2870073"/>
            <a:ext cx="5486400" cy="21499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A 자동차가 주차장에 들어감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B 자동차가 주차장에 들어감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C 자동차가 주차장에 들어감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C 자동차가 주차장을 빠져나감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B 자동차가 주차장을 빠져나감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A 자동차가 주차장을 빠져나감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5297805"/>
            <a:ext cx="6291072" cy="19030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6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494" y="5390388"/>
            <a:ext cx="4219684" cy="12653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972800" y="6748272"/>
            <a:ext cx="629107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228832" y="6748272"/>
            <a:ext cx="577900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7-20 발췌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406640"/>
            <a:ext cx="16239744" cy="128587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26464" y="7406640"/>
            <a:ext cx="15435071" cy="1285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빈 주차장에서 pop, 꽉 찬 주차장에서 push → 범위 초과 (실제로는 if 검사)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뺀 자리는 공백 문자 ' '로 비운다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4.2절 · 소스 7-14 · 그림 7-20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다섯 개 — 핵심 한 줄씩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17445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17445"/>
            <a:ext cx="102266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160" y="2417445"/>
            <a:ext cx="427061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요구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4686" y="2417445"/>
            <a:ext cx="962972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8A5A00"/>
                </a:solidFill>
                <a:latin typeface="페이퍼로지 8 ExtraBold"/>
                <a:ea typeface="페이퍼로지 8 ExtraBold"/>
                <a:cs typeface="페이퍼로지 8 ExtraBold"/>
              </a:rPr>
              <a:t>핵심 코드 →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2931795"/>
            <a:ext cx="16239744" cy="97726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2931795"/>
            <a:ext cx="949512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736" y="2931795"/>
            <a:ext cx="419746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5개 입력, for → 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1262" y="2931795"/>
            <a:ext cx="9556577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while (i &lt; 5) { … i++; } → 합계 ==&gt;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09060"/>
            <a:ext cx="949512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1736" y="3909060"/>
            <a:ext cx="419746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3의 배수 + 50칸 시프트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1262" y="3909060"/>
            <a:ext cx="9556577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bb[i] = aa[(i + 50) % 100]; → bb[0]는 153, bb[99]는 150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886325"/>
            <a:ext cx="16239744" cy="97726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886325"/>
            <a:ext cx="949512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1736" y="4886325"/>
            <a:ext cx="419746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실수 + Enter 종료 + foreach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1262" y="4886325"/>
            <a:ext cx="9556577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if (str == "") break; → 합계 567.317, 평균 141.82925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63590"/>
            <a:ext cx="949512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1736" y="5863590"/>
            <a:ext cx="419746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홀수 넣고 거꾸로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1262" y="5863590"/>
            <a:ext cx="9556577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value += 2; for (i = 2; i &gt;= 0; i--) → 첫 줄 23 21 19 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840855"/>
            <a:ext cx="16239744" cy="97726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6840855"/>
            <a:ext cx="949512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1736" y="6840855"/>
            <a:ext cx="419746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3차원 초기화 + 면 단위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1262" y="6840855"/>
            <a:ext cx="9556577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3중 for, 면마다 Console.WriteLine() → 1~12 / 빈 줄 / 13~24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7972425"/>
            <a:ext cx="16239744" cy="7200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426464" y="7972425"/>
            <a:ext cx="15435071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모범 답안 전체는 정리 노트와 웹 연습 문제(코드 역산)에 — 모두 진짜 컴파일러로 확인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2.2~3.5절 SELF STUDY 7-1~7-5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마무리 — 교재 끝부분과 다음 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07 · 값을 줄 세우는 배열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60866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배열 = 같은 형의 값을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번호(0부터)로 줄 세운 것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첨자에 i를 넣어 for와 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358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615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24974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크기는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Length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알고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Array.Resize(ref …)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바꾸며, 2차원은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[행, 열]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9996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2568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89082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스택은 배열 + top 하나 —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push는 넣고 top++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</a:t>
            </a:r>
            <a:r>
              <a:rPr sz="26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pop은 top-- 하고 꺼냄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37760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13321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교재 7장 끝부분 (아직 정리 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760720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요약 p.289 · 연습문제 p.292 · 응용예제 11 16진수 데이터 정렬하기 p.295 · 응용예제 12 큐를 이용해 주차장 구현하기 p.297 — 수업 슬라이드에 없어 교재 원문을 보고 채울 자리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995160"/>
            <a:ext cx="16239744" cy="16973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719061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7818120"/>
            <a:ext cx="1550822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CH08 문자열 가공과 나만의 메서드 — 이 장의 Array.Resize에서 만난 </a:t>
            </a:r>
            <a:r>
              <a:rPr sz="2200" b="0" lang="ko-KR" altLang="en-US">
                <a:solidFill>
                  <a:srgbClr val="8A5A00"/>
                </a:solidFill>
                <a:latin typeface="프리젠테이션 5 Medium"/>
                <a:ea typeface="프리젠테이션 5 Medium"/>
                <a:cs typeface="프리젠테이션 5 Medium"/>
              </a:rPr>
              <a:t>ref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out과 함께 본격 등장한다.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7장 요약 · p.289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