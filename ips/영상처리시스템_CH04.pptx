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저작권 안내. 인용 근거(저작권법 28조·37조 출처명시)와 자체 제작 원칙을 밝혀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도구 상자를 채우는 장이라는 프레임을 먼저 준다. 뒤 장 실습이 전부 이 함수 위에서 돌아간다.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창 함수는 전부 winname 문자열이 첫 인수라는 공통점을 짚어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 파일 그대로. 두 창이 지정한 좌표에 뜨는지만 확인하면 되는 예제다.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 결과 그림을 먼저 보여 주고 '왜 흰 영역이 작게 남았나'를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키보드만 콜백이 아니라는 점이 시험에 나오기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사전으로 switch-case를 흉내 내는 파이썬 관용구. 화살표 키는 waitKey가 아니라 waitKeyEx라야 잡힌다.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상수 값까지 외우기보다 이름의 규칙(L/R/M + DOWN/UP/DBLCLK)을 잡아 주면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더블클릭 한 번에 '누르기 → 더블클릭' 두 줄이 찍히는 것도 결과에서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트랙바 구조 그림의 다섯 말풍선(winname·trackbarname·value·pos·count)을 함께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 파일 그대로. 다음 장의 오류가 이 코드에서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직접 실행해서 오류 메시지를 띄워 보면 각인된다. NumPy 1.x에서는 조용히 넘어가던 부분이다.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교재는 onChange 본문을 생략했지만 실습 파일에는 채워져 있다. 조건문이 곧 앞 장 오류의 해결책 2다.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좌표 그림 하나로 (x,y)와 (행,열), 그리고 뒤에 나올 타원 각도 기준까지 미리 정리한다.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 파일 주석이 곧 수업 설명이다. ROI(관심 영역) 용어도 여기서 처음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org가 좌하단이라는 점 — 글자가 예상보다 위에 그려지는 이유다.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설명의 좌표·배율 숫자가 코드와 어긋난 곳이 있다. 코드 기준으로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나중에 그린 도형이 먼저 그린 도형 위에 얹힌다는 것도 실행 결과로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y축이 아래로 향하기 때문에 90도가 아래쪽이라는 점을 그림으로 확인시킨다.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코드의 창 이름은 '문자열'인데 교재 실행결과 창 제목은 Draw Eclipse &amp; Arc — 교재 판 차이다.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파일 이름은 타원이지만 내용은 마우스 그리기 종합(11.event_draw.py)이다.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줄이 연달아 center에 대입되므로 실제로 쓰이는 것은 마지막 줄이다. 셋 다 같은 값을 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4.6절 matplotlib 예제에서 실제로 색이 뒤집힌 그림을 다시 만난다.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imread 플래그는 시험 단골. 값(-1, 0, 1, 2, 4)까지 함께 외우게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컬러 파일을 GRAYSCALE로 읽으면 1채널 137, COLOR로 읽으면 [197 145 98]. 채널 수가 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영상인데 용량이 60배 차이 난다는 점이 이 예제의 전부다.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화소값 [189 134 91] → [48573 34438 23387] → [0.741 0.525 0.357]로 같은 색이 세 형식으로 바뀌는 것을 읽어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read()가 grab()과 retrieve()를 합친 것이라는 관계를 한 번 짚어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코덱은 내 PC에 설치돼 있어야 저장·재생이 된다. 목록은 fourcc.org/codecs.php.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실행하면 너비 640, 높이 480, 노출 -6, 밝기 143처럼 카메라 속성이 찍힌다.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fourcc 문자 DX50이 정수 808802372로 바뀌어 출력된다는 점도 한 번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 예제에서 만든 video_file.avi를 그대로 입력으로 쓴다. 채널 분리·합성은 5장의 예고편.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표를 다 외울 필요는 없고 figure-imshow-title-axis-show 흐름만 손에 익히면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앞의 BGR 퀴즈와 이어 붙여 설명하면 두 번 강조된다.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savefig는 show보다 먼저 불러야 빈 그림이 저장되지 않는다는 점도 실습에서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장은 기본 배열 연산. 오늘 만든 창과 그리기 위에서 계속 실습한다.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연습문제 18(태극 문양)은 ellipse로 반원 네 개를 그리는 문제다. 각도 규칙을 확인하는 좋은 과제.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2777490"/>
            <a:ext cx="128016" cy="308610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859786"/>
            <a:ext cx="14630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 · 컴퓨터및소프트웨어공학전공(박사과정)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35858"/>
            <a:ext cx="14630400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영상처리시스템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102352"/>
            <a:ext cx="987552" cy="473202"/>
          </a:xfrm>
          <a:prstGeom prst="roundRect">
            <a:avLst>
              <a:gd name="adj" fmla="val 20000"/>
            </a:avLst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0" y="5133213"/>
            <a:ext cx="9875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5102352"/>
            <a:ext cx="128016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lang="ko-KR" altLang="en-US">
                <a:solidFill>
                  <a:srgbClr val="C9D4E2"/>
                </a:solidFill>
                <a:latin typeface="페이퍼로지 6 SemiBold"/>
                <a:ea typeface="페이퍼로지 6 SemiBold"/>
                <a:cs typeface="페이퍼로지 6 SemiBold"/>
              </a:rPr>
              <a:t>CHAPTER 04  ·  창·이벤트·그리기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6480810"/>
            <a:ext cx="15727680" cy="12344"/>
          </a:xfrm>
          <a:prstGeom prst="rect">
            <a:avLst/>
          </a:prstGeom>
          <a:solidFill>
            <a:srgbClr val="2A5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6737985"/>
            <a:ext cx="146304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참고 교재  정성환·배종욱, 『OpenCV-Python으로 배우는 영상 처리 및 응용』 (생능출판사)</a:t>
            </a:r>
          </a:p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정리  김민  ·  대학원 학습·연구용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자료에 대하여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3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3" y="2299144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</a:t>
            </a:r>
            <a:r>
              <a:rPr sz="22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수업 진도에 맞춘 참고용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 — 목차와 개념 체계를 참고하되, 내용은 직접 조사해 재구성·각색했다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55930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3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358501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3" y="3286696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교재의 그림·내용 일부를 </a:t>
            </a:r>
            <a:r>
              <a:rPr sz="21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저작권법 제28조(공표된 저작물의 인용)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따라 교육·연구 목적으로 발췌·인용하고, 각 슬라이드에 출처(교재 절·그림 번호)를 명시했다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54685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3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457257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3" y="4274248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도표·그래프·예시 그림은 </a:t>
            </a:r>
            <a:r>
              <a:rPr sz="21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직접 제작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하는 것을 원칙으로 하고, 교재 그림을 그대로 쓴 경우에는 캡션에 인용임을 밝혔다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863590"/>
            <a:ext cx="16239744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603846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이용 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501384"/>
            <a:ext cx="15435071" cy="812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자료는 </a:t>
            </a:r>
            <a:r>
              <a:rPr sz="19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대학원 개인 학습·연구 목적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으로만 제작·사용한다.</a:t>
            </a:r>
          </a:p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저작권자의 허락 없는 무단 복제·전재·재배포 및 상업적 이용을 금한다.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76668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79621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참고 문헌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858964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정성환·배종욱, 『OpenCV-Python으로 배우는 영상 처리 및 응용』, 생능출판사  ·  수업 자료(CH01~04)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6314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00" b="0" lang="ko-KR" altLang="en-US">
                <a:solidFill>
                  <a:srgbClr val="2E5A75"/>
                </a:solidFill>
                <a:latin typeface="페이퍼로지 8 ExtraBold"/>
                <a:ea typeface="페이퍼로지 8 ExtraBold"/>
                <a:cs typeface="페이퍼로지 8 ExtraBold"/>
              </a:rPr>
              <a:t>CH 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3312" y="4166235"/>
            <a:ext cx="2194560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4526280"/>
            <a:ext cx="142646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창·이벤트·그리기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709285"/>
            <a:ext cx="142646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OpenCV Interface: Windows, Events, Drawing and I/O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6583680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창 제어   ·   키보드·마우스·트랙바 이벤트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087743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직선·사각형·글자·원·타원 그리기   ·   영상파일 읽고 쓰기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7591806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카메라와 동영상   ·   matplotlib으로 보기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가져갈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3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50579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창을 띄우고 </a:t>
            </a:r>
            <a:r>
              <a:rPr sz="29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키·마우스·트랙바 이벤트</a:t>
            </a: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받아 영상을 바꾼다 — 콜백이 핵심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45643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3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48214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35261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그리기 함수 다섯 개</a:t>
            </a: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(line·rectangle·putText·circle·ellipse)의 인수를 외운다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34111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3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36683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119943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영상·동영상 파일을 </a:t>
            </a:r>
            <a:r>
              <a:rPr sz="29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읽고 저장</a:t>
            </a: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하고, matplotlib으로도 띄운다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554980"/>
            <a:ext cx="16239744" cy="406336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89888" y="575043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이 장의 성격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6377940"/>
            <a:ext cx="15508224" cy="3116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새 알고리즘은 하나도 없다. 앞으로 모든 장에서 계속 쓸 </a:t>
            </a:r>
            <a:r>
              <a:rPr sz="29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입출력 도구 상자</a:t>
            </a: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채우는 장이다.</a:t>
            </a:r>
          </a:p>
          <a:p>
            <a:pPr algn="l">
              <a:lnSpc>
                <a:spcPct val="142000"/>
              </a:lnSpc>
            </a:pP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그래서 시험도 '이 함수의 인수가 무엇인가', '이 코드의 실행 결과는 무엇인가'로 나온다.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창을 만들고, 옮기고, 닫는 함수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93776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63817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4276" y="2571750"/>
            <a:ext cx="898013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하는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65526"/>
            <a:ext cx="16239744" cy="67894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65526"/>
            <a:ext cx="630862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cv2.namedWindow(winname[, flags])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0852" y="3065526"/>
            <a:ext cx="8906987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이름을 정해 창을 만든다 — flags로 크기 조정 방식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44468"/>
            <a:ext cx="630862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cv2.imshow(winname, mat)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0852" y="3744468"/>
            <a:ext cx="8906987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 창에 mat 행렬을 영상으로 표시. 창이 없으면 만들어서 표시한다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423410"/>
            <a:ext cx="16239744" cy="67894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423410"/>
            <a:ext cx="630862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cv2.moveWindow(winname, x, 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0852" y="4423410"/>
            <a:ext cx="8906987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창을 (x, y)로 이동 — 기준점은 창의 좌측 상단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02351"/>
            <a:ext cx="630862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cv2.resizeWindow(winname, width, height)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0852" y="5102351"/>
            <a:ext cx="8906987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창 크기를 다시 정한다 — 가로, 세로 순서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5781294"/>
            <a:ext cx="16239744" cy="67894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5781294"/>
            <a:ext cx="630862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cv2.destroyAllWindows()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0852" y="5781294"/>
            <a:ext cx="8906987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HighGUI로 만든 모든 창을 파괴한다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" y="6532245"/>
            <a:ext cx="8046720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43584" y="6532245"/>
            <a:ext cx="374538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flags 옵션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7878" y="6532245"/>
            <a:ext cx="68762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4419" y="6532245"/>
            <a:ext cx="22969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" y="7005447"/>
            <a:ext cx="8046720" cy="59664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280160" y="7005447"/>
            <a:ext cx="3672230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cv2.WINDOW_NORMAL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4454" y="7005447"/>
            <a:ext cx="614476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90995" y="7005447"/>
            <a:ext cx="2223820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크기 재조정 가능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7602092"/>
            <a:ext cx="3672230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cv2.WINDOW_AUTOSIZE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4454" y="7602092"/>
            <a:ext cx="614476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0995" y="7602092"/>
            <a:ext cx="2223820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행렬 크기에 자동 조정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36608" y="6532245"/>
            <a:ext cx="7827264" cy="21602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802368" y="6727698"/>
            <a:ext cx="709574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왜 창을 띄우나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2368" y="7355205"/>
            <a:ext cx="7095744" cy="12138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영상처리는 2차원 행렬 연산이다. 숫자만 봐서는 변화를 알 수 없어 </a:t>
            </a:r>
            <a:r>
              <a:rPr sz="14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창에 영상으로 띄워</a:t>
            </a: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확인한다.</a:t>
            </a:r>
          </a:p>
          <a:p>
            <a:pPr algn="l">
              <a:lnSpc>
                <a:spcPct val="142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게다가 OpenCV는 </a:t>
            </a:r>
            <a:r>
              <a:rPr sz="14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창이 활성화된 상태</a:t>
            </a: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에서만 키·마우스 이벤트를 감지한다.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4.1절 · 강의 슬라이드 3~4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4.1.1 — 창 두 개를 원하는 자리에 띄우기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9377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1550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실습 01.move_window.py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15435071" cy="42176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   # 넘파이 라이브러리 임포트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   # OpenCV 라이브러리 임포트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np.zeros((200, 400), np.uint8)   # 행렬 생성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image[:] = 200   # 밝은 회색(200) 바탕 영상 생성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title1, title2 = 'Position1', 'Position2'   #윈도우 이름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cv2.namedWindow(title1, cv2.WINDOW_AUTOSIZE)   # 윈도우 생성 및 크기 조정 옵션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cv2.namedWindow(title2)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cv2.moveWindow(title1, 150, 150)   #윈도우 이동 - 위치 지정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cv2.moveWindow(title2, 400, 50)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cv2.imshow(title1, image)   # 행렬 원소를 영상으로 표시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cv2.imshow(title2, image)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   # 키 이벤트(key event) 대기 - 무슨 키라도 눌러야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cv2.destroyAllWindows()   # 열린 모든 윈도우 파괴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7715250"/>
            <a:ext cx="7863840" cy="97726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7859268"/>
            <a:ext cx="7132320" cy="3322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행렬 만들기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8263547"/>
            <a:ext cx="7132320" cy="3055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np.zeros((200, 400))는 </a:t>
            </a:r>
            <a:r>
              <a:rPr sz="14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200행 400열</a:t>
            </a: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세로 200, 가로 400인 영상이다.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0032" y="7715250"/>
            <a:ext cx="7863840" cy="97726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765792" y="7859268"/>
            <a:ext cx="7132320" cy="3322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이동 기준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8263547"/>
            <a:ext cx="7132320" cy="3055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moveWindow의 (150, 150)은 </a:t>
            </a:r>
            <a:r>
              <a:rPr sz="14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모니터 좌상단에서 잰 창의 좌상단</a:t>
            </a: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위치다.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AUTOSIZE로 만든 창은 마우스로 크기를 바꿀 수 없다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예제 4.1.1 · 강의 슬라이드 5~6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AUTOSIZE와 NORMAL — 창만 커지나, 영상도 커지나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47320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4.1.2 — 02.window_resize.py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40119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np.zeros((200, 300), np.uint8)       # ndarray 행렬 생성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image.fill(255)                              # 모든 원소에 255(흰색) 지정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title1, title2 = 'AUTOSIZE', 'NORMAL'        # 윈도우 이름 변수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cv2.namedWindow(title1, cv2.WINDOW_AUTOSIZE) # 윈도우 생성 - 크기변경 불가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cv2.namedWindow(title2, cv2.WINDOW_NORMAL)   # 크기 변경 가능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cv2.imshow(title1, image)                    # 행렬 원소를 영상으로 표시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cv2.imshow(title2, image)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cv2.resizeWindow(title1, 400, 300)           # 윈도우 크기 변경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cv2.resizeWindow(title2, 400, 300)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                               # 키 이벤트(key event) 대기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cv2.destroyAllWindows()                      # 열린 모든 윈도우 제거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33888" y="2571750"/>
            <a:ext cx="6729984" cy="3086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h4_re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4664" y="2664333"/>
            <a:ext cx="5528432" cy="244830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533888" y="5205222"/>
            <a:ext cx="672998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789920" y="5205222"/>
            <a:ext cx="621792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p.96 예제 4.1.2 실행결과 — 인용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33888" y="5863590"/>
            <a:ext cx="6729984" cy="282892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899648" y="6059043"/>
            <a:ext cx="59984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차이는 하나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99648" y="6686550"/>
            <a:ext cx="5998464" cy="18825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AUTOSIZE는 </a:t>
            </a:r>
            <a:r>
              <a:rPr sz="21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행렬 크기 그대로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남는 자리는 회색.</a:t>
            </a: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NORMAL은 영상이 </a:t>
            </a:r>
            <a:r>
              <a:rPr sz="21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창 크기에 맞춰 늘어나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보인다. 행렬 자체는 그대로다.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7509510"/>
            <a:ext cx="9144000" cy="118300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89888" y="7653528"/>
            <a:ext cx="8412480" cy="4022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순서 주의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8127758"/>
            <a:ext cx="8412480" cy="441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행렬 생성은 (행, 열) = (세로, 가로),</a:t>
            </a:r>
          </a:p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resizeWindow는 (width, height) = (가로, 세로). </a:t>
            </a:r>
            <a:r>
              <a:rPr sz="13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거꾸로다.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p.95~96 · 강의 슬라이드 7~8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이벤트와 콜백 — 시스템이 내 함수를 불러 준다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118300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15768"/>
            <a:ext cx="15508224" cy="4022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콜백(callback) 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189998"/>
            <a:ext cx="15508224" cy="441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내가 시스템 함수를 직접 부르는 것이 아니라, </a:t>
            </a:r>
            <a:r>
              <a:rPr sz="20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이벤트가 발생했을 때 시스템이 내가 등록해 둔 함수를 부른다.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4063365"/>
            <a:ext cx="7863840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43584" y="4063365"/>
            <a:ext cx="160568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이벤트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8182" y="4063365"/>
            <a:ext cx="538032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OpenCV의 처리 방법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536567"/>
            <a:ext cx="7863840" cy="59664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80160" y="4536567"/>
            <a:ext cx="1532534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키보드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4758" y="4536567"/>
            <a:ext cx="5307177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콜백이 아니라 cv2.waitKey() / waitKeyEx()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133213"/>
            <a:ext cx="1532534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마우스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4758" y="5133213"/>
            <a:ext cx="5307177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cv2.setMouseCallback()으로 콜백 등록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5729859"/>
            <a:ext cx="7863840" cy="59664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5729859"/>
            <a:ext cx="1532534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트랙바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4758" y="5729859"/>
            <a:ext cx="5307177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cv2.createTrackbar()로 콜백 등록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36608" y="4063365"/>
            <a:ext cx="782726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56064" y="4063365"/>
            <a:ext cx="222235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waitKey의 두 모드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17333" y="4063365"/>
            <a:ext cx="472708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동작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36608" y="4536567"/>
            <a:ext cx="7827264" cy="59664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92640" y="4536567"/>
            <a:ext cx="2149205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delay ≤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53909" y="4536567"/>
            <a:ext cx="4653930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키를 누를 때까지 무한 대기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5133213"/>
            <a:ext cx="2149205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delay &gt;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53909" y="5133213"/>
            <a:ext cx="4653930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delay(ms)만큼 기다리고, 없으면 -1 반환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36608" y="5729859"/>
            <a:ext cx="7827264" cy="59664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692640" y="5729859"/>
            <a:ext cx="2149205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waitKeyEx()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53909" y="5729859"/>
            <a:ext cx="4653930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전체 키 코드 반환 — 화살표 키까지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" y="6480810"/>
            <a:ext cx="16239744" cy="452628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43584" y="6480810"/>
            <a:ext cx="3133831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6327" y="6480810"/>
            <a:ext cx="670657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코드 얻는 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961815" y="6480810"/>
            <a:ext cx="5082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" y="6933438"/>
            <a:ext cx="16239744" cy="432054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280160" y="6933438"/>
            <a:ext cx="3060679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문자 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52903" y="6933438"/>
            <a:ext cx="6633423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ord('a'), ord('b') — 문자를 아스키코드로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998391" y="6933438"/>
            <a:ext cx="500944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97, 98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7365492"/>
            <a:ext cx="3060679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16진수로 써도 된다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52903" y="7365492"/>
            <a:ext cx="6633423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0x41,  int('0x42', 16)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998391" y="7365492"/>
            <a:ext cx="500944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65(A), 66(B)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4128" y="7797546"/>
            <a:ext cx="16239744" cy="432054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280160" y="7797546"/>
            <a:ext cx="3060679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화살표 ← ↑ → 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52903" y="7797546"/>
            <a:ext cx="6633423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waitKeyEx()가 주는 전체 코드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998391" y="7797546"/>
            <a:ext cx="500944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2424832 / 2490368 / 2555904 / 2621440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" y="8229600"/>
            <a:ext cx="3060679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ESC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2903" y="8229600"/>
            <a:ext cx="6633423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종료 조건으로 자주 쓴다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998391" y="8229600"/>
            <a:ext cx="500944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p.96~98 · 강의 슬라이드 9~11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4.2.1 — 사전으로 키 코드를 이름으로 바꾸기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53492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03.event_key.py (1) 사전으로 switch-case 만들기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242048" cy="46291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switch case문을 사전(dictionary)으로 구현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switch_case = {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ord('a'): "a키 입력",           # ord() 함수: 문자 → 아스키코드 변환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ord('b'): "b키 입력",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0x41: "A키 입력",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int('0x42', 16): "B키 입력",    # 0x42(16진수) → 10진수 변환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2424832: "왼쪽 화살표키 입력",    # 0x250000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2490368: "윗쪽 화살표키 입력",    # 0x260000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2555904: "오른쪽 화살표키 입력",   # 0x270000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2621440: "아래쪽 화살표키 입력"    # 0x280000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2571750"/>
            <a:ext cx="7827264" cy="53492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02368" y="2674620"/>
            <a:ext cx="70957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03.event_key.py (2) 키 대기 반복문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38944" y="3168396"/>
            <a:ext cx="7022592" cy="46291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np.ones((200, 300), np.float32)   # 원소값 1인 행렬 생성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cv2.namedWindow('Keyboard Event')         # 윈도우 이름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cv2.imshow("Keyboard Event", image)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while True:                               # 무한 반복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key = cv2.waitKeyEx(100)              # 100ms 동안 키 이벤트 대기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key == 27: break                   # ESC 키 누르면 종료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try: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result = switch_case[key]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print(result)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except KeyError: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result = -1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cv2.destroyAllWindows()                   # 열린 모든 윈도우 제거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8126730"/>
            <a:ext cx="16239744" cy="5657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426464" y="8126730"/>
            <a:ext cx="15435071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키 이벤트는 그 창을 클릭해 활성화한 뒤에만 발생한다 — 사전에 없는 키는 KeyError라서 try~except가 필요하다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실수(float32) 행렬은 0~1이 검정~흰색으로 표시된다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p.97~99 · 강의 슬라이드 11~13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마우스 이벤트 — 콜백 하나에 상수 열두 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6949440" cy="452628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4981651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이벤트 상수 (표 4.2.1)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4147" y="2571750"/>
            <a:ext cx="1089964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24378"/>
            <a:ext cx="6949440" cy="45262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24378"/>
            <a:ext cx="490849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cv2.EVENT_MOUSEMOVE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0723" y="3024378"/>
            <a:ext cx="10168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77006"/>
            <a:ext cx="490849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cv2.EVENT_LBUTTONDOWN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0723" y="3477006"/>
            <a:ext cx="10168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3929634"/>
            <a:ext cx="6949440" cy="45262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3929634"/>
            <a:ext cx="490849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cv2.EVENT_RBUTTONDOWN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0723" y="3929634"/>
            <a:ext cx="10168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382262"/>
            <a:ext cx="490849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cv2.EVENT_MBUTTONDOWN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0723" y="4382262"/>
            <a:ext cx="10168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4834890"/>
            <a:ext cx="6949440" cy="45262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4834890"/>
            <a:ext cx="490849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cv2.EVENT_LBUTTONUP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0723" y="4834890"/>
            <a:ext cx="10168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287518"/>
            <a:ext cx="490849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cv2.EVENT_RBUTTONUP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0723" y="5287518"/>
            <a:ext cx="10168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5740146"/>
            <a:ext cx="6949440" cy="45262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80160" y="5740146"/>
            <a:ext cx="490849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cv2.EVENT_MBUTTONUP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0723" y="5740146"/>
            <a:ext cx="10168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6192774"/>
            <a:ext cx="490849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cv2.EVENT_LBUTTONDBLCLK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0723" y="6192774"/>
            <a:ext cx="10168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6645402"/>
            <a:ext cx="6949440" cy="45262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80160" y="6645402"/>
            <a:ext cx="490849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cv2.EVENT_RBUTTONDBLCLK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0723" y="6645402"/>
            <a:ext cx="10168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7098030"/>
            <a:ext cx="490849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cv2.EVENT_MBUTTONDBLCLK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0723" y="7098030"/>
            <a:ext cx="10168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" y="7550658"/>
            <a:ext cx="6949440" cy="45262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80160" y="7550658"/>
            <a:ext cx="490849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cv2.EVENT_MOUSEWHEEL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0723" y="7550658"/>
            <a:ext cx="10168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8003286"/>
            <a:ext cx="490849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cv2.EVENT_MOUSEHWHEEL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00723" y="8003286"/>
            <a:ext cx="10168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0" y="2571750"/>
            <a:ext cx="8851392" cy="18516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778240" y="2767203"/>
            <a:ext cx="81198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콜백 등록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394710"/>
            <a:ext cx="8119872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cv2.setMouseCallback(winname, onMouse, param=None) — 이벤트를 확인할 창 이름과 콜백 함수 이름을 넘긴다. 등록한 창에서만 이벤트가 잡힌다.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4680585"/>
            <a:ext cx="8851392" cy="185166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778240" y="4876038"/>
            <a:ext cx="81198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콜백 구현부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5503545"/>
            <a:ext cx="8119872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onMouse(event, x, y, flags, param) — 이름은 바꿔도 되지만 </a:t>
            </a:r>
            <a:r>
              <a:rPr sz="21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인수 다섯 개의 순서와 개수는 지켜야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한다.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0" y="6789420"/>
            <a:ext cx="8851392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631936" y="6789420"/>
            <a:ext cx="593409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flags — 같이 누른 특수키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04938" y="6789420"/>
            <a:ext cx="203947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7262622"/>
            <a:ext cx="8851392" cy="57607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668512" y="7262622"/>
            <a:ext cx="586093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EVENT_FLAG_LBUTTON / RBUTTON / MBUTTON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041514" y="7262622"/>
            <a:ext cx="1966325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 / 2 /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68512" y="7838693"/>
            <a:ext cx="586093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EVENT_FLAG_CTRLKEY / SHIFTKEY / ALTKEY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41514" y="7838693"/>
            <a:ext cx="1966325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 / 16 / 32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더블클릭 전에 버튼 누르기 이벤트가 먼저 발생한다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p.100 · 강의 슬라이드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4.2.2 — 콜백을 등록한 창에서만 반응한다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실습 04.event_mouse.py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onMouse(event, x, y, flags, param):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event == cv2.EVENT_LBUTTONDOWN: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print("마우스 왼쪽 버튼 누르기")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elif event == cv2.EVENT_RBUTTONDOWN: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print("마우스 오른쪽 버튼 누르기")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elif event == cv2.EVENT_RBUTTONUP: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print("마우스 오른쪽 버튼 떼기")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elif event == cv2.EVENT_LBUTTONDBLCLK: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print("마우스 왼쪽 버튼 더블클릭")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np.full((200, 300), 255, np.uint8)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title1, title2 = "Mouse Event1", "Mouse Event2"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cv2.imshow(title1, image)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cv2.imshow(title2, image)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cv2.setMouseCallback(title1, onMouse)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cv2.destroyAllWindows()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33888" y="2571750"/>
            <a:ext cx="6729984" cy="308610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533888" y="2571750"/>
            <a:ext cx="91440" cy="308610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899648" y="2674620"/>
            <a:ext cx="599846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36224" y="3024378"/>
            <a:ext cx="5925312" cy="25100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마우스 왼쪽 버튼 누르기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마우스 오른쪽 버튼 누르기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마우스 오른쪽 버튼 떼기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마우스 왼쪽 버튼 누르기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마우스 왼쪽 버튼 더블클릭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33888" y="5863590"/>
            <a:ext cx="6729984" cy="282892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899648" y="6059043"/>
            <a:ext cx="59984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창 두 개를 띄운 이유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99648" y="6686550"/>
            <a:ext cx="5998464" cy="18825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콜백을 title1에만 등록했다. </a:t>
            </a:r>
            <a:r>
              <a:rPr sz="25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Mouse Event1 창에서만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이벤트가 찍히는 것을 눈으로 확인하려는 것이다.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p.101~102 · 강의 슬라이드 15~16 · 실습 04.event_mouse.py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트랙바 — 슬라이더 하나에 인수 다섯 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59536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4_track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060" y="2664333"/>
            <a:ext cx="5307495" cy="18310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4588002"/>
            <a:ext cx="859536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4588002"/>
            <a:ext cx="808329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4.2.1 트랙바의 구조 — 인용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5297805"/>
            <a:ext cx="8595360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43584" y="5297805"/>
            <a:ext cx="28273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createTrackbar 인수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9820" y="5297805"/>
            <a:ext cx="4890211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5771007"/>
            <a:ext cx="8595360" cy="57607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80160" y="5771007"/>
            <a:ext cx="275417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trackbarname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6396" y="5771007"/>
            <a:ext cx="481705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트랙바 이름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6347079"/>
            <a:ext cx="275417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winname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6396" y="6347079"/>
            <a:ext cx="481705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트랙바를 붙일 부모 창 이름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6923151"/>
            <a:ext cx="8595360" cy="57607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80160" y="6923151"/>
            <a:ext cx="275417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6396" y="6923151"/>
            <a:ext cx="481705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슬라이더의 시작 위치값(정수)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7499223"/>
            <a:ext cx="275417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6396" y="7499223"/>
            <a:ext cx="481705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최댓값 — 최솟값은 항상 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" y="8075295"/>
            <a:ext cx="8595360" cy="57607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80160" y="8075295"/>
            <a:ext cx="275417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onChange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6396" y="8075295"/>
            <a:ext cx="481705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값이 바뀔 때 호출될 콜백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68128" y="2571750"/>
            <a:ext cx="709574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387584" y="2571750"/>
            <a:ext cx="282513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함수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51626" y="2571750"/>
            <a:ext cx="339278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하는 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68128" y="3044952"/>
            <a:ext cx="7095744" cy="76123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424160" y="3044952"/>
            <a:ext cx="275197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cv2.createTrackbar(...)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88202" y="3044952"/>
            <a:ext cx="331963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트랙바를 만들어 창에 붙인다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3806190"/>
            <a:ext cx="275197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onChange(pos)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688202" y="3806190"/>
            <a:ext cx="331963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위치가 바뀔 때마다 호출되는 콜백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68128" y="4567428"/>
            <a:ext cx="7095744" cy="76123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424160" y="4567428"/>
            <a:ext cx="275197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cv2.getTrackbarPos()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688202" y="4567428"/>
            <a:ext cx="331963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현재 슬라이더 위치를 읽는다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5328666"/>
            <a:ext cx="275197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cv2.setTrackbarPos()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688202" y="5328666"/>
            <a:ext cx="331963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슬라이더 위치를 지정한다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68128" y="6172200"/>
            <a:ext cx="7095744" cy="252031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533888" y="6367653"/>
            <a:ext cx="6364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밝기 조절의 원리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33888" y="6995160"/>
            <a:ext cx="6364224" cy="1573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ndarray에 스칼라를 더하면 </a:t>
            </a:r>
            <a:r>
              <a:rPr sz="24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모든 원소에 더해진다.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트랙바 값을 행렬에 더하는 것이 곧 밝기 조절이다.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p.102~103 · 강의 슬라이드 17~18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4.2.3 — 트랙바로 영상 밝기 조절하기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3492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1550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실습 05.event_trackbar.py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15435071" cy="46291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onChange(value):   # 트랙바 콜백 함수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global image, title   #전역 변수 참조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add_value = value - int(image[0][0])   # 트랙바 값과 영상 화소값 치분 / # int로 하면 정수, float로 하면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print("추가 화소값:", add_value)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image[:] = image + add_value   # 행렬과 스칼라 덧셈 수행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cv2.imshow(title, image)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np.zeros((300, 500), np.uint8)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title = 'Trackbar Event'   # 영상 생성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cv2.imshow(title, image)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cv2.createTrackbar('Brightness', title, image[0][0], 255, onChange)   # 트랙바 콜백 함수 등록 -&gt; image[0][0]: 현재값 / 255: 최대값 / onChange: 콜백함수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cv2.destroyAllWindows()   # 열린 모든 윈도우 제거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8075295"/>
            <a:ext cx="1623974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트랙바 값을 그대로 쓰지 않고 </a:t>
            </a:r>
            <a:r>
              <a:rPr sz="18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현재 화소값과의 차이</a:t>
            </a:r>
            <a:r>
              <a:rPr sz="18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를 더한다   ·   콜백에서 전역 image·title을 바꿔 쓰므로 </a:t>
            </a:r>
            <a:r>
              <a:rPr sz="18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global</a:t>
            </a:r>
            <a:r>
              <a:rPr sz="18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필요하다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p.104~105 · 강의 슬라이드 19~20 · 실습 05.event_trackbar.py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수업 강조 — 슬라이더를 내리면 OverflowError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15430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실습 파일에 적어 둔 수업 메모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8229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위 코드 까지 하면, 트랙바를 255까지 옮기고 다시 왼쪽으로 옮기면 오류가 난다. 왜그렇지?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해결책 1) int(정수)만 하는게 아니라 float(실수)로 바꾸면 음수값도 된다.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해결책 2) int(정수) 그대로 쓰려면, 11번 행에 if문을 넣어보면 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4371975"/>
            <a:ext cx="9509760" cy="144018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4371975"/>
            <a:ext cx="91440" cy="144018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4474845"/>
            <a:ext cx="877824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NumPy 2.x에서 실제로 나는 오류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4824603"/>
            <a:ext cx="8705088" cy="8641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OverflowError: Python integer -1 out of bounds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          for uint8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069330"/>
            <a:ext cx="9509760" cy="26231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426464" y="6244209"/>
            <a:ext cx="870508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6707124"/>
            <a:ext cx="8705088" cy="18413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슬라이더를 내리면 add_value가 </a:t>
            </a:r>
            <a:r>
              <a:rPr sz="21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음수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가 된다. uint8 행렬에 음수 파이썬 정수를 더하면 범위를 벗어나 오류가 난다(NumPy 2.x). 올릴 때는 멀쩡하다가 내리는 순간 터지는 이유다.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99648" y="2571750"/>
            <a:ext cx="6364224" cy="27774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265408" y="2767203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해결책 1 — 실수로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65408" y="3394710"/>
            <a:ext cx="5632704" cy="18310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int(image[0][0]) 대신 </a:t>
            </a:r>
            <a:r>
              <a:rPr sz="23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float(...)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로 받으면 음수도 실수 연산으로 처리돼 오류가 나지 않는다.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99648" y="5606415"/>
            <a:ext cx="6364224" cy="308610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265408" y="5801868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해결책 2 — if로 막기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65408" y="6429375"/>
            <a:ext cx="5632704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정수를 그대로 쓰려면 더하는 줄 앞에 </a:t>
            </a:r>
            <a:r>
              <a:rPr sz="26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if 문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을 넣어 범위를 벗어나는 값을 걸러 낸다.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시험 포인트 — '왜 255까지 올렸다가 내리면 오류가 나는가'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실습 05.event_trackbar.py 주석 · 교재 p.104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심화예제 4.2.4 — 마우스와 트랙바를 같이 쓰기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504063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실습 06.event_mouse_trackbar.py 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242048" cy="43205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onChange(value):   # 트랙바 콜백 함수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global image, title, bar_name, add_value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add_value = value - int(image[0][0])  # 트랙바와 화소값 차이 계산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image[:] = value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cv2.imshow(title, image)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onMouse(event, x, y, flags, param):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global image, bar_name, add_value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event == cv2.EVENT_RBUTTONDOWN: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image[0][0] &lt; 246: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image[:] = image + 10  # 우클릭 시 10 증가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cv2.setTrackbarPos(bar_name, title, image[0][0])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cv2.imshow(title, image)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2571750"/>
            <a:ext cx="7827264" cy="504063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02368" y="2674620"/>
            <a:ext cx="70957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(2) 좌클릭 -10, 우클릭 +10 · 트랙바 위치 동기화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38944" y="3168396"/>
            <a:ext cx="7022592" cy="43205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elif event == cv2.EVENT_LBUTTONDOWN: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image[0][0] &gt;= 10: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image[:] = image - 10  # 좌클릭 시 10 감소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cv2.setTrackbarPos(bar_name, title, image[0][0])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cv2.imshow(title, image)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np.zeros((300, 500), np.uint8)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title = "Trackbar &amp; Mouse Event"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bar_name = 'Brightness'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add_value = 10  # 전역 변수 초기화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cv2.imshow(title, image)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cv2.createTrackbar(bar_name, title, image[0][0], 255, onChange)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cv2.setMouseCallback(title, onMouse)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cv2.destroyAllWindows()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7818120"/>
            <a:ext cx="16239744" cy="87439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89888" y="7962138"/>
            <a:ext cx="15508224" cy="2972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포인트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8331441"/>
            <a:ext cx="15508224" cy="2376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마우스로 화소값을 바꾼 뒤 </a:t>
            </a:r>
            <a:r>
              <a:rPr sz="13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setTrackbarPos()로 슬라이더도 같이 옮겨</a:t>
            </a: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준다. 246 미만일 때만 +10, 10 이상일 때만 -10 — 이 조건이 uint8 범위를 지키는 장치다.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p.105~107 · 강의 슬라이드 21~23 · 실습 06.event_mouse_trackbar.py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그리기 전에 — 좌표는 (x, y), 행렬은 (행, 열)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46291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4_co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326" y="2664333"/>
            <a:ext cx="6842324" cy="39913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748272"/>
            <a:ext cx="804672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748272"/>
            <a:ext cx="753465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영상 좌표계와 각도 기준 — 직접 제작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2571750"/>
            <a:ext cx="782726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56064" y="2571750"/>
            <a:ext cx="425744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직선·사각형 함수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2422" y="2571750"/>
            <a:ext cx="269199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인수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3044952"/>
            <a:ext cx="7827264" cy="82296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0" y="3044952"/>
            <a:ext cx="418429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cv2.line(img, pt1, pt2, color[, thickness[, lineType[, shift]]])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88998" y="3044952"/>
            <a:ext cx="2618841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pt1에서 pt2를 잇는 직선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867912"/>
            <a:ext cx="418429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cv2.rectangle(img, pt1, pt2, color[, ...])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88998" y="3867912"/>
            <a:ext cx="2618841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두 좌표로 사각형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6608" y="4690872"/>
            <a:ext cx="7827264" cy="82296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92640" y="4690872"/>
            <a:ext cx="418429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cv2.rectangle(img, rec, color[, ...])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88998" y="4690872"/>
            <a:ext cx="2618841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(x, y, w, h) 4원소 튜플로 사각형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36608" y="5554980"/>
            <a:ext cx="7827264" cy="452628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56064" y="5554980"/>
            <a:ext cx="284853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lineType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43514" y="5554980"/>
            <a:ext cx="656904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39331" y="5554980"/>
            <a:ext cx="3005084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36608" y="6007608"/>
            <a:ext cx="7827264" cy="534924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0" y="6007608"/>
            <a:ext cx="277538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cv2.LINE_4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0090" y="6007608"/>
            <a:ext cx="583752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75907" y="6007608"/>
            <a:ext cx="2931932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4-방향 연결선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6542532"/>
            <a:ext cx="277538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cv2.LINE_8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0090" y="6542532"/>
            <a:ext cx="583752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075907" y="6542532"/>
            <a:ext cx="2931932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8-방향 연결선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36608" y="7077456"/>
            <a:ext cx="7827264" cy="534924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692640" y="7077456"/>
            <a:ext cx="277538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cv2.LINE_AA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0090" y="7077456"/>
            <a:ext cx="583752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075907" y="7077456"/>
            <a:ext cx="2931932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계단 현상을 줄인 선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4128" y="7406640"/>
            <a:ext cx="8046720" cy="128587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389888" y="7550658"/>
            <a:ext cx="7315200" cy="4371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두께가 -1이면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89888" y="8059864"/>
            <a:ext cx="7315200" cy="509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thickness에 -1(cv2.FILLED)을 주면 도형 </a:t>
            </a:r>
            <a:r>
              <a:rPr sz="18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내부를 채운다.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36608" y="7818120"/>
            <a:ext cx="7827264" cy="87439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802368" y="7962138"/>
            <a:ext cx="7095744" cy="2972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색상은 BGR 튜플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02368" y="8331441"/>
            <a:ext cx="7095744" cy="2376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파랑 (255,0,0) · 녹색 (0,255,0) · 빨강 (0,0,255)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p.107~108 · 강의 슬라이드 24~25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4.3.1 — 직선 두 개, 사각형 세 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1550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실습 07.draw_line_rect.py   —   roi(50, 200, 200, 100)은 시작점 (50, 200)에서 가로 200 · 세로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15435071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blue, green, red = (255, 0, 0), (0, 255, 0), (0, 0, 255)  # 색상 선언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np.zeros((400, 600, 3), np.uint8)     # 3채널 컬러 영상 생성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image[:] = (255, 255, 255)       # 3채널 흰색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pt1, pt2 = (50, 50), (250, 150)   # 좌표 선언 - 정수형 튜플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pt3, pt4 = (400, 150), (500, 50)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roi = (50, 200, 200, 100)   # 사각형 영역 - 4원소 튜플 / Region of Interest의 약자로, 우리말로 번역하면 '관심 영역'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직선 그리기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cv2.line(image, pt1, pt2, red)   # image라는 도화지 위에, pt1부터 pt2까지 red로 선을 그을거다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cv2.line(image, pt3, pt4, green, 3, cv2.LINE_AA)  #image라는 도화지 위에, pt3부터 pt4까지 green 선을 그을건데, 두께는 3이다 / # 계단 현상 감소선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사각형 그리기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cv2.rectangle(image, pt1, pt2, blue, 3, cv2.LINE_4)       # 4방향 연결선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cv2.rectangle(image, roi, red, 3, cv2.LINE_8)             # 8방향 연결선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cv2.rectangle(image, (400, 200, 100, 100), green, cv2.FILLED)  # 내부 채움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cv2.imshow("Line &amp; Rectangle", image)                     # 윈도우에 영상 표시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cv2.destroyAllWindows()                                    # 모든 열린 윈도우 닫기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두께를 주지 않으면 1화소, cv2.FILLED면 내부를 채운다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p.108~110 · 강의 슬라이드 26~27 · 실습 07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글자 쓰기 — 기준점은 글자의 왼쪽 아래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229600" cy="236601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4_put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029" y="2664333"/>
            <a:ext cx="4005798" cy="172821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4485132"/>
            <a:ext cx="822960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4485132"/>
            <a:ext cx="77175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4.3.2 putText 사용 예 — 인용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5194935"/>
            <a:ext cx="8229600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43584" y="5194935"/>
            <a:ext cx="301752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putText 인수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5194935"/>
            <a:ext cx="433425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5668137"/>
            <a:ext cx="8229600" cy="565785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80160" y="5668137"/>
            <a:ext cx="2944367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img,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5668137"/>
            <a:ext cx="4261103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그릴 대상 행렬과 문자열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6233922"/>
            <a:ext cx="2944367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6233922"/>
            <a:ext cx="4261103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문자열의 시작 좌표 — 왼쪽 아래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6799707"/>
            <a:ext cx="8229600" cy="565785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80160" y="6799707"/>
            <a:ext cx="2944367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fontFace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6799707"/>
            <a:ext cx="4261103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폰트 상수 (표 4.3.1)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7365492"/>
            <a:ext cx="2944367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fontScale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7365492"/>
            <a:ext cx="4261103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글자 크기 확대 비율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" y="7931277"/>
            <a:ext cx="8229600" cy="565785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80160" y="7931277"/>
            <a:ext cx="2944367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color, thickness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7931277"/>
            <a:ext cx="4261103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색상과 굵기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02368" y="2571750"/>
            <a:ext cx="7461504" cy="452628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021824" y="2571750"/>
            <a:ext cx="344107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fontFace (표 4.3.1) — cv2.FONT_HERSHEY_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901806" y="2571750"/>
            <a:ext cx="60569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46416" y="2571750"/>
            <a:ext cx="209799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모양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02368" y="3024378"/>
            <a:ext cx="7461504" cy="47320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058400" y="3024378"/>
            <a:ext cx="336791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SIMPLEX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938382" y="3024378"/>
            <a:ext cx="53254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982992" y="3024378"/>
            <a:ext cx="20248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중간 산세리프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497580"/>
            <a:ext cx="336791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PLAIN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938382" y="3497580"/>
            <a:ext cx="53254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82992" y="3497580"/>
            <a:ext cx="20248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작은 산세리프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02368" y="3970781"/>
            <a:ext cx="7461504" cy="47320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058400" y="3970781"/>
            <a:ext cx="336791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DUPLEX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938382" y="3970781"/>
            <a:ext cx="53254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982992" y="3970781"/>
            <a:ext cx="20248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2줄 산세리프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4443983"/>
            <a:ext cx="336791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COMPLEX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938382" y="4443983"/>
            <a:ext cx="53254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982992" y="4443983"/>
            <a:ext cx="20248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중간 세리프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02368" y="4917186"/>
            <a:ext cx="7461504" cy="47320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058400" y="4917186"/>
            <a:ext cx="336791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TRIPLEX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938382" y="4917186"/>
            <a:ext cx="53254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982992" y="4917186"/>
            <a:ext cx="20248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3줄 세리프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5390388"/>
            <a:ext cx="336791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COMPLEX_SMALL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938382" y="5390388"/>
            <a:ext cx="53254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982992" y="5390388"/>
            <a:ext cx="20248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COMPLEX보다 작게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02368" y="5863590"/>
            <a:ext cx="7461504" cy="47320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0058400" y="5863590"/>
            <a:ext cx="336791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SCRIPT_SIMPLEX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938382" y="5863590"/>
            <a:ext cx="53254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982992" y="5863590"/>
            <a:ext cx="20248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필기체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6336792"/>
            <a:ext cx="336791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SCRIPT_COMPLEX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938382" y="6336792"/>
            <a:ext cx="53254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982992" y="6336792"/>
            <a:ext cx="20248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복잡한 필기체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802368" y="6809993"/>
            <a:ext cx="7461504" cy="47320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0058400" y="6809993"/>
            <a:ext cx="336791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cv2.FONT_ITALIC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938382" y="6809993"/>
            <a:ext cx="53254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982992" y="6809993"/>
            <a:ext cx="20248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기울임 플래그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802368" y="7355205"/>
            <a:ext cx="7461504" cy="133731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0168128" y="7499223"/>
            <a:ext cx="6729984" cy="4546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세리프 · 산세리프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68128" y="8025917"/>
            <a:ext cx="6729984" cy="5431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세리프는 획 끝에 장식이 있는 명조 계열, 산세리프는 장식이 없는 고딕 계열이다.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p.110~111 · 강의 슬라이드 28~30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4.3.2 — 폰트 상수를 OR로 묶어 쓰기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46291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4.3.2 — 08.put_text.py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39090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olive, violet, brown = (128, 128, 0), (221, 160, 221), (42, 42, 165)   # 색상 지정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pt1, pt2 =  (50, 230), (50, 310)                    # 문자열 위치 좌표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np.zeros((350, 500, 3), np.uint8)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image.fill(255)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cv2.putText(image, 'SIMPLEX', (50, 50), cv2.FONT_HERSHEY_SIMPLEX, 2, brown)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cv2.putText(image, 'DUPLEX', (50, 130), cv2.FONT_HERSHEY_DUPLEX, 3, olive)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cv2.putText(image, 'TRIPLEX', pt1, cv2.FONT_HERSHEY_TRIPLEX, 2, violet)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fontFace = cv2.FONT_HERSHEY_PLAIN | cv2.FONT_ITALIC  # 글자체 상수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cv2.putText(image, 'ITALIC', pt2, fontFace, 4, violet)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cv2.imshow('Put Text', image)                       # 윈도우 이름 지정 및 영상 표시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                                      # 키이벤트 대기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48288" y="2571750"/>
            <a:ext cx="5815584" cy="21602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814048" y="2767203"/>
            <a:ext cx="50840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기울임 만들기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4048" y="3394710"/>
            <a:ext cx="5084064" cy="12138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FONT_ITALIC(16)은 </a:t>
            </a:r>
            <a:r>
              <a:rPr sz="21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플래그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라서 `|`로 다른 폰트 상수와 묶어 쓴다.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48288" y="4989195"/>
            <a:ext cx="5815584" cy="221170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814048" y="5184648"/>
            <a:ext cx="50840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확대 비율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14048" y="5812155"/>
            <a:ext cx="5084064" cy="12653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fontScale 2는 기본 크기의 2배. 폰트마다 기본 크기가 다르다.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7458075"/>
            <a:ext cx="16239744" cy="123444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89888" y="7602093"/>
            <a:ext cx="15508224" cy="419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실행 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8093811"/>
            <a:ext cx="15508224" cy="475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위에서부터 SIMPLEX(갈색) · DUPLEX(올리브) · TRIPLEX(보라) · ITALIC(보라 기울임) 네 줄이 찍힌다.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p.112의 주석 '글차체'는 오타 — 글자체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p.112~113 · 강의 슬라이드 31~32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4.3.3 — 원과 그림자 글자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133856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10607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실습 09.draw_circle.py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1053388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orange, blue, cyan = (0, 165, 255), (255, 0, 0), (255, 255, 0)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white, black = (255, 255, 255), (0, 0, 0)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np.full((300, 500, 3), white, np.uint8)          # 컬러 영상 생성 및 초기화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center = (image.shape[1]//2, image.shape[0]//2)          # 영상 중심 좌표 - 역순 구성 / 영상표현에서는 y(1), x(0) 순으로 입력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pt1, pt2 = (300, 50), (100, 220)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shade = (pt2[0] + 2, pt2[1] + 2)                         # 그림자 좌표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cv2.circle(image, center, 100, blue)                     # 원 그리기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cv2.circle(image, pt1, 50, orange, 2)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cv2.circle(image, pt2, 70, cyan, -1)                      # 원 내부 채움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font = cv2.FONT_HERSHEY_COMPLEX;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cv2.putText(image, 'center_blue', center, font, 1.0, blue)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cv2.putText(image, 'pt1_orange', pt1, font, 0.8, orange)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cv2.putText(image, 'pt2_cyan', shade, font, 1.2, black, 2)    # 그림자 효과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cv2.putText(image, 'pt2_cyan', pt2, font, 1.2, cyan, 1)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cv2.imshow("Draw circles", image)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cv2.destroyAllWindows()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728448" y="2571750"/>
            <a:ext cx="4535424" cy="612076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094208" y="2767203"/>
            <a:ext cx="38039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세 가지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94208" y="3394710"/>
            <a:ext cx="3803904" cy="5174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circle(img, center, radius, color, thickness) · thickness가 </a:t>
            </a:r>
            <a:r>
              <a:rPr sz="25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-1이면 내부를 채운다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· 같은 글자를 (+2, +2)에 검정으로 먼저 써서 그림자를 만든다.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center = (shape[1]//2, shape[0]//2) — 행렬은 (행, 열)이라 뒤집어 쓴다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p.113~115 · 강의 슬라이드 33~35 · 실습 09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타원 — 인수 일곱 개를 그림으로 읽기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6120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4_ellipse_ar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292" y="2664333"/>
            <a:ext cx="8071671" cy="548297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239887"/>
            <a:ext cx="914400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239887"/>
            <a:ext cx="86319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4.3.3 타원 그리기 함수의 인수 — 인용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33888" y="2571750"/>
            <a:ext cx="672998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753344" y="2571750"/>
            <a:ext cx="2387681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cv2.ellipse 인수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79937" y="2571750"/>
            <a:ext cx="346447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33888" y="3044952"/>
            <a:ext cx="6729984" cy="55549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789920" y="3044952"/>
            <a:ext cx="231452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img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16513" y="3044952"/>
            <a:ext cx="339132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그릴 대상 행렬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3600450"/>
            <a:ext cx="231452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16513" y="3600450"/>
            <a:ext cx="339132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타원의 중심 좌표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33888" y="4155948"/>
            <a:ext cx="6729984" cy="55549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789920" y="4155948"/>
            <a:ext cx="231452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axes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16513" y="4155948"/>
            <a:ext cx="339132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(x축 반지름, y축 반지름)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4711446"/>
            <a:ext cx="231452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angle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16513" y="4711446"/>
            <a:ext cx="339132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타원이 기울어진 각도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33888" y="5266944"/>
            <a:ext cx="6729984" cy="55549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789920" y="5266944"/>
            <a:ext cx="231452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startAngle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616513" y="5266944"/>
            <a:ext cx="339132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호의 시작 각도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5822442"/>
            <a:ext cx="231452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endAngle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16513" y="5822442"/>
            <a:ext cx="339132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호의 종료 각도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33888" y="6377940"/>
            <a:ext cx="6729984" cy="55549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789920" y="6377940"/>
            <a:ext cx="231452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color, thickness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616513" y="6377940"/>
            <a:ext cx="339132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색상과 두께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33888" y="6995160"/>
            <a:ext cx="6729984" cy="169735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899648" y="7190613"/>
            <a:ext cx="59984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각도 규칙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9648" y="7818120"/>
            <a:ext cx="5998464" cy="7509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0도는 </a:t>
            </a:r>
            <a:r>
              <a:rPr sz="17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3시 방향</a:t>
            </a: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시계 방향으로 증가(6시 90도, 9시 180도). axes는 지름이 아니라 </a:t>
            </a:r>
            <a:r>
              <a:rPr sz="17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반지름</a:t>
            </a: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시계 방향 호를 원하면 시작 각도를 (각도-360)으로 음수 지정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p.115~116 · 강의 슬라이드 36~40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4.3.4 — 타원 위에 호를 겹쳐 그리기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56578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4.3.4 — 10.draw_ellipse.py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4937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orange, blue, white = (0, 165, 255), (255, 0, 0), (255,255,255) # 색상 지정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np.full((300, 700, 3), white, np.uint8)      # 3채널 행렬 생성 및 초기화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pt1, pt2 = (180, 150), (550, 150)                    # 타원 중심점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size = (120, 60)                                     # 타원 크기 - 반지름 값임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cv2.circle(image, pt1, 1, 0, 2)                      # 타원의 중심점(2화소 원) 표시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cv2.circle(image, pt2, 1, 0, 2)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cv2.ellipse(image, pt1, size,  0, 0, 360, blue, 1)   # 타원 그리기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cv2.ellipse(image, pt2, size, 90, 0, 360, blue, 1)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cv2.ellipse(image, pt1, size,  0, 30, 270, orange, 4)  # 호 그리기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cv2.ellipse(image, pt2, size, 90, -45, 90, orange, 4)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cv2.imshow("문자열", image)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cv2.waitKey()                                        # 키입력 대기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33888" y="2571750"/>
            <a:ext cx="6729984" cy="318897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h4_ellipse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4603" y="2664333"/>
            <a:ext cx="4768553" cy="255117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533888" y="5308092"/>
            <a:ext cx="672998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789920" y="5308092"/>
            <a:ext cx="621792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p.118 예제 4.3.4 실행결과 — 인용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33888" y="5966460"/>
            <a:ext cx="6729984" cy="272605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899648" y="6161913"/>
            <a:ext cx="59984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두 타원의 차이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99648" y="6789420"/>
            <a:ext cx="5998464" cy="1779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왼쪽은 angle 0, 오른쪽은 angle 90. 같은 size(120, 60)인데 하나는 눕고 하나는 선다. 호는 각각 30~270도, -45~90도.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p.117~118 · 강의 슬라이드 41~42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심화예제 4.3.5 — 두 번 클릭해 사각형·원 그리기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실습 10.draw_eclipse&amp;Arc.py (1) 콜백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onMouse(event, x, y, flags, param):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global title, pt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event == cv2.EVENT_LBUTTONDOWN: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pt[0] &lt; 0: pt = (x, y)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else: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cv2.rectangle(image, pt, (x, y), (255, 0, 0), 2)   # 파란색 사각형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cv2.imshow(title, image)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pt = (-1, -1)   # 시작 좌표 초기화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elif event == cv2.EVENT_RBUTTONDOWN: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pt[0] &lt; 0: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pt = (x, y)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else: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dx, dy = pt[0] - x, pt[1] - y   # 두 좌표 간 간격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radius = int(np.sqrt(dx * dx + dy * dy))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cv2.circle(image, pt, radius, (0, 0, 255), 2)   # 빨간색 원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cv2.imshow(title, image)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pt = (-1, -1)   # 시작 좌표 초기화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99648" y="2571750"/>
            <a:ext cx="6364224" cy="24688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265408" y="2674620"/>
            <a:ext cx="56327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(2) 본문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01984" y="3168396"/>
            <a:ext cx="5559552" cy="17487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np.full((300, 500, 3), (255, 255, 255), np.uint8)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pt = (-1, -1)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title = "Draw Event"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cv2.imshow(title, image)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cv2.setMouseCallback(title, onMouse)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99648" y="5246370"/>
            <a:ext cx="6364224" cy="344614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265408" y="5441823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두 번 클릭 패턴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65408" y="6069330"/>
            <a:ext cx="5632704" cy="24997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pt를 (-1, -1)로 초기화해 두고, </a:t>
            </a:r>
            <a:r>
              <a:rPr sz="24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첫 클릭에 좌표를 저장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하고 </a:t>
            </a:r>
            <a:r>
              <a:rPr sz="24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두 번째 클릭에 그린 뒤 다시 초기화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한다. 반지름은 두 점 사이 거리다.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p.118~119 · 강의 슬라이드 43~44 · 실습 10.draw_eclipse&amp;Arc.py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심화예제 2 — 두 클릭이 지름이 되게 고치기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108013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15768"/>
            <a:ext cx="15508224" cy="36724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문제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155022"/>
            <a:ext cx="15508224" cy="373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앞 예제는 </a:t>
            </a:r>
            <a:r>
              <a:rPr sz="17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첫 클릭이 원의 중심</a:t>
            </a: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이었다. 두 클릭 지점이 원의 </a:t>
            </a:r>
            <a:r>
              <a:rPr sz="17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지름 양 끝</a:t>
            </a: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되도록 고치시오.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909060"/>
            <a:ext cx="10972800" cy="478345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4011930"/>
            <a:ext cx="10241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정답 — 오른쪽 버튼 처리 블록만 교체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4505706"/>
            <a:ext cx="10168128" cy="406336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elif event == cv2.EVENT_RBUTTONDOWN: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pt[0] &lt; 0: pt = (x, y)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else: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dx, dy = x-pt[0],  y-pt[1]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center = (pt[0]+dx//2, pt[1]+dy//2)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center = (pt[0] + x) // 2, (pt[1] + y) // 2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center = np.add(pt, (x,y))//2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radius = int(np.sqrt(dx * dx + dy * dy))//2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cv2.circle(image, center, radius, (0,0,255), 2)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cv2.imshow(title, image)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pt = (-1, -1)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62688" y="3909060"/>
            <a:ext cx="4901184" cy="226314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728448" y="4104513"/>
            <a:ext cx="41696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중심 = 두 점의 중점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28448" y="4732020"/>
            <a:ext cx="416966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같은 결과를 내는 세 가지 표현을 나란히 보여 준다.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62688" y="6377940"/>
            <a:ext cx="4901184" cy="231457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728448" y="6573393"/>
            <a:ext cx="41696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반지름 = 거리 ÷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28448" y="7200900"/>
            <a:ext cx="4169664" cy="1368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int(np.sqrt(dx*dx + dy*dy)) // 2 로 구한다. 앞 코드와 달리 dx, dy의 부호가 반대다.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강의 슬라이드 45~46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수업 퀴즈 — BGR을 RGB 순서로 바꾸면?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3086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4_bg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428" y="2664333"/>
            <a:ext cx="6995160" cy="244830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205222"/>
            <a:ext cx="950976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205222"/>
            <a:ext cx="899769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OpenCV 색상 튜플의 순서 — 직접 제작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99648" y="2571750"/>
            <a:ext cx="6364224" cy="308610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265408" y="2767203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65408" y="3394710"/>
            <a:ext cx="5632704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예제 4.3.1의 blue, green, red를 red, green, blue 순으로 바꿔 선언하면 화면은 어떻게 될까?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5966460"/>
            <a:ext cx="7863840" cy="272605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6161913"/>
            <a:ext cx="713232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답 ① OpenCV는 BGR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6789420"/>
            <a:ext cx="7132320" cy="1779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색상 튜플의 순서가 (B, G, R)이므로 이름만 바꾸면 </a:t>
            </a:r>
            <a:r>
              <a:rPr sz="23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파랑과 빨강이 뒤바뀐 영상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나온다. 그리기·imshow에는 반드시 BGR 순으로 넘긴다.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00032" y="5966460"/>
            <a:ext cx="7863840" cy="272605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65792" y="6161913"/>
            <a:ext cx="713232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답 ② matplotlib은 RGB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6789420"/>
            <a:ext cx="7132320" cy="1779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같은 행렬을 pyplot.imshow()에 그대로 넘기면 색이 반전돼 보인다. cv2.cvtColor(img, cv2.COLOR_BGR2RGB)로 바꿔서 넘겨야 한다.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시험 포인트 — 두 라이브러리의 채널 순서 차이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실습 07 주석 · 교재 p.108·148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영상파일 — 읽을 때 색 형식을 고른다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93776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540739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9891" y="2571750"/>
            <a:ext cx="508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하는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1404" y="2571750"/>
            <a:ext cx="4433011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주의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65526"/>
            <a:ext cx="16239744" cy="67894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65526"/>
            <a:ext cx="5334243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cv2.imread(filename[, flags])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6467" y="3065526"/>
            <a:ext cx="500944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영상파일을 읽어 행렬로 반환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47980" y="3065526"/>
            <a:ext cx="435985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실패하면 None — 예외처리 필수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44468"/>
            <a:ext cx="5334243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cv2.imwrite(filename, img[, params])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6467" y="3744468"/>
            <a:ext cx="500944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행렬을 영상파일로 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47980" y="3744468"/>
            <a:ext cx="435985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확장자가 파일 형식을 결정한다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526280"/>
            <a:ext cx="9509760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43584" y="4526280"/>
            <a:ext cx="393557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flags (표 4.4.1)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8073" y="4526280"/>
            <a:ext cx="70225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9244" y="4526280"/>
            <a:ext cx="355518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결과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4999482"/>
            <a:ext cx="9509760" cy="55549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80160" y="4999482"/>
            <a:ext cx="386242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cv2.IMREAD_UNCHANGED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54649" y="4999482"/>
            <a:ext cx="62910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-1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5820" y="4999482"/>
            <a:ext cx="348203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파일에 정의된 타입 그대로(알파 포함)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554980"/>
            <a:ext cx="386242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cv2.IMREAD_GRAYSCALE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54649" y="5554980"/>
            <a:ext cx="62910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5820" y="5554980"/>
            <a:ext cx="348203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명암도 1채널로 변환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" y="6110478"/>
            <a:ext cx="9509760" cy="55549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80160" y="6110478"/>
            <a:ext cx="386242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cv2.IMREAD_COLOR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54649" y="6110478"/>
            <a:ext cx="62910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5820" y="6110478"/>
            <a:ext cx="348203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컬러 3채널로 변환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6665976"/>
            <a:ext cx="386242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cv2.IMREAD_ANYDEPTH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4649" y="6665976"/>
            <a:ext cx="62910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95820" y="6665976"/>
            <a:ext cx="348203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16비트/32비트 깊이 유지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" y="7221474"/>
            <a:ext cx="9509760" cy="55549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280160" y="7221474"/>
            <a:ext cx="386242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cv2.IMREAD_ANYCOLOR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54649" y="7221474"/>
            <a:ext cx="62910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95820" y="7221474"/>
            <a:ext cx="348203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파일에 정의된 타입으로 반환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99648" y="4526280"/>
            <a:ext cx="6364224" cy="205740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1265408" y="4721733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읽은 결과 확인법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65408" y="5349240"/>
            <a:ext cx="5632704" cy="11109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image.dtype(깊이)와 image.ndim(3이면 3채널)으로 CV_8UC1 · CV_8UC3 같은 자료형을 알 수 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899648" y="6892290"/>
            <a:ext cx="6364224" cy="180022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1265408" y="7087743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16 · 32비트는 TIF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65408" y="7715250"/>
            <a:ext cx="5632704" cy="853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JPG는 16비트 이상을 지원하지 않는다. UNCHANGED로 읽으면 16비트는 uint16(0~65535), 32비트는 float32(0~1)다.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명암도 파일을 IMREAD_COLOR로 읽으면 세 채널 값이 같다 — [106 106 106]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p.120~126 · 강의 슬라이드 47~48·55~56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함수를 모듈로 빼기 — Common/utils.py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3840480" cy="133731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3840480" cy="102870"/>
          </a:xfrm>
          <a:prstGeom prst="rect">
            <a:avLst/>
          </a:prstGeom>
          <a:solidFill>
            <a:srgbClr val="8A3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16735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5" y="3209544"/>
            <a:ext cx="3255264" cy="5554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프로젝트 루트(source)에</a:t>
            </a:r>
          </a:p>
          <a:p>
            <a:pPr algn="ctr">
              <a:lnSpc>
                <a:spcPct val="135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'Common' 폴더를 만든다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301409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7216" y="2571750"/>
            <a:ext cx="3840480" cy="133731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157216" y="2571750"/>
            <a:ext cx="3840480" cy="102870"/>
          </a:xfrm>
          <a:prstGeom prst="rect">
            <a:avLst/>
          </a:prstGeom>
          <a:solidFill>
            <a:srgbClr val="8A3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49824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3209544"/>
            <a:ext cx="3255264" cy="5554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 안에 파이썬 파일</a:t>
            </a:r>
          </a:p>
          <a:p>
            <a:pPr algn="ctr">
              <a:lnSpc>
                <a:spcPct val="135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utils.py를 추가한다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301409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90304" y="2571750"/>
            <a:ext cx="3840480" cy="133731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290304" y="2571750"/>
            <a:ext cx="3840480" cy="102870"/>
          </a:xfrm>
          <a:prstGeom prst="rect">
            <a:avLst/>
          </a:prstGeom>
          <a:solidFill>
            <a:srgbClr val="8A3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582912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3209544"/>
            <a:ext cx="3255264" cy="5554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공통 함수(print_matInfo)를</a:t>
            </a:r>
          </a:p>
          <a:p>
            <a:pPr algn="ctr">
              <a:lnSpc>
                <a:spcPct val="135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옮겨 적는다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57632" y="301409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423392" y="2571750"/>
            <a:ext cx="3840480" cy="133731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3423392" y="2571750"/>
            <a:ext cx="3840480" cy="102870"/>
          </a:xfrm>
          <a:prstGeom prst="rect">
            <a:avLst/>
          </a:prstGeom>
          <a:solidFill>
            <a:srgbClr val="8A3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3716000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0" y="3209544"/>
            <a:ext cx="3255264" cy="5554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from Common.utils import</a:t>
            </a:r>
          </a:p>
          <a:p>
            <a:pPr algn="ctr">
              <a:lnSpc>
                <a:spcPct val="135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print_matInfo 로 가져다 쓴다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4166235"/>
            <a:ext cx="8595360" cy="45262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389888" y="4269105"/>
            <a:ext cx="7863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Common/utils.py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6464" y="4762881"/>
            <a:ext cx="7790688" cy="38061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cv2, time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print_matInfo(name, image):             # 행렬 정보 출력 함수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image.dtype == 'uint8':     mat_type = "CV_8U"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elif image.dtype == 'int8':    mat_type = "CV_8S"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elif image.dtype == 'uint16':  mat_type = "CV_16U"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elif image.dtype == 'int16':   mat_type = "CV_16S"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elif image.dtype == 'float32': mat_type = "CV_32F"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elif image.dtype == 'float64': mat_type = "CV_64F"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nchannel = 3 if image.ndim == 3 else 1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 depth, channel 출력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print("%12s: depth(%s), channels(%s) -&gt; mat_type(%sC%d)"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% (name, image.dtype, nchannel, mat_type,  nchannel))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85248" y="4166235"/>
            <a:ext cx="7278624" cy="26746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351008" y="4269105"/>
            <a:ext cx="65471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4.4.2 — 13.read_image2.py (앞부분)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87584" y="4762881"/>
            <a:ext cx="6473952" cy="19545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from Common.utils import print_matInfo        # 행렬 정보 출력 함수 임포트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title1, title2 = 'color2gray', 'color2color'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color2gray = cv2.imread("images/read_color.jpg", cv2.IMREAD_GRAYSCALE)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color2color = cv2.imread("images/read_color.jpg", cv2.IMREAD_COLOR)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color2gray is None or color2color is None: # 예외처리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raise Exception("영상파일 읽기 에러")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85248" y="7046595"/>
            <a:ext cx="7278624" cy="164592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985248" y="7046595"/>
            <a:ext cx="91440" cy="164592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351008" y="7149465"/>
            <a:ext cx="654710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87584" y="7499223"/>
            <a:ext cx="6473952" cy="10698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color2gray 137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color2color [197 145  98]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color2gray: depth(uint8), channels(1) -&gt; mat_type(CV_8UC1)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color2color: depth(uint8), channels(3) -&gt; mat_type(CV_8UC3)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루트에 두는 이유 — 다른 챕터 소스에서도 같은 모듈을 쓰기 위해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p.123~125 · 강의 슬라이드 52~54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저장하기 — params로 화질과 압축을 정한다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43205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4.4.3 — 15.write_image1.py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3600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cv2.imread("images/read_color.jpg", cv2.IMREAD_COLOR)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 is None: raise Exception("영상파일 읽기 에러")      # 예외처리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params_jpg = (cv2.IMWRITE_JPEG_QUALITY, 10)                # JPEG 화질 설정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params_png = [cv2.IMWRITE_PNG_COMPRESSION, 9]              # PNG 압축 레벨 설정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행렬을 영상파일로 저장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cv2.imwrite("images/write_test1.jpg", image)               # 디폴트는 95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cv2.imwrite("images/write_test2.jpg", image, params_jpg)   # 지정한 화질로 저장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cv2.imwrite("images/write_test3.png", image, params_png)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cv2.imwrite("images/write_test4.bmp", image)               # BMP 파일로 저장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print("저장 완료")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99648" y="2571750"/>
            <a:ext cx="636422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119104" y="2571750"/>
            <a:ext cx="376147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paramId (표 4.4.3)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19491" y="2571750"/>
            <a:ext cx="17249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범위 (기본)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99648" y="3044952"/>
            <a:ext cx="6364224" cy="57607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155680" y="3044952"/>
            <a:ext cx="368832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cv2.IMWRITE_JPEG_QUALITY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56067" y="3044952"/>
            <a:ext cx="165177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0~100 (95)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3621024"/>
            <a:ext cx="368832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cv2.IMWRITE_PNG_COMPRESSION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56067" y="3621024"/>
            <a:ext cx="165177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0~9 (3)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99648" y="4197096"/>
            <a:ext cx="6364224" cy="57607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155680" y="4197096"/>
            <a:ext cx="368832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cv2.IMWRITE_PXM_BINARY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56067" y="4197096"/>
            <a:ext cx="165177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 or 1 (1)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9648" y="4937760"/>
            <a:ext cx="6364224" cy="452628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119104" y="4937760"/>
            <a:ext cx="376147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저장 결과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19491" y="4937760"/>
            <a:ext cx="1724924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용량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99648" y="5390388"/>
            <a:ext cx="6364224" cy="51435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1155680" y="5390388"/>
            <a:ext cx="3688323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write_test1.jpg — 기본 95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56067" y="5390388"/>
            <a:ext cx="16517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51 kB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5904738"/>
            <a:ext cx="3688323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write_test2.jpg — 화질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356067" y="5904738"/>
            <a:ext cx="16517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 kB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99648" y="6419088"/>
            <a:ext cx="6364224" cy="51435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1155680" y="6419088"/>
            <a:ext cx="3688323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write_test3.png — 압축 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56067" y="6419088"/>
            <a:ext cx="16517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171 kB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933438"/>
            <a:ext cx="3688323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write_test4.bmp — 무압축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56067" y="6933438"/>
            <a:ext cx="16517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352 kB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128" y="7200900"/>
            <a:ext cx="9509760" cy="149161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389888" y="7396353"/>
            <a:ext cx="87782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튜플이든 리스트든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8023860"/>
            <a:ext cx="8778240" cy="545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params는 (paramId, 값) 쌍이면 되므로 튜플 ( )로도, 리스트 [ ]로도 줄 수 있다. PNG는 무손실이라 압축을 올려도 화질은 그대로다.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p.127의 "iamges/write_test4.bmp"는 오타 — images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p.127~128 · 강의 슬라이드 57~59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심화예제 4.4.4 — 16비트·32비트로 저장하기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16.write_image2.py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image8 = cv2.imread("images/read_color.jpg", cv2.IMREAD_COLOR)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image8 is None: raise Exception("영상파일 읽기 에러")     # 영상파일 예외처리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image16 = np.uint16(image8 * (65535/255))     # 형변환 및 화소 스케일 조정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image32 = np.float32(image8 * (1/255))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화소값 확인 - 관심 영역((10, 10) 위치에서 2행, 3열) 출력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print("image8 행렬의 일부\n %s\n"  % image8[10:12, 10:13])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print("image16 행렬의 일부\n %s\n" % image16[10:12, 10:13])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print("image32 행렬의 일부\n %s\n" % image32[10:12, 10:13])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cv2.imwrite('images/write_test_16.tif', image16)   # 16비트 행렬 저장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cv2.imwrite('images/write_test_32.tif', image32)   # 32비트 행렬 저장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cv2.imshow('image16', image16)                # 영상 표시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cv2.imshow('image32', (image32*255).astype('uint8'))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99648" y="2571750"/>
            <a:ext cx="6364224" cy="370332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899648" y="2571750"/>
            <a:ext cx="91440" cy="370332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265408" y="2674620"/>
            <a:ext cx="563270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(일부)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01984" y="3024378"/>
            <a:ext cx="5559552" cy="31272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image8 행렬의 일부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[[[189 134  91]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[189 134  91]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[189 134  91]]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...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image16 행렬의 일부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[[[48573 34438 23387]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[48573 34438 23387]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[48573 34438 23387]]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...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image32 행렬의 일부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[[[0.7411765  0.5254902  0.35686275]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[0.7411765  0.5254902  0.35686275]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[0.7411765  0.5254902  0.35686275]]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99648" y="6480810"/>
            <a:ext cx="6364224" cy="221170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265408" y="6676263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스케일과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65408" y="7303770"/>
            <a:ext cx="5632704" cy="12653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8비트 → 16비트는 ×(65535/255), 32비트 실수는 ×(1/255)로 0~1 범위. uint16은 imshow가 알아서 맞추지만 float32는 ×255 후 uint8로 바꿔야 제대로 보인다.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[10:12, 10:13]은 2행 3열 관심영역 — 한 화소가 원소 3개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p.128~130 · 강의 슬라이드 60~61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동영상 두 클래스 — 읽는 쪽과 쓰는 쪽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229600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38404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cv2.VideoCapture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2571750"/>
            <a:ext cx="351129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하는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44952"/>
            <a:ext cx="8229600" cy="65836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44952"/>
            <a:ext cx="37673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VideoCapture() / (filename) / (device)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3044952"/>
            <a:ext cx="343814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생성자 세 가지 — 카메라 한 대면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03320"/>
            <a:ext cx="37673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open(filename | device)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9552" y="3703320"/>
            <a:ext cx="343814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파일이나 캡처 장치를 개방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361688"/>
            <a:ext cx="8229600" cy="65836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361688"/>
            <a:ext cx="37673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isOpened()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9552" y="4361688"/>
            <a:ext cx="343814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연결 여부 반환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020056"/>
            <a:ext cx="37673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get(propId) / set(propId, value)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5020056"/>
            <a:ext cx="343814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속성 읽기 / 설정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5678424"/>
            <a:ext cx="8229600" cy="65836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5678424"/>
            <a:ext cx="37673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grab() / retrieve()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9552" y="5678424"/>
            <a:ext cx="343814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프레임 잡기 / 디코드해서 행렬로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6336792"/>
            <a:ext cx="37673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read()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9552" y="6336792"/>
            <a:ext cx="343814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grab + retrieve — (ret, frame) 반환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6995160"/>
            <a:ext cx="8229600" cy="65836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80160" y="6995160"/>
            <a:ext cx="37673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release()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9552" y="6995160"/>
            <a:ext cx="343814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파일·장치 해제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02368" y="2571750"/>
            <a:ext cx="746150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21824" y="2571750"/>
            <a:ext cx="418722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cv2.VideoWriter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47956" y="2571750"/>
            <a:ext cx="239645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하는 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02368" y="3044952"/>
            <a:ext cx="7461504" cy="740664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058400" y="3044952"/>
            <a:ext cx="411406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VideoWriter(filename, fourcc, fps, frameSize[, isColor])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84532" y="3044952"/>
            <a:ext cx="2323307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저장할 파일을 만든다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785616"/>
            <a:ext cx="411406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open(...)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84532" y="3785616"/>
            <a:ext cx="2323307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인수는 생성자와 같다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02368" y="4526280"/>
            <a:ext cx="7461504" cy="740664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058400" y="4526280"/>
            <a:ext cx="411406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isOpened()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84532" y="4526280"/>
            <a:ext cx="2323307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개방 여부 확인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266944"/>
            <a:ext cx="411406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write(image)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84532" y="5266944"/>
            <a:ext cx="2323307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행렬 한 장을 프레임으로 저장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02368" y="6007608"/>
            <a:ext cx="7461504" cy="740664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058400" y="6007608"/>
            <a:ext cx="411406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release()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84532" y="6007608"/>
            <a:ext cx="2323307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저장 종료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" y="7818120"/>
            <a:ext cx="8229600" cy="87439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389888" y="7962138"/>
            <a:ext cx="7498080" cy="2972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read() = grab() + retrieve()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89888" y="8331441"/>
            <a:ext cx="7498080" cy="2376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프레임을 잡아서 디코드까지 한 번에 한다.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02368" y="6892290"/>
            <a:ext cx="7461504" cy="180022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0168128" y="7087743"/>
            <a:ext cx="67299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생성자 인수 네 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68128" y="7715250"/>
            <a:ext cx="6729984" cy="853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filename · fourcc(코덱 4문자) · fps(초당 프레임 수) · frameSize(가로×세로). isColor를 False로 주면 명암도로 인코딩한다.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ret이 False면 더 받을 프레임이 없다 — 반복문 종료 조건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p.131~132 · 강의 슬라이드 62~64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속성 상수와 코덱 문자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778240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41257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속성 상수 (표 4.5.1) — cv2.CAP_PROP_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8268" y="2571750"/>
            <a:ext cx="377464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44952"/>
            <a:ext cx="8778240" cy="67894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44952"/>
            <a:ext cx="4052620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POS_MSEC / POS_FRAMES / POS_AVI_RATIO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4844" y="3044952"/>
            <a:ext cx="3701491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현재 위치(ms) / 프레임 번호 / 상대 위치 0~1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23894"/>
            <a:ext cx="4052620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FRAME_WIDTH / FRAME_HEIGHT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4844" y="3723894"/>
            <a:ext cx="3701491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프레임 너비 / 높이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402836"/>
            <a:ext cx="8778240" cy="67894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402836"/>
            <a:ext cx="4052620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FPS / FRAME_COUNT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4844" y="4402836"/>
            <a:ext cx="3701491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초당 프레임 수 / 총 프레임 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081778"/>
            <a:ext cx="4052620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FOURCC / 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4844" y="5081778"/>
            <a:ext cx="3701491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코덱 4문자 / 반환 행렬 포맷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5760720"/>
            <a:ext cx="8778240" cy="67894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5760720"/>
            <a:ext cx="4052620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BRIGHTNESS / CONTRAST / SATURATION / HUE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4844" y="5760720"/>
            <a:ext cx="3701491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밝기 / 대비 / 포화도 / 색상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6439662"/>
            <a:ext cx="4052620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GAIN / EXPOSURE / AUTOFOCUS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4844" y="6439662"/>
            <a:ext cx="3701491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게인 / 노출 / 자동 초점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51008" y="2571750"/>
            <a:ext cx="691286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570464" y="2571750"/>
            <a:ext cx="357054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코덱 문자 (표 4.5.2)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79925" y="2571750"/>
            <a:ext cx="246449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코덱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51008" y="3044952"/>
            <a:ext cx="6912864" cy="49377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607040" y="3044952"/>
            <a:ext cx="349739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*'DIV4' / *'DIV5' / *'DIVX'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16501" y="3044952"/>
            <a:ext cx="239133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DivX 계열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3538728"/>
            <a:ext cx="349739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*'DX50'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16501" y="3538728"/>
            <a:ext cx="239133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DivX MPEG-4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51008" y="4032504"/>
            <a:ext cx="6912864" cy="49377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607040" y="4032504"/>
            <a:ext cx="349739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*'FMP4'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16501" y="4032504"/>
            <a:ext cx="239133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FFMpeg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4526280"/>
            <a:ext cx="349739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*'IYUV'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16501" y="4526280"/>
            <a:ext cx="239133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IYUV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51008" y="5020056"/>
            <a:ext cx="6912864" cy="49377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607040" y="5020056"/>
            <a:ext cx="349739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*'MJPG'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16501" y="5020056"/>
            <a:ext cx="239133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Motion JPEG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5513832"/>
            <a:ext cx="349739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*'MP42' / *'MPEG'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16501" y="5513832"/>
            <a:ext cx="239133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MPEG4 v2 / MPEG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351008" y="6007608"/>
            <a:ext cx="6912864" cy="49377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607040" y="6007608"/>
            <a:ext cx="349739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*'XVID' / *'X264'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16501" y="6007608"/>
            <a:ext cx="239133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XVID / H.264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501384"/>
            <a:ext cx="349739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-1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16501" y="6501384"/>
            <a:ext cx="239133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코덱 선택 대화상자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4128" y="7200900"/>
            <a:ext cx="8778240" cy="149161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389888" y="7396353"/>
            <a:ext cx="804672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속성은 지원 여부를 탄다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89888" y="8023860"/>
            <a:ext cx="8046720" cy="545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장치가 제공하지 않는 속성은 0을 반환한다. 예제에서는 표에 없는 ZOOM·FOCUS도 쓴다.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351008" y="7509510"/>
            <a:ext cx="6912864" cy="118300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0716768" y="7653528"/>
            <a:ext cx="6181344" cy="4022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두 가지 표기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16768" y="8127758"/>
            <a:ext cx="6181344" cy="441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cv2.VideoWriter_fourcc('D','X','5','0') = cv2.VideoWriter_fourcc(*'DX50')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표의 VideoWrite_fourcc · *'TYUV'는 인쇄 오타 — VideoWriter_fourcc · *'IYUV'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p.132~134 · 강의 슬라이드 65~67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4.5.1 — 카메라 프레임 읽어 띄우기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412480" cy="37033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17.read_pccamera.py (1) 그림자 글자 함수와 카메라 연결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607808" cy="29832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put_string(frame, text, pt, value, color=(120, 200, 90) ):  # 문자열 출력 함수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text += str(value)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shade = (pt[0] + 2, pt[1] + 2)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font = cv2.FONT_HERSHEY_SIMPLEX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cv2.putText(frame, text, shade, font, 0.7, (0, 0, 0), 2)    # 그림자 효과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cv2.putText(frame, text, pt   , font, 0.7, color, 2)        # 글자 적기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capture = cv2.VideoCapture(0)                 # 0번 카메라 연결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capture.isOpened() == False:               # 카메라 연결 예외처리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raise Exception("카메라 연결 안됨")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480810"/>
            <a:ext cx="8412480" cy="221170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6583680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(2) 카메라 속성 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7077456"/>
            <a:ext cx="7607808" cy="149161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카메라 속성 획득 및 출력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print("너비 %d" % capture.get(cv2.CAP_PROP_FRAME_WIDTH))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print("높이 %d" % capture.get(cv2.CAP_PROP_FRAME_HEIGHT))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print("노출 %d" % capture.get(cv2.CAP_PROP_EXPOSURE))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print("밝기 %d" % capture.get(cv2.CAP_PROP_BRIGHTNESS))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02368" y="2571750"/>
            <a:ext cx="7461504" cy="43205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168128" y="2674620"/>
            <a:ext cx="67299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(3) 프레임 반복 — 받아서 글자 얹고 표시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4704" y="3168396"/>
            <a:ext cx="6656832" cy="3600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while True:                                   # 무한 반복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ret, frame = capture.read()               # 카메라 영상 받기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not ret: break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cv2.waitKey(30) &gt;= 0: break            # 종료 조건 - 스페이스바 키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exposure = capture.get(cv2.CAP_PROP_EXPOSURE)   # 노출 속성 획득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put_string(frame, 'EXPOS: ', (10, 40), exposure)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title = "View Frame from Camera"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cv2.imshow(title, frame)                  # 윈도우에 영상 띄우기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capture.release()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2368" y="7098030"/>
            <a:ext cx="7461504" cy="159448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168128" y="7293483"/>
            <a:ext cx="67299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반복문의 세 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8128" y="7920990"/>
            <a:ext cx="6729984" cy="6480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read()로 프레임을 받고, ret이 False면 종료, waitKey(30)으로 30ms 쉬면서 키를 기다린다. 아무 키나 누르면 빠져나온다.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p.135의 while True는 콜론(:)이 빠진 인쇄 오타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p.134~136 · 강의 슬라이드 68~70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4.5.3 — 카메라 영상을 avi로 저장하기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412480" cy="43205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19.write_camera_frame.py (1) 저장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607808" cy="3600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capture = cv2.VideoCapture(0)                 # 0번 카메라 연결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capture.isOpened() == False: raise Exception("카메라 연결 안됨")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fps = 29.97                                   # 초당 프레임 수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delay = round(1000/fps)                       # 프레임 간 지연 시간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size = (640, 360)                             # 동영상 파일 해상도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fourcc = cv2.VideoWriter_fourcc(*'DX50')      # 압축 코덱 설정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카메라 속성 실행창에 출력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print("width × height: ", size 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print("VideoWriterfourcc: %s" % fourcc)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print("delay: %2d ms" % delay)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print("fps: %.2f" % fps)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02368" y="2571750"/>
            <a:ext cx="7461504" cy="56578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168128" y="2674620"/>
            <a:ext cx="67299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(2) VideoWriter 개방 → write() → release()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04704" y="3168396"/>
            <a:ext cx="6656832" cy="4937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capture.set(cv2.CAP_PROP_ZOOM, 1)             # 카메라 속성 지정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capture.set(cv2.CAP_PROP_FOCUS, 0)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capture.set(cv2.CAP_PROP_FRAME_WIDTH, size[0])   # 해상도 설정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capture.set(cv2.CAP_PROP_FRAME_HEIGHT, size[1])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동영상 파일 개방 및 코덱, 해상도 설정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writer = cv2.VideoWriter("images/video_file.avi", fourcc, fps, size)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writer.isOpened() == False: raise Exception("동영상 파일 개방 안됨")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while True: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ret, frame = capture.read()               # 카메라 영상 받기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not ret: break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cv2.waitKey(delay) &gt;= 0: break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writer.write(frame)                       # 프레임을 동영상으로 저장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cv2.imshow("View Frame from Camera", frame)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writer.release()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capture.release()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7098030"/>
            <a:ext cx="8412480" cy="159448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24128" y="7098030"/>
            <a:ext cx="91440" cy="159448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7200900"/>
            <a:ext cx="768096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7550658"/>
            <a:ext cx="7607808" cy="101841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프레임 해상도: (640, 360)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압축코덱 숫자: 808802372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delay: 33 ms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fps: 29.97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delay = round(1000/fps) — fps 29.97이면 33ms · 저장된 avi에 코덱 DX50 · 640×360 · 29.97fps가 그대로 찍힌다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p.139~141 · 강의 슬라이드 74~77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4.5.4 — 동영상을 읽어 구간마다 색 바꾸기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315200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29260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프레임 번호 (표 4.5.3)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571750"/>
            <a:ext cx="351129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영상처리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44952"/>
            <a:ext cx="7315200" cy="61722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44952"/>
            <a:ext cx="285292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 ~ 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044952"/>
            <a:ext cx="343814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아무 처리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62172"/>
            <a:ext cx="285292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100 ~ 199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662172"/>
            <a:ext cx="343814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파란색 성분에 +100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279392"/>
            <a:ext cx="7315200" cy="61722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279392"/>
            <a:ext cx="285292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200 ~ 299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4279392"/>
            <a:ext cx="343814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녹색 성분에 +100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96612"/>
            <a:ext cx="285292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300 ~ 399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4896612"/>
            <a:ext cx="343814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빨간색 성분에 +100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5760720"/>
            <a:ext cx="7315200" cy="293179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389888" y="5956173"/>
            <a:ext cx="65836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채널 다루기 3단계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6583680"/>
            <a:ext cx="6583680" cy="1985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cv2.split()으로 B·G·R 세 장으로 나누고, 원하는 채널만 cv2.add()로 밝히고, cv2.merge()로 다시 합친다.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05088" y="2571750"/>
            <a:ext cx="8558784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70848" y="2674620"/>
            <a:ext cx="78272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20.read_video_file.py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4" y="3168396"/>
            <a:ext cx="7754112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from Common.utils import put_string           # 글쓰기 함수 임포트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capture = cv2.VideoCapture("images/video_file.avi")   # 동영상 파일 개방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not capture.isOpened(): raise Exception("동영상 파일 개방 안됨")   # 예외 처리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frame_rate = capture.get(cv2.CAP_PROP_FPS)    # 초당 프레임 수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delay = int(1000 / frame_rate)                # 지연 시간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frame_cnt = 0                                 # 현재 프레임 번호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while True: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ret, frame = capture.read()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not ret or cv2.waitKey(delay) &gt;= 0: break    # 프레임 간 지연 시간 지정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blue, green, red = cv2.split(frame)       # 컬러 영상 채널 분리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frame_cnt += 1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100 &lt;= frame_cnt &lt; 200: cv2.add(blue, 100, blue)      # blue 채널 밝기 증가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elif 200 &lt;= frame_cnt &lt; 300: cv2.add(green, 100, green)  # green 채널 밝기 증가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elif 300 &lt;= frame_cnt &lt; 400: cv2.add(red  , 100, red)    # red 채널 밝기 증가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frame = cv2.merge( [blue, green, red] )   # 단일채널 영상 합성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put_string(frame, 'frame_cnt: ', (20, 30), frame_cnt)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cv2.imshow("Read Video File", frame)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capture.release()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파일에서 읽을 때 fps는 CAP_PROP_FPS로 얻어 지연 시간을 계산한다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p.142~144 · 강의 슬라이드 78~80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matplotlib — 주피터·Colab에서 영상 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11315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15768"/>
            <a:ext cx="15508224" cy="38473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설치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172510"/>
            <a:ext cx="15508224" cy="4073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파이참 [Ctrl+Alt+S] → Project: … → Python Interpreter → + 버튼 → matplotlib 검색 → Install Package (Pillow·cycler·kiwisolver 등이 함께 설치된다)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4011930"/>
            <a:ext cx="8046720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43584" y="4011930"/>
            <a:ext cx="4067251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pyplot 함수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9747" y="4011930"/>
            <a:ext cx="310164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하는 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485132"/>
            <a:ext cx="8046720" cy="61722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80160" y="4485132"/>
            <a:ext cx="399409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figure(num, figsize, dpi)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6323" y="4485132"/>
            <a:ext cx="302849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그림 객체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102352"/>
            <a:ext cx="399409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imshow(X, cmap, interpolation, alpha)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6323" y="5102352"/>
            <a:ext cx="302849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데이터를 영상으로 표시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5719572"/>
            <a:ext cx="8046720" cy="61722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5719572"/>
            <a:ext cx="399409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plot([x], y, [fmt], linewidth)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86323" y="5719572"/>
            <a:ext cx="302849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선·마커 그래프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6336792"/>
            <a:ext cx="399409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subplot(nrows, ncols, index)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86323" y="6336792"/>
            <a:ext cx="302849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그림에 서브 플롯 추가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" y="6954012"/>
            <a:ext cx="8046720" cy="61722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80160" y="6954012"/>
            <a:ext cx="399409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subplots(nrows, ncols, figsize)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6323" y="6954012"/>
            <a:ext cx="302849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그림과 서브 플롯 배열을 한 번에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36608" y="4011930"/>
            <a:ext cx="782726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56064" y="4011930"/>
            <a:ext cx="394435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pyplot 함수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39331" y="4011930"/>
            <a:ext cx="30050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하는 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36608" y="4485132"/>
            <a:ext cx="7827264" cy="61722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692640" y="4485132"/>
            <a:ext cx="3871203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title(label, loc) / suptitle(t)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75907" y="4485132"/>
            <a:ext cx="293193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서브 플롯 제목 / 전체 제목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5102352"/>
            <a:ext cx="3871203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axis([xmin, xmax, ymin, ymax])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075907" y="5102352"/>
            <a:ext cx="293193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축 범위 — 'off'면 축을 끈다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36608" y="5719572"/>
            <a:ext cx="7827264" cy="61722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692640" y="5719572"/>
            <a:ext cx="3871203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tight_layout(pad)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075907" y="5719572"/>
            <a:ext cx="293193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여백 자동 조정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6336792"/>
            <a:ext cx="3871203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show()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075907" y="6336792"/>
            <a:ext cx="293193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그림을 창에 띄운다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36608" y="6954012"/>
            <a:ext cx="7827264" cy="61722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692640" y="6954012"/>
            <a:ext cx="3871203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savefig(fname, dpi)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075907" y="6954012"/>
            <a:ext cx="293193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그림을 영상파일로 저장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4128" y="7612380"/>
            <a:ext cx="16239744" cy="108013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389888" y="7756398"/>
            <a:ext cx="15508224" cy="36724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왜 쓰나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89888" y="8195652"/>
            <a:ext cx="15508224" cy="373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matplotlib의 pyplot은 매트랩식 시각화 명령을 거의 그대로 제공한다. 주피터 노트북이나 Colab처럼 cv2.imshow() 창을 띄울 수 없는 곳에서 특히 편하다.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p.144~147 · 강의 슬라이드 81~87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4.6.1 — BGR 그대로 그리면 색이 뒤집힌다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21.matplotlib.py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matplotlib.pyplot as plt                 # pyplot 모듈 임포트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 = cv2.imread("images/matplot.jpg", cv2.IMREAD_COLOR)  # 영상 읽기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 is None: raise Exception("영상파일 읽기 에러")        # 예외처리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rows, cols = image.shape[:2]                    # 영상 크기 정보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rgb_img = cv2.cvtColor(image, cv2.COLOR_BGR2RGB)     # 컬러 공간변환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gray_img = cv2.cvtColor(image, cv2.COLOR_BGR2GRAY)   # 명암도 영상 변환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fig = plt.figure(num=1, figsize=(3,4))          # 그림 생성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plt.imshow(image), plt.title('figure1- original(bgr)')   # 그림표시 및 제목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plt.axis('off'), plt.tight_layout()             # 축 없음, 여백 없음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fig = plt.figure(figsize=(6,4))                 # 그림 생성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plt.suptitle('figure2- pyplot image display')   # 전체 제목 지정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plt.subplot(1,2,1), plt.imshow(rgb_img)         # 서브 플롯 그림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plt.axis([0,cols, rows,0]), plt.title('rgb color')   # 축 범위, 서브 플롯 제목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plt.subplot(1,2,2), plt.imshow(gray_img, cmap='gray') # 서브 플롯 그림, 명암도로 표시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plt.title('gray_img2')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plt.show()                                      # 전체 그림 띄우기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48288" y="2571750"/>
            <a:ext cx="5815584" cy="267462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814048" y="2767203"/>
            <a:ext cx="50840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Figure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4048" y="3394710"/>
            <a:ext cx="5084064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BGR 행렬을 그대로 넘겨서 </a:t>
            </a:r>
            <a:r>
              <a:rPr sz="2600" b="0" lang="ko-KR" altLang="en-US">
                <a:solidFill>
                  <a:srgbClr val="8A3F9E"/>
                </a:solidFill>
                <a:latin typeface="프리젠테이션 5 Medium"/>
                <a:ea typeface="프리젠테이션 5 Medium"/>
                <a:cs typeface="프리젠테이션 5 Medium"/>
              </a:rPr>
              <a:t>원래 색의 보색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 나온다.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48288" y="5554980"/>
            <a:ext cx="5815584" cy="313753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814048" y="5750433"/>
            <a:ext cx="50840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Figure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14048" y="6377940"/>
            <a:ext cx="5084064" cy="21911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COLOR_BGR2RGB로 바꾼 영상과 명암도 영상을 1×2 서브 플롯으로. 명암도는 cmap='gray'가 필요하다.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plt.axis([0, cols, rows, 0]) — y축을 거꾸로 줘야 영상 좌표계와 맞는다 · 그림 번호는 자동 증가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p.147~149 · 강의 슬라이드 88~89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4.6.2 · 4.6.3 — 서브 플롯과 fmt 문자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32918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22.interpolation.py — subplots로 2×3 격자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242048" cy="2571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matplotlib.pyplot as plt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methods = ['none', 'nearest', 'bilinear', 'bicubic', 'spline16', 'spline36' ]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grid = np.random.rand(5, 5)             # 0~1사이 임의 난수 생성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fig, axs = plt.subplots(nrows=2, ncols=3, figsize=(8, 6))  # 서브 플롯들 생성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ax, method in zip(axs.flat, methods):     # 서브 플롯 순회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ax.imshow(grid, interpolation=method, cmap='gray')   # 명암도 영상 표시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ax.set_title(method)                # 서브 플롯 제목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plt.tight_layout(), plt.show()          # 여백 없음, 윈도우 띄움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120765"/>
            <a:ext cx="8046720" cy="452628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43584" y="6120765"/>
            <a:ext cx="1975103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fmt = [color][marker][line]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599" y="6120765"/>
            <a:ext cx="519379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쓸 수 있는 문자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6573393"/>
            <a:ext cx="8046720" cy="51435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80160" y="6573393"/>
            <a:ext cx="190195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4175" y="6573393"/>
            <a:ext cx="512063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 g r c m y k 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7087743"/>
            <a:ext cx="190195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marker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5" y="7087743"/>
            <a:ext cx="512063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 , o v ^ &gt; 1 2 s p h * + x d 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602093"/>
            <a:ext cx="8046720" cy="51435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7602093"/>
            <a:ext cx="190195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5" y="7602093"/>
            <a:ext cx="512063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-  실선   --  파선   -.  파선점선   :  점선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8116443"/>
            <a:ext cx="190195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5" y="8116443"/>
            <a:ext cx="512063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'b--' 파란 파선 · 'go-' 녹색 원 실선 · 'c+:' 청록 점선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36608" y="2571750"/>
            <a:ext cx="7827264" cy="53492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802368" y="2674620"/>
            <a:ext cx="70957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23.plot.py — 선 그래프 세 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8944" y="3168396"/>
            <a:ext cx="7022592" cy="46291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matplotlib.pyplot as plt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x = np.arange(10)                       # x축 데이터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y1 = np.arange(10)                      # y축 데이터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y2 = np.arange(10)**2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y3 = np.random.choice(50, size=10)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plt.figure(figsize=(5,3))               # 그림 객체 생성 - 그래프 크기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plt.plot(x, y1, 'b--', linewidth=2)     # 선 스타일 - 파란색, 파선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plt.plot(x, y2, 'go-', linewidth=3)     # 녹색, 원 마크, 실선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plt.plot(x, y3, 'c+:', linewidth=5)     # 청록색, +마크, 점선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plt.title('Line examples')              # 그래프 제목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plt.axis([0,10, 0,80])                  # 축 범위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plt.tight_layout()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plt.savefig(fname='sample.png', dpi=300)   # 그림 저장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plt.show()                              # 윈도우 표시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36608" y="8126730"/>
            <a:ext cx="7827264" cy="56578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802368" y="8270748"/>
            <a:ext cx="7095744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subplot과 subplots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2368" y="8610219"/>
            <a:ext cx="7095744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전자는 칸을 하나씩 추가하고, 후자는 그림과 축 배열을 한 번에 만든다.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축 객체에는 ax.imshow() · ax.set_title()처럼 메서드로 호출한다 · 보간은 5장에서 자세히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p.149~151 · 강의 슬라이드 85·90~92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CH 04 핵심 요약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67462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011680" y="267462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67462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콜백 — setMouseCallback · createTrackbar로 등록하면 시스템이 불러 준다. 키보드만 waitKey/waitKeyEx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401193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011680" y="401193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1193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그리기 다섯 — line · rectangle · putText(좌하단 기준) · circle · ellipse(axes는 반지름, 0도는 3시)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534924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011680" y="534924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34924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파일 — imread는 flags로 채널을, imwrite는 확장자와 params로 형식·화질을 정한다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668655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011680" y="668655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668655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동영상 — VideoCapture.read()로 받고 VideoWriter.write()로 저장. matplotlib은 RGB라 변환이 필요하다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시험 대비 — 연습문제 유형과 답안 연습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창·이벤트·그리기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93776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215944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유형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1943" y="2571750"/>
            <a:ext cx="703137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연습문제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12225" y="2571750"/>
            <a:ext cx="573219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3F9E"/>
                </a:solidFill>
                <a:latin typeface="페이퍼로지 8 ExtraBold"/>
                <a:ea typeface="페이퍼로지 8 ExtraBold"/>
                <a:cs typeface="페이퍼로지 8 ExtraBold"/>
              </a:rPr>
              <a:t>준비 방법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65526"/>
            <a:ext cx="16239744" cy="102870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65526"/>
            <a:ext cx="2086295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개념 서술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8519" y="3065526"/>
            <a:ext cx="6958218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 콜백 함수란? · 2 WINDOW_NORMAL vs AUTOSIZE · 3 ellipse 인수 · 4 콜백 등록 함수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48801" y="3065526"/>
            <a:ext cx="5659038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함수 형식과 인수 이름을 문장으로 설명할 수 있어야 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94226"/>
            <a:ext cx="2086295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실행 결과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8519" y="4094226"/>
            <a:ext cx="6958218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 예시 코드 두 개의 실행 결과 · 7 에러 나는 코드 고치기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48801" y="4094226"/>
            <a:ext cx="5659038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인수 개수·튜플 순서를 눈으로 검사하는 연습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5122926"/>
            <a:ext cx="16239744" cy="102870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5122926"/>
            <a:ext cx="2086295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코드 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8519" y="5122926"/>
            <a:ext cx="6958218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6·8·9 창 배치와 도형 · 10~12 마우스·트랙바 · 13 저장 · 16~18 카메라·태극 문양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48801" y="5122926"/>
            <a:ext cx="5659038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예제 코드의 뼈대를 그대로 옮겨 쓰고 수치만 바꾼다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6223635"/>
            <a:ext cx="9509760" cy="24688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89888" y="6326505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빈칸 채우기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6464" y="6820281"/>
            <a:ext cx="8705088" cy="17487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빈칸 유형 — 트랙바로 밝기를 조절하는 코드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cv2.createTrackbar('Brightness', title, image[0][0], ___, ___)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빈칸 유형 — 빨간 사각형을 두께 3, 8방향 연결선으로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cv2.rectangle(image, roi, ___, 3, cv2.___)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899648" y="6223635"/>
            <a:ext cx="6364224" cy="246888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265408" y="6419088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"이렇게 나오도록 코드를 쓰시오"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65408" y="7046595"/>
            <a:ext cx="5632704" cy="1522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예) 600행 400열 창에 (100, 100)부터 200×300 크기의 빨간 사각형을 그리시오. → np.zeros / cv2.rectangle / cv2.imshow / cv2.waitKey 네 줄로 답한다.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빈칸 정답 — 255, onChange / red, LINE_8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p.154~158 연습문제 1~18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