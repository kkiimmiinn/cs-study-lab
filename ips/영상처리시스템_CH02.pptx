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 장이라 지루할 수 있으니 목표를 하나로 좁혀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오픈 소스 = 무료지만 저작권과 라이선스 조건은 있다(교재 p.38 칼럼)는 것도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중 절반 이상을 이번 학기에 직접 만들어 본다고 예고하면 동기부여가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 전체를 외울 필요 없다. 'C→C++→GPU·모바일→딥러닝' 네 단계 흐름만 잡는다.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영상처리 '실험'엔 즉시 확인되는 인터프리터가 유리하다는 논리로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시간을 여기서 확보. 4단계 중 어디까지 됐는지 손들게 하면 진행이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화면으로 따라가는 구간. 버전 숫자는 달라도 화면 구성은 같다고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IDLE는 '파이썬에 내장된 기본 메모장' 정도로 소개하고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main.py 체크 해제 이유: 빈 프로젝트로 시작해 폴더 구조를 직접 잡는 습관을 들이기 위함.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안 되는 사람을 먼저 해결하고 다음으로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'successfully installed' 메시지 확인까지가 설치다.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matplotlib도 같은 방법으로 바로 설치해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실행이 안 되는 학생은 대부분 headless를 깔았거나 인터프리터 미연결. 두 가지부터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장 예고: 이제 이 행렬을 다루는 파이썬 문법을 압축해서 배운다.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02  ·  도구를 갖추다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수업 자료(CH01~03)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도구를 갖추다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Setting Up: Python, PyCharm, OpenCV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OpenCV, 컴퓨터 비전의 공구함   ·   20년의 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파이썬이라는 짝   ·   개발 환경 구축 로드맵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실전 화면 따라가기   ·   첫 프로그램, 회색 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OpenCV가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무엇이고 왜 표준 도구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 되었는지 말할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파이썬이 영상처리 실험에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왜 적합한지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(인터프리터·동적 타입) 설명한다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개발 환경을 직접 구축하고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첫 OpenCV 프로그램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실행한다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40633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 장의 실습 목표는 단 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311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파이썬 + 파이참 + opencv-python 설치를 끝내고,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회색 창 하나를 띄우는 코드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내 손으로 실행하는 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OpenCV — 컴퓨터 비전의 공구함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246888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9326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OpenCV란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9326880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Open Source Computer Vision Library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영상처리·컴퓨터 비전 오픈 소스 라이브러리.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1999년 인텔의 IPL을 기반으로 시작됐다.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246888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규모 (교재 기준)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3394710"/>
            <a:ext cx="5010912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알고리즘 </a:t>
            </a:r>
            <a:r>
              <a:rPr sz="23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2,500개+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사용자 그룹 4.7만+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다운로드 1,800만 회+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297805"/>
            <a:ext cx="16239744" cy="334327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9888" y="549325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누가 쓰나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6120765"/>
            <a:ext cx="15508224" cy="2396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구글 · 야후 · 마이크로소프트 · 인텔 · IBM · 소니 · 혼다 · 도요타 …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스트리트 뷰 스티칭, 감시 침입 탐지, 수영장 익사 감지, 로봇의 물체 픽업까지 —</a:t>
            </a:r>
          </a:p>
          <a:p>
            <a:pPr algn="l">
              <a:lnSpc>
                <a:spcPct val="142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연구실 장난감이 아니라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산업 현장의 표준 공구함</a:t>
            </a: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2.1.1절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OpenCV로 할 수 있는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07008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얼굴 검출·인식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3" y="2571750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58383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객체 인식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09760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3D 모델 추출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78255" y="2571750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661135" y="2736342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이미지 스티칭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97711" y="3394710"/>
            <a:ext cx="3346704" cy="612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파노라마 만들기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577715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4742307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영상 검색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5503" y="4577715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58383" y="4742307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적목 현상 제거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577715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09760" y="4742307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안구 운동 추적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78255" y="4577715"/>
            <a:ext cx="3785616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661135" y="4742307"/>
            <a:ext cx="34198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QR코드 검출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97711" y="5400675"/>
            <a:ext cx="3346704" cy="612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1E2A30"/>
                </a:solidFill>
                <a:latin typeface="페이퍼로지 6 SemiBold"/>
                <a:ea typeface="페이퍼로지 6 SemiBold"/>
                <a:cs typeface="페이퍼로지 6 SemiBold"/>
              </a:rPr>
              <a:t>4.0부터 내장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686550"/>
            <a:ext cx="16239744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688200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기술 스펙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7509510"/>
            <a:ext cx="1550822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인터페이스 </a:t>
            </a:r>
            <a:r>
              <a:rPr sz="23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C++ · Python · Java · MATLAB</a:t>
            </a: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 /  OS 윈도우 · 리눅스 · 안드로이드 · macOS</a:t>
            </a:r>
          </a:p>
          <a:p>
            <a:pPr algn="l">
              <a:lnSpc>
                <a:spcPct val="142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MMX·SSE 명령어 고속화, CUDA·OpenCL GPU 가속 — 실시간 비전에 강하다.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2.1.1절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20년의 진화 — 버전 연혁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2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258" y="2664333"/>
            <a:ext cx="13405484" cy="32712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02818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02818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OpenCV의 진화가 곧 컴퓨터 비전 분야의 진화다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840855"/>
            <a:ext cx="384048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24128" y="6840855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16735" y="7046595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C 시대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5" y="7478649"/>
            <a:ext cx="3255264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1.0 — C API</a:t>
            </a:r>
          </a:p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구조체 기반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736034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57216" y="6840855"/>
            <a:ext cx="384048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57216" y="6840855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49824" y="7046595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C++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7478649"/>
            <a:ext cx="3255264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2.0 — 클래스 기반</a:t>
            </a:r>
          </a:p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2.2 — 12개 모듈화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736034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0304" y="6840855"/>
            <a:ext cx="384048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290304" y="6840855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82912" y="7046595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GPU·모바일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7478649"/>
            <a:ext cx="3255264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3.x — OpenCL 가속</a:t>
            </a:r>
          </a:p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Python 3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57632" y="7360348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423392" y="6840855"/>
            <a:ext cx="3840480" cy="149161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3423392" y="6840855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3716000" y="7046595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딥러닝 시대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7478649"/>
            <a:ext cx="3255264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3.4~4.x — dnn 모듈</a:t>
            </a:r>
          </a:p>
          <a:p>
            <a:pPr algn="ctr">
              <a:lnSpc>
                <a:spcPct val="135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G-API·QR 검출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SIFT·SURF 유료화는 2.4 — 시험에 나오기 좋은 디테일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표 2.1.1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파이썬이라는 짝 — 실험에 최적화된 언어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4842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6737" y="2571750"/>
            <a:ext cx="1287767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내용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16239744" cy="80238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2411089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만든 사람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313" y="3086100"/>
            <a:ext cx="12804526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귀도 반 로섬(Guido van Rossum) — 1991년 발표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88486"/>
            <a:ext cx="2411089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언어 특성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313" y="3888486"/>
            <a:ext cx="12804526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인터프리터 · 고급 언어 · 플랫폼 독립 · 객체지향 · 동적 타입 · 대화형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90872"/>
            <a:ext cx="16239744" cy="80238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690872"/>
            <a:ext cx="2411089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 유래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3313" y="4690872"/>
            <a:ext cx="12804526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뱀이 아니라 영국 코미디 '몬티 파이썬의 날아다니는 서커스'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493258"/>
            <a:ext cx="2411089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실무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3313" y="5493258"/>
            <a:ext cx="12804526" cy="8023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구글 · 인스타그램 · 드롭박스 (교재 기준) — AI 붐과 함께 확장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275070"/>
            <a:ext cx="7936992" cy="2592324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646023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인터프리터 방식 (파이썬)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55648" y="701573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326880" y="6275070"/>
            <a:ext cx="7936992" cy="2592324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92640" y="646023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컴파일 방식 (C 등)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701573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572768" y="718032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1행씩 해석 → </a:t>
            </a:r>
            <a:r>
              <a:rPr sz="28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즉시 실행·확인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718032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전체 번역 후 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790041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실험과 수정이 빠르다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790041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실행 속도가 빠르다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2.1.2절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개발 환경 구축 로드맵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3840480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209544"/>
            <a:ext cx="3255264" cy="1172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파이썬 설치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python.org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PATH 체크 필수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32270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571750"/>
            <a:ext cx="3840480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571750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209544"/>
            <a:ext cx="3255264" cy="1172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파이참 설치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Community 무료판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PATH 옵션 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32270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571750"/>
            <a:ext cx="3840480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571750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209544"/>
            <a:ext cx="3255264" cy="1172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인터프리터 연결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Settings에서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python.exe 지정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32270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571750"/>
            <a:ext cx="3840480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571750"/>
            <a:ext cx="3840480" cy="102870"/>
          </a:xfrm>
          <a:prstGeom prst="rect">
            <a:avLst/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77749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209544"/>
            <a:ext cx="3255264" cy="1172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라이브러리 설치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opencv-python</a:t>
            </a:r>
          </a:p>
          <a:p>
            <a:pPr algn="ctr">
              <a:lnSpc>
                <a:spcPct val="135000"/>
              </a:lnSpc>
            </a:pPr>
            <a:r>
              <a:rPr sz="1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numpy · matplotlib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937760"/>
            <a:ext cx="16239744" cy="154305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426464" y="511263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가장 많이 막히는 곳 두 군데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" y="5575554"/>
            <a:ext cx="15435071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① 파이썬 설치 시 </a:t>
            </a: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'Add Python to PATH' 체크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놓치면 콘솔에서 python 명령이 안 된다.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② 파이참에서 </a:t>
            </a: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인터프리터 미연결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이면 코드가 아예 실행되지 않는다.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6737985"/>
            <a:ext cx="16239744" cy="190309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389888" y="69334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버전 메모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7560945"/>
            <a:ext cx="15508224" cy="9566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Python 3.9, 교수님 자료는 3.11 화면 기준 — </a:t>
            </a:r>
            <a:r>
              <a:rPr sz="22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버전이 달라도 절차는 같다.</a:t>
            </a: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IDLE는 파이썬 내장 기본 IDE지만, 여러 파일이 얽히는 영상처리 개발엔 파이참을 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2.2~2.4절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STEP 1 실제 화면 — 파이썬 내려받기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0178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2_py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77699"/>
            <a:ext cx="9912096" cy="455336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137017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137017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python.org → [Downloads] — 교재 그림 2.2.1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14048" y="2571750"/>
            <a:ext cx="5449824" cy="339471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79808" y="276720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화면에서 볼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394710"/>
            <a:ext cx="4718304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[Downloads] 메뉴에서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최신 버전 버튼 클릭.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다른 버전이 필요하면</a:t>
            </a:r>
          </a:p>
          <a:p>
            <a:pPr algn="l">
              <a:lnSpc>
                <a:spcPct val="142000"/>
              </a:lnSpc>
            </a:pPr>
            <a:r>
              <a:rPr sz="22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[All releases]에서 선택.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14048" y="6275070"/>
            <a:ext cx="5449824" cy="23660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216384" y="6449949"/>
            <a:ext cx="464515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설치 첫 화면에서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16384" y="6912864"/>
            <a:ext cx="4645152" cy="1584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'Add Python to PATH'</a:t>
            </a:r>
          </a:p>
          <a:p>
            <a:pPr algn="l">
              <a:lnSpc>
                <a:spcPct val="140000"/>
              </a:lnSpc>
            </a:pPr>
            <a:r>
              <a:rPr sz="30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체크를 꼭 누른다.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2.2.1절 · 그림 2.2.1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IDLE — 파이썬에 내장된 기본 편집기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0178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2_i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77699"/>
            <a:ext cx="9912096" cy="455336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137017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137017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IDLE 셸과 [File]→[New File] — 교재 그림 2.2.4~2.2.5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14048" y="2571750"/>
            <a:ext cx="5449824" cy="601789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79808" y="276720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IDLE 사용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394710"/>
            <a:ext cx="4718304" cy="5071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① 셸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한 줄씩 입력하면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바로 결과가 나온다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② New File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에디터를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열어 여러 줄 작성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③ 저장 후 F5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Run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Module로 실행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간단한 예제엔 충분하지만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 개발엔 파이참을 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2.2.2절 · 그림 2.2.4~2.2.7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파이참 — 프로젝트 만들기 순서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422588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[New Project] → 경로 지정 (예: D:\source)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124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381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63252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[Previously configured interpreter] 체크 → 설치된 python.exe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5307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07879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03916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[Create a main.py welcome script]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체크 해제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79374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481945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644580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프로젝트 우클릭 → [New]→[Directory]로 챕터별 폴더 (예: chap02)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53440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0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556012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3" y="5385244"/>
            <a:ext cx="15471648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폴더 우클릭 → [New]→[Python File] → 실행은 </a:t>
            </a:r>
            <a:r>
              <a:rPr sz="29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Shift+Alt+F10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532245"/>
            <a:ext cx="16239744" cy="210883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672769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파이참의 핵심 개념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355205"/>
            <a:ext cx="15508224" cy="1162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프로젝트 단위로 소스를 관리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하고, 프로젝트마다 </a:t>
            </a:r>
            <a:r>
              <a:rPr sz="25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인터프리터(python.exe)를 연결</a:t>
            </a: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해야 실행된다.</a:t>
            </a:r>
          </a:p>
          <a:p>
            <a:pPr algn="l">
              <a:lnSpc>
                <a:spcPct val="142000"/>
              </a:lnSpc>
            </a:pPr>
            <a:r>
              <a:rPr sz="25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예제도 프로젝트 하나에 챕터별 폴더로 정리되어 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STEP 3 실제 화면 — 인터프리터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0178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2_interpr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77699"/>
            <a:ext cx="9912096" cy="455336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137017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137017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[Settings] → [Python Interpreter] → [Add] — 교재 그림 2.4.2~2.4.3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14048" y="2571750"/>
            <a:ext cx="5449824" cy="601789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79808" y="276720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여기서 막히면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394710"/>
            <a:ext cx="4718304" cy="5071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설정을 안 하면 코드가</a:t>
            </a: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아예 실행되지 않는다.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[System Interpreter]에서</a:t>
            </a: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설치된 python.exe를 지정.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연결되면 옆에 파이썬</a:t>
            </a:r>
          </a:p>
          <a:p>
            <a:pPr algn="l">
              <a:lnSpc>
                <a:spcPct val="142000"/>
              </a:lnSpc>
            </a:pPr>
            <a:r>
              <a:rPr sz="2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버전이 표시된다.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실습 때 가장 많이 막히는 지점 — 화면을 띄워 놓고 같이 따라간다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· 그림 2.4.2~2.4.3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라이브러리 설치 — opencv-python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715768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방법 ① 콘솔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2715768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방법 ② 파이참 (교재 방식)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750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pip install opencv-python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750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[Settings] → [Python Interpreter] → [+]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58818"/>
            <a:ext cx="6839712" cy="750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이름을 정확히 알아야 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258818"/>
            <a:ext cx="6839712" cy="750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검색해서 클릭 — 버전 선택도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246370"/>
            <a:ext cx="16239744" cy="154305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542124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비슷한 이름 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884164"/>
            <a:ext cx="15435071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설치할 것은 </a:t>
            </a: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opencv-python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이다.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opencv-python-</a:t>
            </a: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headless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는 창 표시(imshow)가 빠진 서버용 — 잘못 깔면 창이 안 뜬다.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7046595"/>
            <a:ext cx="16239744" cy="159448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724204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함께 설치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7869555"/>
            <a:ext cx="15508224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matplotlib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(그래프·영상 표시) · </a:t>
            </a:r>
            <a:r>
              <a:rPr sz="28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numpy</a:t>
            </a: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(opencv-python 설치 시 자동으로 따라온다)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2.5절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STEP 4 실제 화면 — 라이브러리 검색·설치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0178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2_pack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77699"/>
            <a:ext cx="9912096" cy="455336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137017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137017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Available Packages에서 opencv-python 검색 — 교재 그림 2.5.2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14048" y="2571750"/>
            <a:ext cx="5449824" cy="601789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179808" y="2767203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화면에서 볼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79808" y="3394710"/>
            <a:ext cx="4718304" cy="5071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검색창에 </a:t>
            </a: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opencv-py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만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쳐도 후보가 뜬다.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opencv-python</a:t>
            </a: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선택 →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[Install Package].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이전 버전이 필요하면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[Specify version] 체크.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완료 메시지 확인까지가</a:t>
            </a:r>
          </a:p>
          <a:p>
            <a:pPr algn="l">
              <a:lnSpc>
                <a:spcPct val="142000"/>
              </a:lnSpc>
            </a:pPr>
            <a:r>
              <a:rPr sz="21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설치다.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비슷한 이름 주의 — headless는 창이 안 뜨는 서버용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2.5절 · 그림 2.5.2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첫 OpenCV 프로그램 — 회색 창 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51435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chap02 / 02.opencvtest.py  (교재 2.5절)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44234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300행 400열, 8비트 무부호 정수 행렬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np.zeros((300, 400), np.uint8)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image.fill(200)      # 모든 화소를 200(회색)으로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cv2.imshow("Window title", image)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       # 키 입력까지 대기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cv2.destroyAllWindows()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51435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줄마다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3394710"/>
            <a:ext cx="5010912" cy="4197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zeros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0으로 채운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300×400 행렬 = 검은 영상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fill(200)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전부 200으로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= 회색 영상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imshow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행렬을 창에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영상으로 표시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waitKey(0)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아무 키나</a:t>
            </a:r>
          </a:p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누를 때까지 창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972425"/>
            <a:ext cx="16239744" cy="16459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9888" y="816787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1장과 연결하면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8795385"/>
            <a:ext cx="15508224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 = 행렬(np.zeros), 처리 = 행렬 연산(fill), np.uint8이 바로 </a:t>
            </a:r>
            <a:r>
              <a:rPr sz="1700" b="0">
                <a:solidFill>
                  <a:srgbClr val="0E7D6B"/>
                </a:solidFill>
                <a:latin typeface="프리젠테이션 5 Medium"/>
                <a:ea typeface="프리젠테이션 5 Medium"/>
                <a:cs typeface="프리젠테이션 5 Medium"/>
              </a:rPr>
              <a:t>8비트 양자화(0~255)</a:t>
            </a:r>
            <a:r>
              <a:rPr sz="17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의 구현이다. 1장의 이론이 코드 열 줄로 눈앞에 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02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02 · 도구를 갖추다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 = 2,500개+ 알고리즘의 오픈 소스 컴퓨터 비전 라이브러리 (1999, 인텔)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버전 흐름 — C(1.0) → C++(2.0) → GPU·모바일(3.x) → 딥러닝(3.4~4.x)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파이썬 = 1991 귀도 반 로섬, 1행씩 즉시 실행되는 인터프리터·동적 타입 언어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>
                <a:solidFill>
                  <a:srgbClr val="0E7D6B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파이참은 프로젝트 + 인터프리터 연결이 핵심 — 첫 프로그램으로 회색 창을 띄웠다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