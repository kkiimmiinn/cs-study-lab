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장이라 지루할 수 있으니 목표를 하나로 좁혀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오픈 소스 = 무료지만 저작권과 라이선스 조건은 있다(교재 p.38 칼럼)는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중 절반 이상을 이번 학기에 직접 만들어 본다고 예고하면 동기부여가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전체를 외울 필요 없다. 'C→C++→GPU·모바일→딥러닝' 네 단계 흐름만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영상처리 '실험'엔 즉시 확인되는 인터프리터가 유리하다는 논리로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시간을 여기서 확보. 4단계 중 어디까지 됐는지 손들게 하면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화면으로 따라가는 구간. 버전 숫자는 달라도 화면 구성은 같다고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IDLE는 '파이썬에 내장된 기본 메모장' 정도로 소개하고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main.py 체크 해제 이유: 빈 프로젝트로 시작해 폴더 구조를 직접 잡는 습관을 들이기 위함.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안 되는 사람을 먼저 해결하고 다음으로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'successfully installed' 메시지 확인까지가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matplotlib도 같은 방법으로 바로 설치해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실행이 안 되는 학생은 대부분 headless를 깔았거나 인터프리터 미연결. 두 가지부터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장 예고: 이제 이 행렬을 다루는 파이썬 문법을 압축해서 배운다.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lang="ko-KR" altLang="en-US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02  ·  개발 환경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</a:t>
            </a: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직접 제작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하는 것을 원칙으로 하고, 교재 그림을 그대로 쓴 경우에는 캡션에 인용임을 밝혔다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 lang="ko-KR" altLang="en-US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Python · PyCharm · OpenCV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OpenCV, 컴퓨터 비전의 공구함   ·   20년의 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파이썬이라는 짝   ·   개발 환경 구축 로드맵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실전 화면 따라가기   ·   첫 프로그램, 회색 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OpenCV가 </a:t>
            </a: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무엇이고 왜 표준 도구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되었는지 말할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파이썬이 영상처리 실험에 </a:t>
            </a: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왜 적합한지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(인터프리터·동적 타입)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개발 환경을 직접 구축하고 </a:t>
            </a: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첫 OpenCV 프로그램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실습 목표는 단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+ 파이참 + opencv-python 설치를 끝내고,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회색 창 하나를 띄우는 코드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내 손으로 실행하는 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 — 컴퓨터 비전의 공구함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24688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67203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OpenCV란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394710"/>
            <a:ext cx="9326880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 Source Computer Vision Library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 오픈 소스 라이브러리.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1999년 인텔의 IPL을 기반으로 시작됐다.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46888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규모 (교재 기준)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알고리즘 </a:t>
            </a:r>
            <a:r>
              <a:rPr sz="23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2,500개+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사용자 그룹 4.7만+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다운로드 1,800만 회+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297805"/>
            <a:ext cx="16239744" cy="33432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549325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누가 쓰나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6120765"/>
            <a:ext cx="15508224" cy="239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야후 · 마이크로소프트 · 인텔 · IBM · 소니 · 혼다 · 도요타 …</a:t>
            </a:r>
          </a:p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스트리트 뷰 스티칭, 감시 침입 탐지, 수영장 익사 감지, 로봇의 물체 픽업까지 —</a:t>
            </a:r>
          </a:p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연구실 장난감이 아니라 </a:t>
            </a:r>
            <a:r>
              <a:rPr sz="28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산업 현장의 표준 공구함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OpenCV로 할 수 있는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얼굴 검출·인식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3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객체 인식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3D 모델 추출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78255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이미지 스티칭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97711" y="3394710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파노라마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 검색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75503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58383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적목 현상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0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안구 운동 추적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78255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661135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QR코드 검출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97711" y="5400675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4.0부터 내장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기술 스펙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인터페이스 </a:t>
            </a:r>
            <a:r>
              <a:rPr sz="23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C++ · Python · Java · MATLAB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 /  OS 윈도우 · 리눅스 · 안드로이드 · macOS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MMX·SSE 명령어 고속화, CUDA·OpenCL GPU 가속 — 실시간 비전에 강하다.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20년의 진화 — 버전 연혁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39090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258" y="2664333"/>
            <a:ext cx="13405484" cy="32712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02818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02818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OpenCV의 진화가 곧 컴퓨터 비전 분야의 진화다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24128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16735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 시대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5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1.0 — C API</a:t>
            </a:r>
          </a:p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구조체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7216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57216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9824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C++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2.0 — 클래스 기반</a:t>
            </a:r>
          </a:p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2.2 — 12개 모듈화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0304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90304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82912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GPU·모바일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3.x — OpenCL 가속</a:t>
            </a:r>
          </a:p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 3 지원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57632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23392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423392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3716000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딥러닝 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3.4~4.x — dnn 모듈</a:t>
            </a:r>
          </a:p>
          <a:p>
            <a:pPr algn="ctr">
              <a:lnSpc>
                <a:spcPct val="135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G-API·QR 검출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SIFT·SURF 유료화는 2.4 — 시험에 나오기 좋은 디테일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표 2.1.1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파이썬이라는 짝 — 실험에 최적화된 언어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만든 사람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귀도 반 로섬(Guido van Rossum) — 1991년 발표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88486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언어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88486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· 고급 언어 · 플랫폼 독립 · 객체지향 · 동적 타입 · 대화형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9087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90872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 유래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90872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뱀이 아니라 영국 코미디 '몬티 파이썬의 날아다니는 서커스'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93258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실무 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93258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인스타그램 · 드롭박스 (교재 기준) — AI 붐과 함께 확장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인터프리터 방식 (파이썬)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55648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9326880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92640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 방식 (C 등)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572768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1행씩 해석 → </a:t>
            </a:r>
            <a:r>
              <a:rPr sz="28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즉시 실행·확인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전체 번역 후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2768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실험과 수정이 빠르다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속도가 빠르다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2.1.2절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 로드맵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설치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체크 필수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 설치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Community 무료판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옵션 체크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연결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Settings에서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python.exe 지정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라이브러리 설치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</a:p>
          <a:p>
            <a:pPr algn="ctr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· matplotlib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93776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26464" y="511263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가장 많이 막히는 곳 두 군데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557555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파이썬 설치 시 </a:t>
            </a: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 체크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놓치면 콘솔에서 python 명령이 안 된다.</a:t>
            </a:r>
          </a:p>
          <a:p>
            <a:pPr algn="l">
              <a:lnSpc>
                <a:spcPct val="140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파이참에서 </a:t>
            </a: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미연결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코드가 아예 실행되지 않는다.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737985"/>
            <a:ext cx="16239744" cy="19030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69334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버전 메모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560945"/>
            <a:ext cx="15508224" cy="956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Python 3.9, 교수님 자료는 3.11 화면 기준 — </a:t>
            </a:r>
            <a:r>
              <a:rPr sz="22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버전이 달라도 절차는 같다.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IDLE는 파이썬 내장 기본 IDE지만, 여러 파일이 얽히는 영상처리 개발엔 파이참을 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2.2~2.4절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1 실제 화면 — 파이썬 내려받기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y_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 → [Downloads] — 교재 그림 2.2.1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339471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[Downloads] 메뉴에서</a:t>
            </a: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최신 버전 버튼 클릭.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다른 버전이 필요하면</a:t>
            </a: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[All releases]에서 선택.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14048" y="6275070"/>
            <a:ext cx="5449824" cy="236601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216384" y="6449949"/>
            <a:ext cx="4645152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설치 첫 화면에서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16384" y="6912864"/>
            <a:ext cx="4645152" cy="1584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</a:t>
            </a:r>
          </a:p>
          <a:p>
            <a:pPr algn="l">
              <a:lnSpc>
                <a:spcPct val="140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체크를 꼭 누른다.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2.2.1절 · 그림 2.2.1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IDLE — 파이썬에 내장된 기본 편집기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IDLE 셸과 [File]→[New File] — 교재 그림 2.2.4~2.2.5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IDLE 사용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① 셸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한 줄씩 입력하면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결과가 나온다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② New File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에디터를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열어 여러 줄 작성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③ 저장 후 F5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Run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Module로 실행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간단한 예제엔 충분하지만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개발엔 파이참을 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2.2.2절 · 그림 2.2.4~2.2.7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파이참 — 프로젝트 만들기 순서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422588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[New Project] → 경로 지정 (예: D:\source)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124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3381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163252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[Previously configured interpreter] 체크 → 설치된 python.exe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307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07879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3903916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[Create a main.py welcome script] </a:t>
            </a: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체크 해제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79374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481945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644580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우클릭 → [New]→[Directory]로 챕터별 폴더 (예: chap02)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553440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24128" y="556012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2223" y="5385244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폴더 우클릭 → [New]→[Python File] → 실행은 </a:t>
            </a:r>
            <a:r>
              <a:rPr sz="29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Shift+Alt+F10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532245"/>
            <a:ext cx="16239744" cy="210883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72769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파이참의 핵심 개념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355205"/>
            <a:ext cx="15508224" cy="1162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단위로 소스를 관리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하고, 프로젝트마다 </a:t>
            </a:r>
            <a:r>
              <a:rPr sz="24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인터프리터(python.exe)를 연결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실행된다.</a:t>
            </a: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예제도 프로젝트 하나에 챕터별 폴더로 정리되어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3 실제 화면 — 인터프리터 연결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nterpr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[Add] — 교재 그림 2.4.2~2.4.3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여기서 막히면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설정을 안 하면 코드가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아예 실행되지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[System Interpreter]에서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설치된 python.exe를 지정.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연결되면 옆에 파이썬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버전이 표시된다.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실습 때 가장 많이 막히는 지점 — 화면을 띄워 놓고 같이 따라간다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· 그림 2.4.2~2.4.3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라이브러리 설치 — opencv-python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① 콘솔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② 파이참 (교재 방식)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pip install opencv-python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[+]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이름을 정확히 알아야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검색해서 클릭 — 버전 선택도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524637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26464" y="542124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비슷한 이름 주의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588416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설치할 것은 </a:t>
            </a: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0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opencv-python-</a:t>
            </a: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headless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는 창 표시(imshow)가 빠진 서버용 — 잘못 깔면 창이 안 뜬다.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7046595"/>
            <a:ext cx="16239744" cy="159448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724204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함께 설치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7869555"/>
            <a:ext cx="15508224" cy="648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6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matplotlib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(그래프·영상 표시) · </a:t>
            </a:r>
            <a:r>
              <a:rPr sz="26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numpy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(opencv-python 설치 시 자동으로 따라온다)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4 실제 화면 — 라이브러리 검색·설치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ack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Available Packages에서 opencv-python 검색 — 교재 그림 2.5.2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검색창에 </a:t>
            </a: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쳐도 후보가 뜬다.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선택 →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[Install Package].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이전 버전이 필요하면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[Specify version] 체크.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완료 메시지 확인까지가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비슷한 이름 주의 — headless는 창이 안 뜨는 서버용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 · 그림 2.5.2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첫 OpenCV 프로그램 — 회색 창 띄우기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chap02 / 02.opencvtest.py  (교재 2.5절)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42341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cv2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300행 400열, 8비트 무부호 정수 행렬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 = np.zeros((300, 400), np.uint8)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image.fill(200)      # 모든 화소를 200(회색)으로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cv2.imshow("Window title", image)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cv2.waitKey(0)       # 키 입력까지 대기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cv2.destroyAllWindows()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514350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줄마다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zeros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0으로 채운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300×400 행렬 = 검은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fill(200)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전부 200으로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= 회색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imshow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행렬을 창에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영상으로 표시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waitKey(0)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아무 키나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누를 때까지 창 유지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7972425"/>
            <a:ext cx="16239744" cy="16459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816787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1장과 연결하면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8795385"/>
            <a:ext cx="15508224" cy="699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행렬(np.zeros), 처리 = 행렬 연산(fill), np.uint8이 바로 </a:t>
            </a:r>
            <a:r>
              <a:rPr sz="1600" b="0" lang="ko-KR" altLang="en-US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8비트 양자화(0~255)</a:t>
            </a:r>
            <a:r>
              <a:rPr sz="1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구현이다. 1장의 이론이 코드 열 줄로 눈앞에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02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개발 환경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= 2,500개+ 알고리즘의 오픈 소스 컴퓨터 비전 라이브러리 (1999, 인텔)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 흐름 — C(1.0) → C++(2.0) → GPU·모바일(3.x) → 딥러닝(3.4~4.x)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= 1991 귀도 반 로섬, 1행씩 즉시 실행되는 인터프리터·동적 타입 언어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파이참은 프로젝트 + 인터프리터 연결이 핵심 — 첫 프로그램으로 회색 창을 띄웠다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