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저작권 안내. 인용 근거(저작권법 28조·37조 출처명시)와 자체 제작 원칙을 밝혀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결론을 먼저 준다. '영상=숫자 행렬'만 잡히면 뒤의 수식이 전부 자연스러워진다.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화소→영상→영상처리 순서로 쌓아 올린다. picture element 줄임말이라는 것도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단순한 영상처리를 먼저 보여주고 시작. 수식 공포를 없애는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시험 단골. '결과물 기준'이라는 한 마디로 정리해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기억법: 신문사가 시작했고, NASA가 본격화했고, 병원이 키웠고, 인터넷·스마트폰이 폭발시켰다.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'서술(description)'이라는 용어를 그대로 써 주는 게 좋다 — 교재 용어다.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f=i·r은 이 과목 첫 수식. '조명 곱하기 반사율'로 읽어 주면 무섭지 않다.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비유: 표본화는 모눈종이 칸 수, 양자화는 색연필 개수. 둘 다 늘리면 좋지만 용량이 커진다.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NumPy를 3장에서 배우는 이유가 이 슬라이드에 있다. 미리 연결해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연습문제 8번을 그대로 풀어 보인다. 중간·기말에 계산형으로 나오기 좋은 문제.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식은 과목 전체의 목차 역할. T의 종류가 곧 커리큘럼이라고 말해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머신 비전이라는 용어는 공장 자동화 분야에서 특히 쓰인다는 것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줄로 끝. 다음 장은 이 행렬을 다룰 도구(OpenCV·파이썬) 설치다.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2777490"/>
            <a:ext cx="128016" cy="308610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859786"/>
            <a:ext cx="14630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 · 컴퓨터및소프트웨어공학전공(박사과정)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35858"/>
            <a:ext cx="14630400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영상처리시스템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102352"/>
            <a:ext cx="987552" cy="473202"/>
          </a:xfrm>
          <a:prstGeom prst="roundRect">
            <a:avLst>
              <a:gd name="adj" fmla="val 20000"/>
            </a:avLst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0" y="5133213"/>
            <a:ext cx="9875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5102352"/>
            <a:ext cx="128016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>
                <a:solidFill>
                  <a:srgbClr val="C9D4E2"/>
                </a:solidFill>
                <a:latin typeface="페이퍼로지 6 SemiBold"/>
                <a:ea typeface="페이퍼로지 6 SemiBold"/>
                <a:cs typeface="페이퍼로지 6 SemiBold"/>
              </a:rPr>
              <a:t>CHAPTER 01  ·  영상은 숫자다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6480810"/>
            <a:ext cx="15727680" cy="12344"/>
          </a:xfrm>
          <a:prstGeom prst="rect">
            <a:avLst/>
          </a:prstGeom>
          <a:solidFill>
            <a:srgbClr val="2A5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0160" y="6737985"/>
            <a:ext cx="146304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25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참고 교재  정성환·배종욱, 『OpenCV-Python으로 배우는 영상 처리 및 응용』 (생능출판사)</a:t>
            </a:r>
          </a:p>
          <a:p>
            <a:pPr algn="l">
              <a:lnSpc>
                <a:spcPct val="170000"/>
              </a:lnSpc>
            </a:pPr>
            <a:r>
              <a:rPr sz="25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정리  김민  ·  대학원 학습·연구용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자료에 대하여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3" y="2299144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교재는 </a:t>
            </a:r>
            <a:r>
              <a:rPr sz="22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수업 진도에 맞춘 참고용</a:t>
            </a: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 — 목차와 개념 체계를 참고하되, 내용은 직접 조사해 재구성·각색했다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55930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358501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3" y="3286696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교재의 그림·내용 일부를 </a:t>
            </a:r>
            <a:r>
              <a:rPr sz="21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저작권법 제28조(공표된 저작물의 인용)</a:t>
            </a: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따라 교육·연구 목적으로 발췌·인용하고, 각 슬라이드에 출처(교재 절·그림 번호)를 명시했다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54685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457257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3" y="4274248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도표·그래프·예시 그림은 교재 것을 쓰지 않고 </a:t>
            </a:r>
            <a:r>
              <a:rPr sz="29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전부 직접 제작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863590"/>
            <a:ext cx="16239744" cy="15944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6464" y="603846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이용 범위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501384"/>
            <a:ext cx="15435071" cy="812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자료는 </a:t>
            </a:r>
            <a:r>
              <a:rPr sz="19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대학원 개인 학습·연구 목적</a:t>
            </a: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으로만 제작·사용한다.</a:t>
            </a:r>
          </a:p>
          <a:p>
            <a:pPr algn="l">
              <a:lnSpc>
                <a:spcPct val="140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저작권자의 허락 없는 무단 복제·전재·재배포 및 상업적 이용을 금한다.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76668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79621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참고 문헌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858964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정성환·배종욱, 『OpenCV-Python으로 배우는 영상 처리 및 응용』, 생능출판사  ·  수업 자료(CH01~03)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6314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00" b="0">
                <a:solidFill>
                  <a:srgbClr val="2E5A75"/>
                </a:solidFill>
                <a:latin typeface="페이퍼로지 8 ExtraBold"/>
                <a:ea typeface="페이퍼로지 8 ExtraBold"/>
                <a:cs typeface="페이퍼로지 8 ExtraBold"/>
              </a:rPr>
              <a:t>CH 01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3312" y="4166235"/>
            <a:ext cx="2194560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4526280"/>
            <a:ext cx="142646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영상은 숫자다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709285"/>
            <a:ext cx="142646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Digital Images,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6583680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화소, 영상의 최소 단위   ·   결과물로 나누는 두 수준   ·   달 사진에서 스마트폰까지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087743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비전·그래픽스와 경계 긋기   ·   빛이 숫자가 되기까지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7591806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행렬로 읽는 영상   ·   산업 속 영상처리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가져갈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영상은 숫자다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50579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영상처리를 </a:t>
            </a:r>
            <a:r>
              <a:rPr sz="29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한 문장으로 정의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한다 — 화소에 가하는 수학 연산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45643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48214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235261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아날로그 빛이 디지털 영상이 되는 두 단계, </a:t>
            </a:r>
            <a:r>
              <a:rPr sz="29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표본화와 양자화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설명한다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34111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36683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119943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영상처리·컴퓨터 비전·그래픽스를 </a:t>
            </a:r>
            <a:r>
              <a:rPr sz="29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입출력 기준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 구분한다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554980"/>
            <a:ext cx="16239744" cy="406336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89888" y="575043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미리 보는 결론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6377940"/>
            <a:ext cx="15508224" cy="3116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영상은 </a:t>
            </a:r>
            <a:r>
              <a:rPr sz="29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숫자 행렬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화소 하나하나가 숫자이므로, 영상을 바꾸는 일은 결국 행렬 계산이다.</a:t>
            </a:r>
          </a:p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관점 하나가 1장 전체를 관통한다.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화소 — 영상의 최소 단위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영상은 숫자다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34924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2809036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용어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1532" y="2571750"/>
            <a:ext cx="703137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61815" y="2571750"/>
            <a:ext cx="508260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쉽게 말하면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106674"/>
            <a:ext cx="16239744" cy="96697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106674"/>
            <a:ext cx="2735884" cy="9669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화소 (pixel)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8108" y="3106674"/>
            <a:ext cx="6958218" cy="9669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영상의 가장 작은 구성 요소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98391" y="3106674"/>
            <a:ext cx="5009448" cy="9669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모니터를 확대하면 보이는 점 하나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73652"/>
            <a:ext cx="2735884" cy="9669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 (image)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8108" y="4073652"/>
            <a:ext cx="6958218" cy="9669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밝기·색상이 다른 일정한 수의 화소들의 모임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98391" y="4073652"/>
            <a:ext cx="5009448" cy="9669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점(숫자)들이 모인 격자판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5040630"/>
            <a:ext cx="16239744" cy="96697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5040630"/>
            <a:ext cx="2735884" cy="9669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8108" y="5040630"/>
            <a:ext cx="6958218" cy="9669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목적을 위해 화소들에 수학적 연산을 가해</a:t>
            </a:r>
          </a:p>
          <a:p>
            <a:pPr algn="l">
              <a:lnSpc>
                <a:spcPct val="128000"/>
              </a:lnSpc>
            </a:pPr>
            <a:r>
              <a:rPr sz="2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변화를 주는 기술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98391" y="5040630"/>
            <a:ext cx="5009448" cy="9669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숫자판을 계산으로 바꾸는 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6789420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89888" y="698487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처리 대상에 따라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7612380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아날로그 영상처리  /  </a:t>
            </a:r>
            <a:r>
              <a:rPr sz="29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디지털 영상처리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이 과목에서 다루는 것은 디지털이다.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1.1절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모든 화소에 100을 더하면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영상은 숫자다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972800" cy="5349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1_ex_bright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111" y="2664333"/>
            <a:ext cx="9918833" cy="471144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7468362"/>
            <a:ext cx="1097280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7468362"/>
            <a:ext cx="104607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그림 1.1.1 영상처리의 예 — 교재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435840" y="2571750"/>
            <a:ext cx="4828032" cy="534924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0" y="2767203"/>
            <a:ext cx="40965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이것이 영상처리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0" y="3394710"/>
            <a:ext cx="4096512" cy="4402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'밝기 조절'의 정체는</a:t>
            </a:r>
          </a:p>
          <a:p>
            <a:pPr algn="l">
              <a:lnSpc>
                <a:spcPct val="142000"/>
              </a:lnSpc>
            </a:pPr>
            <a:r>
              <a:rPr sz="22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모든 화소에 같은 수를</a:t>
            </a:r>
          </a:p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더하는 것</a:t>
            </a:r>
            <a:r>
              <a:rPr sz="22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이다.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+100 → 밝아진다</a:t>
            </a:r>
          </a:p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−100 → 어두워진다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포토샵 슬라이더 뒤에서</a:t>
            </a:r>
          </a:p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일어나는 일이 바로 이 연산.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어두운 야경에 +100, 밝은 야경에 −100 — 위아래 쌍을 비교해 설명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1.1절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결과물로 나누는 두 수준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영상은 숫자다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3867912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5691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저수준 영상처리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5648" y="331241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326880" y="2571750"/>
            <a:ext cx="7936992" cy="3867912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0" y="275691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고수준 영상처리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331241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572768" y="3477006"/>
            <a:ext cx="6839712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결과가 </a:t>
            </a:r>
            <a:r>
              <a:rPr sz="28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영상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477006"/>
            <a:ext cx="6839712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결과가 </a:t>
            </a:r>
            <a:r>
              <a:rPr sz="28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영상의 특성·정보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382261"/>
            <a:ext cx="6839712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잡음 제거, 밝기 조절, 선명화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4382261"/>
            <a:ext cx="6839712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물체 인식, 얼굴 인식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287518"/>
            <a:ext cx="6839712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과목 2부의 중심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5287518"/>
            <a:ext cx="6839712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컴퓨터 비전과 겹치는 영역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6480810"/>
            <a:ext cx="16239744" cy="21602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89888" y="667626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구분 요령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7303770"/>
            <a:ext cx="15508224" cy="12138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8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결과물이 무엇인가</a:t>
            </a: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만 보면 된다. 영상이 나오면 저수준, 정보가 나오면 고수준.</a:t>
            </a:r>
          </a:p>
          <a:p>
            <a:pPr algn="l">
              <a:lnSpc>
                <a:spcPct val="142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'기본적인 영상처리'라고 하면 보통 저수준을 가리킨다.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1.2절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달 사진에서 스마트폰까지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영상은 숫자다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248424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시기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6737" y="2571750"/>
            <a:ext cx="1287767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사건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086100"/>
            <a:ext cx="16239744" cy="78181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086100"/>
            <a:ext cx="2411089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1920년대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3313" y="3086100"/>
            <a:ext cx="12804526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런던–뉴욕 해저 케이블로 신문 사진 전송 — 1주일 → 약 3시간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67912"/>
            <a:ext cx="2411089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1940~50년대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3313" y="3867912"/>
            <a:ext cx="12804526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폰 노이만 컴퓨터 개념 · 트랜지스터 · IC(1958) — 기술 토대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649724"/>
            <a:ext cx="16239744" cy="78181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4649724"/>
            <a:ext cx="2411089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1960년대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3313" y="4649724"/>
            <a:ext cx="12804526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우주 탐사 — Ranger 7호 달 영상의 훼손을 JPL이 컴퓨터로 복원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431536"/>
            <a:ext cx="2411089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1970년대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3313" y="5431536"/>
            <a:ext cx="12804526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CT · MRI 등 의료 분야, 원격 탐사, 우주 항공으로 확대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6213348"/>
            <a:ext cx="16239744" cy="78181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6213348"/>
            <a:ext cx="2411089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1990년대~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3313" y="6213348"/>
            <a:ext cx="12804526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인터넷 · 디지털 방송 · 디지털 카메라 — 응용 폭발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6995160"/>
            <a:ext cx="2411089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현재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3313" y="6995160"/>
            <a:ext cx="12804526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스마트폰 카메라 — 누구나 영상을 얻는 시대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1920년대는 컴퓨터가 없어 '디지털 영상처리의 시작'으로 인정되지 않는다 — 시험 포인트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1.3절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비전·그래픽스와 경계 긋기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영상은 숫자다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34924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3458626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분야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1122" y="2571750"/>
            <a:ext cx="2159447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39481" y="2571750"/>
            <a:ext cx="2809036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출력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87430" y="2571750"/>
            <a:ext cx="6056985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106674"/>
            <a:ext cx="16239744" cy="90525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0160" y="3106674"/>
            <a:ext cx="3385474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7698" y="3106674"/>
            <a:ext cx="2086295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6057" y="3106674"/>
            <a:ext cx="2735884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24006" y="3106674"/>
            <a:ext cx="5983833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흐린 사진 → 선명한 사진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011930"/>
            <a:ext cx="3385474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컴퓨터 비전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7698" y="4011930"/>
            <a:ext cx="2086295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6057" y="4011930"/>
            <a:ext cx="2735884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서술(정보)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24006" y="4011930"/>
            <a:ext cx="5983833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얼굴 사진 → "이 사람은 누구"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4917186"/>
            <a:ext cx="16239744" cy="90525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80160" y="4917186"/>
            <a:ext cx="3385474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컴퓨터 그래픽스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7698" y="4917186"/>
            <a:ext cx="2086295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서술(정보)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6057" y="4917186"/>
            <a:ext cx="2735884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24006" y="4917186"/>
            <a:ext cx="5983833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CAD 치수 입력 → 물체 그림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6377940"/>
            <a:ext cx="16239744" cy="226314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389888" y="657339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비유로 기억하기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88" y="7200900"/>
            <a:ext cx="1550822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영상처리는 </a:t>
            </a:r>
            <a:r>
              <a:rPr sz="24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사진 보정사</a:t>
            </a:r>
            <a:r>
              <a:rPr sz="2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컴퓨터 비전은 </a:t>
            </a:r>
            <a:r>
              <a:rPr sz="24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사진을 읽는 탐정</a:t>
            </a:r>
            <a:r>
              <a:rPr sz="2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그래픽스는 </a:t>
            </a:r>
            <a:r>
              <a:rPr sz="24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설계도만 보고 그리는 화가</a:t>
            </a:r>
            <a:r>
              <a:rPr sz="2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  <a:p>
            <a:pPr algn="l">
              <a:lnSpc>
                <a:spcPct val="142000"/>
              </a:lnSpc>
            </a:pPr>
            <a:r>
              <a:rPr sz="24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세 분야는 내용이 일부 겹쳐 경계가 항상 명확하지는 않다.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1.4절 · 그림 1.4.1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빛이 숫자가 되기까지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영상은 숫자다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3840480" cy="17487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3840480" cy="102870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16735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광원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5" y="3209544"/>
            <a:ext cx="3255264" cy="966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태양·조명이</a:t>
            </a:r>
          </a:p>
          <a:p>
            <a:pPr algn="ctr">
              <a:lnSpc>
                <a:spcPct val="135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에너지(빛)를 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321983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7216" y="2571750"/>
            <a:ext cx="3840480" cy="17487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157216" y="2571750"/>
            <a:ext cx="3840480" cy="102870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49824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물체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3209544"/>
            <a:ext cx="3255264" cy="966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빛의 일부를</a:t>
            </a:r>
          </a:p>
          <a:p>
            <a:pPr algn="ctr">
              <a:lnSpc>
                <a:spcPct val="135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반사한다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321983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90304" y="2571750"/>
            <a:ext cx="3840480" cy="17487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290304" y="2571750"/>
            <a:ext cx="3840480" cy="102870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582912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카메라 센서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3209544"/>
            <a:ext cx="3255264" cy="966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반사된 빛을</a:t>
            </a:r>
          </a:p>
          <a:p>
            <a:pPr algn="ctr">
              <a:lnSpc>
                <a:spcPct val="135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감지한다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57632" y="321983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423392" y="2571750"/>
            <a:ext cx="3840480" cy="17487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3423392" y="2571750"/>
            <a:ext cx="3840480" cy="102870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3716000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디지털 영상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0" y="3209544"/>
            <a:ext cx="3255264" cy="966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표본화·양자화를</a:t>
            </a:r>
          </a:p>
          <a:p>
            <a:pPr algn="ctr">
              <a:lnSpc>
                <a:spcPct val="135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거쳐 저장된다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4680585"/>
            <a:ext cx="10058400" cy="396049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389888" y="4876038"/>
            <a:ext cx="9326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영상 형성 모델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88" y="5503545"/>
            <a:ext cx="9326880" cy="30140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f(x, y)  =  i(x, y)  ×  r(x, y)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i(x, y) — 물체에 비친 </a:t>
            </a:r>
            <a:r>
              <a:rPr sz="23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조명의 세기</a:t>
            </a: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r(x, y) — 표면의 </a:t>
            </a:r>
            <a:r>
              <a:rPr sz="23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반사 계수</a:t>
            </a: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(0 ~ 1)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사진 밝기 = 조명 × 반사율.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521440" y="4680585"/>
            <a:ext cx="5742432" cy="396049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1887200" y="4876038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광원이 바뀌면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0" y="5503545"/>
            <a:ext cx="5010912" cy="30140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가시광선 → 일반 사진</a:t>
            </a: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적외선 → 적외선 영상</a:t>
            </a: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X선 → 의료 영상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광원의 주파수가</a:t>
            </a: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응용 분야를 가른다.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매끄러운 표면은 r이 커서 밝게, 거친 표면은 어둡게 찍힌다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1.5절 · 그림 1.5.1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표본화와 양자화 — 칸을 나누고 반올림한다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영상은 숫자다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1_samp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253" y="2664333"/>
            <a:ext cx="12761494" cy="38884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645402"/>
            <a:ext cx="1623974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645402"/>
            <a:ext cx="1572768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연속 신호(왼쪽)를 유한 개 위치로 자르고(가운데), 정해진 밝기 단계로 반올림한다(오른쪽)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7355205"/>
            <a:ext cx="7936992" cy="1810512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7540371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표본화 sampling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55648" y="8095869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326880" y="7355205"/>
            <a:ext cx="7936992" cy="1810512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0" y="7540371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양자화 quantization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8095869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572768" y="8260461"/>
            <a:ext cx="6839712" cy="6275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몇 칸</a:t>
            </a: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 쪼갤까 → 해상도 M×N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8260461"/>
            <a:ext cx="6839712" cy="6275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몇 단계</a:t>
            </a: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밝기로 할까 → L = 2^k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128.345로 표본화된 값도 8비트로는 128로 저장된다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1.5절 · 그림 1.5.2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행렬로 읽는 영상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영상은 숫자다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972800" cy="51435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1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908" y="2664333"/>
            <a:ext cx="10511239" cy="450570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7262622"/>
            <a:ext cx="1097280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7262622"/>
            <a:ext cx="104607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원점은 왼쪽 위 (0,0) — 확대하면 화소마다 밝기 숫자가 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435840" y="2571750"/>
            <a:ext cx="4828032" cy="514350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0" y="2767203"/>
            <a:ext cx="40965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꼭 외울 세 가지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0" y="3394710"/>
            <a:ext cx="4096512" cy="4197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크기 — </a:t>
            </a:r>
            <a:r>
              <a:rPr sz="25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M × N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화소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밝기 단계 — </a:t>
            </a:r>
            <a:r>
              <a:rPr sz="25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L = 2^k</a:t>
            </a:r>
          </a:p>
          <a:p>
            <a:pPr algn="l">
              <a:lnSpc>
                <a:spcPct val="142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k=8이면 256단계 (0~255)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저장 공간 — </a:t>
            </a:r>
            <a:r>
              <a:rPr sz="25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S = M×N×k 비트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화소가 정수이므로 영상은 행렬 — 모든 영상처리는 행렬 연산이다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1.6절 · 그림 1.6.1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숫자판의 크기 계산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영상은 숫자다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81440"/>
            <a:ext cx="15471648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문제 — 그레이 레벨 256, 크기 </a:t>
            </a:r>
            <a:r>
              <a:rPr sz="29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1,024 × 768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영상의 저장 공간은?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39471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42042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204400"/>
            <a:ext cx="15471648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그레이 레벨 256 = 2^8  →  </a:t>
            </a:r>
            <a:r>
              <a:rPr sz="29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k = 8비트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21767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24338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027360"/>
            <a:ext cx="15471648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 = M × N × k = 1024 × 768 × 8 = </a:t>
            </a:r>
            <a:r>
              <a:rPr sz="29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6,291,456 비트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04063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506634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2223" y="4850320"/>
            <a:ext cx="15471648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8로 나누면 786,432 바이트 = </a:t>
            </a:r>
            <a:r>
              <a:rPr sz="29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768 KB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6172200"/>
            <a:ext cx="16239744" cy="246888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426464" y="634707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단위 함정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6809994"/>
            <a:ext cx="15435071" cy="16870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 공식의 결과는 </a:t>
            </a:r>
            <a:r>
              <a:rPr sz="30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비트</a:t>
            </a:r>
            <a:r>
              <a:rPr sz="30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다. 바이트로 물으면 8로 나눠야 한다.</a:t>
            </a:r>
          </a:p>
          <a:p>
            <a:pPr algn="l">
              <a:lnSpc>
                <a:spcPct val="140000"/>
              </a:lnSpc>
            </a:pPr>
            <a:r>
              <a:rPr sz="30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그레이 레벨 수(256)와 비트 수(8)를 바꿔 쓰지 말 것 — L = 2^k 관계다.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연습문제 1-8 유형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모든 처리는 한 문장 — g = T[f]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영상은 숫자다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777490"/>
            <a:ext cx="16239744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g(x, y)  =  T[ f(x, y)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432054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43584" y="4320540"/>
            <a:ext cx="280903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기호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1532" y="4320540"/>
            <a:ext cx="12552883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의미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4834890"/>
            <a:ext cx="16239744" cy="80238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4834890"/>
            <a:ext cx="2735884" cy="8023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f(x, 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8108" y="4834890"/>
            <a:ext cx="12479731" cy="8023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입력 영상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637276"/>
            <a:ext cx="2735884" cy="8023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T[ ·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8108" y="5637276"/>
            <a:ext cx="12479731" cy="8023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변환 — 화소 처리 · 영역 처리 · 기하학 처리 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6439662"/>
            <a:ext cx="16239744" cy="80238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80160" y="6439662"/>
            <a:ext cx="2735884" cy="8023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g(x, 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8108" y="6439662"/>
            <a:ext cx="12479731" cy="8023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처리된 출력 영상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7406640"/>
            <a:ext cx="16239744" cy="123444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89888" y="7550658"/>
            <a:ext cx="15508224" cy="419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앞으로의 지도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8042376"/>
            <a:ext cx="15508224" cy="4752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2부에서 배울 모든 기법이 결국 </a:t>
            </a:r>
            <a:r>
              <a:rPr sz="2200" b="0">
                <a:solidFill>
                  <a:srgbClr val="2F5DA8"/>
                </a:solidFill>
                <a:latin typeface="프리젠테이션 5 Medium"/>
                <a:ea typeface="프리젠테이션 5 Medium"/>
                <a:cs typeface="프리젠테이션 5 Medium"/>
              </a:rPr>
              <a:t>T를 무엇으로 정하느냐</a:t>
            </a: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의 문제다. +100 더하기도 T의 하나.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1.6절 · 그림 1.6.2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산업 속 영상처리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영상은 숫자다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169408" cy="21602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07008" y="2736342"/>
            <a:ext cx="480364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의료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3394710"/>
            <a:ext cx="4730496" cy="7560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CT · MRI · PET</a:t>
            </a:r>
          </a:p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태아 초음파, 3D 재구성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9296" y="2571750"/>
            <a:ext cx="5169408" cy="21602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42176" y="2736342"/>
            <a:ext cx="480364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방송 통신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8752" y="3394710"/>
            <a:ext cx="4730496" cy="7560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디지털 방송 압축 전송</a:t>
            </a:r>
          </a:p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스트라이크 존 · 가상 광고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94463" y="2571750"/>
            <a:ext cx="5169408" cy="21602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277343" y="2736342"/>
            <a:ext cx="480364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공장 자동화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13920" y="3394710"/>
            <a:ext cx="4730496" cy="7560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제품 불량 자동 판별</a:t>
            </a:r>
          </a:p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= 머신 비전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989195"/>
            <a:ext cx="5169408" cy="21602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5153787"/>
            <a:ext cx="480364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출판·사진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5812155"/>
            <a:ext cx="4730496" cy="7560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품질 향상 · 색상 조작</a:t>
            </a:r>
          </a:p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광고 사진 합성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9296" y="4989195"/>
            <a:ext cx="5169408" cy="21602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742176" y="5153787"/>
            <a:ext cx="480364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애니메이션·게임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8752" y="5812155"/>
            <a:ext cx="4730496" cy="7560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실사 + 그래픽 조합</a:t>
            </a:r>
          </a:p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고화질 렌더링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094463" y="4989195"/>
            <a:ext cx="5169408" cy="21602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277343" y="5153787"/>
            <a:ext cx="4803648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기상·지질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13920" y="5812155"/>
            <a:ext cx="4730496" cy="7560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위성 영상 분석</a:t>
            </a:r>
          </a:p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멀티스펙트럴 영상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7355205"/>
            <a:ext cx="16239744" cy="128587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389888" y="7499223"/>
            <a:ext cx="15508224" cy="4371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그리고 계속 자라는 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8008429"/>
            <a:ext cx="15508224" cy="509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내용기반 영상검색 · 디지털 워터마킹(저작권) · 스테가노그라피(정보 은닉) · 계산 사진학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1.7절 · 그림 1.7.11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CH 01 핵심 요약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01 · 영상은 숫자다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67462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011680" y="267462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67462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 = 화소에 가하는 수학적 연산. 결과가 영상이면 저수준, 정보면 고수준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401193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011680" y="401193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1193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 = i × r 로 형성되고, 표본화(해상도) · 양자화(밝기 단계)로 디지털이 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534924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011680" y="534924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34924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M×N 화소, L = 2^k 단계, S = M×N×k 비트 — 영상은 숫자 행렬이다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668655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011680" y="668655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>
                <a:solidFill>
                  <a:srgbClr val="2F5DA8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668655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모든 처리는 g = T[f] — T를 배우는 것이 이 과목의 여정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