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문법 나열이 아니라 '넘파이로 가는 길'이라는 스토리로 묶는다.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int()가 버림이라는 것, uint8 변환 때 다시 만난다.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표를 다 외우게 하기보다, 컬렉션 리터럴 네 가지의 괄호 모양을 눈에 익히게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insert(3,'b')를 하면 뒤 원소가 밀린다는 것, 사전은 킷값 접근이라는 것 정도만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파이참이 문자열 중간에서 엔터 치면 자동으로 \와 따옴표를 넣어 준다는 팁도.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식 = 피연산자 + 연산자라는 정의도 한 줄로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a[:-4:-1] 같은 건 그림으로만. ROI 예고가 이 슬라이드의 진짜 목적.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가지 for가 전부 합계 700으로 같다는 것 — 상황에 맞는 선택이 파이썬다움.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내장함수 표(abs, divmod, map, zip 등 24개)는 유인물로 대체. divmod(5,3)=(1,2) 정도만 시연.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3장의 클라이맥스. '넘파이=영상' 등식을 반복해서 말한다.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np.int 삭제 이슈는 교재대로 치면 실제로 에러가 난다. 직접 보여 주면 각인된다.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실행 결과를 함께 읽는 연습. 대괄호 겹 수로 차원을 세는 요령을 알려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다음: PART 1의 남은 장(OpenCV 기초 함수)으로 — 드디어 진짜 영상을 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>
                <a:solidFill>
                  <a:srgbClr val="C9D4E2"/>
                </a:solidFill>
                <a:latin typeface="페이퍼로지 6 SemiBold"/>
                <a:ea typeface="페이퍼로지 6 SemiBold"/>
                <a:cs typeface="페이퍼로지 6 SemiBold"/>
              </a:rPr>
              <a:t>CHAPTER 03  ·  파이썬 최소 문법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2A5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정성환·배종욱, 『OpenCV-Python으로 배우는 영상 처리 및 응용』 (생능출판사)</a:t>
            </a:r>
          </a:p>
          <a:p>
            <a:pPr algn="l">
              <a:lnSpc>
                <a:spcPct val="170000"/>
              </a:lnSpc>
            </a:pPr>
            <a:r>
              <a:rPr sz="25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정성환·배종욱, 『OpenCV-Python으로 배우는 영상 처리 및 응용』, 생능출판사  ·  수업 자료(CH01~03)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>
                <a:solidFill>
                  <a:srgbClr val="2E5A75"/>
                </a:solidFill>
                <a:latin typeface="페이퍼로지 8 ExtraBold"/>
                <a:ea typeface="페이퍼로지 8 ExtraBold"/>
                <a:cs typeface="페이퍼로지 8 ExtraBold"/>
              </a:rPr>
              <a:t>CH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파이썬 최소 문법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Just Enough Python for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리터럴·변수·동적 타입   ·   값을 담는 네 가지 그릇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명령행 문법   ·   연산자와 슬라이스   ·   조건과 반복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B9C8D2"/>
                </a:solidFill>
                <a:latin typeface="프리젠테이션 5 Medium"/>
                <a:ea typeface="프리젠테이션 5 Medium"/>
                <a:cs typeface="프리젠테이션 5 Medium"/>
              </a:rPr>
              <a:t>·  함수와 모듈   ·   넘파이, 영상의 그릇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OpenCV에 필요한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파이썬 문법 최소 세트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손에 익힌다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슬라이스 `[시작:끝:간격]`를 자유자재로 다룬다 — 곧 영상 자르기가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B05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넘파이 ndarray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만들고 모양(shape)을 다룬다 — 영상 그 자체다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이 장의 종착지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3장은 사실상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'영상을 담을 그릇 만드는 법'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OpenCV-Python의 영상이 곧 넘파이 ndarray이기 때문 — 모든 절이 3.6절을 향해 간다.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리터럴 · 상수 · 변수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83465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개념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7148" y="2571750"/>
            <a:ext cx="703137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87430" y="2571750"/>
            <a:ext cx="6056985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843534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리터럴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724" y="3086100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값 그 자체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24006" y="3086100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4,  3.14,  'This is Python',  True,  None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929634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상수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724" y="3929634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파이썬엔 const가 없다 → 대문자 변수 관례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24006" y="3929634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MAX_SIZE = 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773168"/>
            <a:ext cx="16239744" cy="843534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773168"/>
            <a:ext cx="1761500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724" y="4773168"/>
            <a:ext cx="6958218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1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값이 든 기억 장치 공간 — 자료형은 할당 때 결정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24006" y="4773168"/>
            <a:ext cx="5983833" cy="8435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100  (동적 타입)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5966460"/>
            <a:ext cx="7863840" cy="267462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161913"/>
            <a:ext cx="713232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동적 타입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6789420"/>
            <a:ext cx="7132320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자료형을 미리 선언하지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100 → int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x = 3.14 → float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type()으로 언제든 확인.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00032" y="5966460"/>
            <a:ext cx="7863840" cy="267462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765792" y="6161913"/>
            <a:ext cx="713232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형 변환 함정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65792" y="6789420"/>
            <a:ext cx="7132320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float(100) → 100.0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int(3.14) →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3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반올림이 아니라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버림</a:t>
            </a: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소수점 이하는 소실된다.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3.1.1~3.1.2절 · 예제 3.1.1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리터럴의 다섯 종류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83465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종류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7148" y="2571750"/>
            <a:ext cx="508260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세부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38661" y="2571750"/>
            <a:ext cx="800575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724" y="308610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정수 · 실수 · 복소수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5237" y="308610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4,  3.141592,  3+5j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0619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문자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3724" y="380619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따옴표로 묶인 문자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5237" y="380619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"This is Python",  '작은따옴표도 됨'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52628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52628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논리값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3724" y="452628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True / False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5237" y="452628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True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4637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특수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3724" y="524637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None (값이 없음)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5237" y="524637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5966460"/>
            <a:ext cx="16239744" cy="720090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80160" y="5966460"/>
            <a:ext cx="1761500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컬렉션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3724" y="5966460"/>
            <a:ext cx="5009448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리스트 · 튜플 · 집합 · 사전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5237" y="5966460"/>
            <a:ext cx="7932602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[1,2,3]  (3,5,7)  {'a','b'}  {'a':'apple'}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4128" y="6840855"/>
            <a:ext cx="16239744" cy="180022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389888" y="703630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왜 종류를 알아야 하나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9888" y="7663815"/>
            <a:ext cx="15508224" cy="853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변수의 자료형은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어떤 리터럴이 담기느냐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로 결정되기 때문이다(동적 타입).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type()으로 확인하면 int, float, complex, str, bool로 표시된다.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3.1.1절 · 표 3.1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값을 담는 네 가지 그릇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07008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리스트  [ 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추가·삭제·변경 자유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3584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자유로운 줄 세우기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75503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58383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튜플  ( 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어떤 변경도 불가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잠긴 리스트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0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사전  {키:값}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키로 원소 접근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46336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이름표 달린 서랍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478255" y="2571750"/>
            <a:ext cx="3785616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661135" y="2736342"/>
            <a:ext cx="3419856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집합  set()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697711" y="3394710"/>
            <a:ext cx="3346704" cy="7920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>
                <a:solidFill>
                  <a:srgbClr val="1E2A30"/>
                </a:solidFill>
                <a:latin typeface="페이퍼로지 6 SemiBold"/>
                <a:ea typeface="페이퍼로지 6 SemiBold"/>
                <a:cs typeface="페이퍼로지 6 SemiBold"/>
              </a:rPr>
              <a:t>중복 자동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97711" y="4197096"/>
            <a:ext cx="33467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중복 없애는 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4128" y="5194935"/>
            <a:ext cx="10058400" cy="339471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426464" y="5338953"/>
            <a:ext cx="9253728" cy="312724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list1 = [1, 2, 3, 4]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tuple1 = (1, 2)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dict1 = {'name': '김민', 'email': 'daum.net'}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list1[0] = 5            # 리스트: 변경 OK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tuple1[0] = 5         # 에러! 튜플은 불변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dict1['email'] = 'naver.com'   # 키로 접근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print(set1 &amp; set2)      # &amp; 교집합, | 합집합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521440" y="5194935"/>
            <a:ext cx="5742432" cy="339471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1887200" y="539038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영상처리 연결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0" y="6017895"/>
            <a:ext cx="5010912" cy="24483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OpenCV 반환값은 튜플이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많다 — image.shape도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(행, 열) 튜플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설정값 전달엔 리스트·튜플을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늘 쓰게 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3.1.3절 · 예제 3.1.2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명령행 문법 — 줄을 잇고 나누는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32184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문법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4340" y="2571750"/>
            <a:ext cx="573219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하는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75443" y="2571750"/>
            <a:ext cx="686897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6239744" cy="76123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\  역슬래시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40916" y="3086100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명령을 여러 줄에 이어 쓰기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12019" y="3086100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days = (year-1) * ratio + \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847338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 ] 안 줄바꿈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0916" y="3847338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리스트 원소는 \ 없이 여러 줄 가능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12019" y="3847338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months = [31, 28, 31, 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608576"/>
            <a:ext cx="16239744" cy="761238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608576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;  세미콜론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0916" y="4608576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줄에 여러 명령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12019" y="4608576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day = 7; ratio = 365.2425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369814"/>
            <a:ext cx="224869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 다중 할당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40916" y="5369814"/>
            <a:ext cx="565903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여러 변수 동시 선언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12019" y="5369814"/>
            <a:ext cx="6795820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year, month = 2020,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223635"/>
            <a:ext cx="16239744" cy="241744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641908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용어 정리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046595"/>
            <a:ext cx="15508224" cy="147104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물리적 명령행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= 눈에 보이는 한 줄  /  </a:t>
            </a: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논리적 명령행</a:t>
            </a: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= 인터프리터가 인식하는 명령 한 단위.</a:t>
            </a:r>
          </a:p>
          <a:p>
            <a:pPr algn="l">
              <a:lnSpc>
                <a:spcPct val="142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예제 3.2.1은 이 문법들로 '서기 1년부터의 총일수'(2020.1.7 → 737,431일)를 계산한다.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3.2절 · 예제 3.2.1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연산자 — 헷갈리는 것만 정확히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14350"/>
          </a:xfrm>
          <a:prstGeom prst="roundRect">
            <a:avLst>
              <a:gd name="adj" fmla="val 3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117043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연산자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571750"/>
            <a:ext cx="3986784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2571750"/>
            <a:ext cx="358444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086100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086100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9504" y="3086100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나눗셈 — 항상 실수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3086100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/ 2  →  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785616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9504" y="3785616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몫만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785616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// 2  → 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485132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485132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4485132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나머지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4485132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5 % 2  → 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184648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2889504" y="5184648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거듭제곱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5184648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3 </a:t>
            </a:r>
            <a:r>
              <a:rPr sz="25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3  →  27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5884164"/>
            <a:ext cx="10058400" cy="699516"/>
          </a:xfrm>
          <a:prstGeom prst="roundRect">
            <a:avLst>
              <a:gd name="adj" fmla="val 1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80160" y="5884164"/>
            <a:ext cx="1097280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9504" y="5884164"/>
            <a:ext cx="3913632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숫자는 덧셈, 문자열은 붙이기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5884164"/>
            <a:ext cx="3511296" cy="6995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'a'+'b' → 'ab'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631168" y="2571750"/>
            <a:ext cx="5632704" cy="34975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996928" y="2767203"/>
            <a:ext cx="490118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우선순위 큰 그림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96928" y="3394710"/>
            <a:ext cx="4901184" cy="25511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괄호 →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→ 곱셈류 →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덧셈류 → 비교 → 논리 →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할당(=, 꼴찌)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헷갈리면 </a:t>
            </a:r>
            <a:r>
              <a:rPr sz="1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괄호</a:t>
            </a: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쓰면</a:t>
            </a:r>
          </a:p>
          <a:p>
            <a:pPr algn="l">
              <a:lnSpc>
                <a:spcPct val="142000"/>
              </a:lnSpc>
            </a:pPr>
            <a:r>
              <a:rPr sz="1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그만이다.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426464" y="665568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표 2가지 바로잡기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26464" y="7118604"/>
            <a:ext cx="15435071" cy="13784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표 3.2의 &lt;&gt;는 파이썬 2 유물 — 파이썬 3는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!=만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쓴다.</a:t>
            </a:r>
          </a:p>
          <a:p>
            <a:pPr algn="l">
              <a:lnSpc>
                <a:spcPct val="140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멤버 연산 예시는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4 in [1, 4, 5] → True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올바른 순서다(교재 인쇄가 뒤집혀 있음).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3.3.1절 · 표 3.2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슬라이스 — 매일 쓰게 될 문법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5262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3_sl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204" y="2664333"/>
            <a:ext cx="7307592" cy="388848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64540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64540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객체[시작:끝:간격] — 끝 인덱스는 포함되지 않는다 · 간격이 음수면 역순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355205"/>
            <a:ext cx="10058400" cy="226314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458075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2부 미리보기 — 슬라이스가 곧 영상 편집이다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7951851"/>
            <a:ext cx="9253728" cy="15430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roi = image[100:200, 50:150]   # 관심영역(ROI) 자르기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flip = image[::-1]             # 상하 반전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21440" y="7355205"/>
            <a:ext cx="5742432" cy="22631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887200" y="755065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기억 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0" y="8178165"/>
            <a:ext cx="5010912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끝은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미포함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[::-1]은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통째로 역순</a:t>
            </a: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3.3.2절 · 예제 3.3.1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조건과 반복 — 파이썬다운 세 가지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8046720" cy="6017895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7315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3.4.1 ~ 3.4.2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7242048" cy="529780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① if - elif - else (윤년 검사)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if (year % 4==0) and (year % 100 != 0):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윤년입니다.")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elif year % 400==0: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윤년입니다.")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print(year, "는 윤년이 아닙니다.")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② while - else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while n&gt;=0: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m = input("Enter a integer: ")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if int(m)==0: break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n = n - 1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else: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print('4 inputs.')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571750"/>
            <a:ext cx="7754112" cy="339471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875520" y="2674620"/>
            <a:ext cx="702259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12096" y="3168396"/>
            <a:ext cx="6949440" cy="26746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# ③ for ~ in, 네 가지 순회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i in range(0, 5):   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k in kor:           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i, k in enumerate(kor): ...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for k, e in zip(kor, eng):  ...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0" y="6223635"/>
            <a:ext cx="7754112" cy="236601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875520" y="6419088"/>
            <a:ext cx="702259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포인트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0" y="7046595"/>
            <a:ext cx="7022592" cy="14196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블록은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들여쓰기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 헤더 끝은 </a:t>
            </a: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콜론(:)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while-else</a:t>
            </a: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break 없이 끝나야 else 실행</a:t>
            </a:r>
          </a:p>
          <a:p>
            <a:pPr algn="l">
              <a:lnSpc>
                <a:spcPct val="142000"/>
              </a:lnSpc>
            </a:pPr>
            <a:r>
              <a:rPr sz="22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인덱스는 enumerate, 나란히는 zip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3.4절 · 예제 3.4.1~3.4.3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함수 — 반환도 여럿, 인수도 기본값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534924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3.5.1 (08.def.py)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462915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def calc_area(type, a, b, c=None):   # c는 기본값 인수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if type == 1 :                   # 사각형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a * b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'사각형'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elif type == 2:                  # 삼각형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a * b / 2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'삼각형'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elif type == 3:                  # 사다리꼴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result = (a + b) * c / 2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msg = '사다리꼴'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return result, msg               # 2개 반환 → 튜플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ret = calc_area(type=1, a=5, b=5)    # 튜플로 받기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area, msg = calc_area(2, 5, 5)       # 풀어서 받기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area2, _ = calc_area(3, 10, 7, 5)    # _ 는 버리기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308610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포인트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① 여러 값 반환 =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튜플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 기본값 인수 c=None</a:t>
            </a:r>
          </a:p>
          <a:p>
            <a:pPr algn="l">
              <a:lnSpc>
                <a:spcPct val="142000"/>
              </a:lnSpc>
            </a:pPr>
            <a:r>
              <a:rPr sz="29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③ 안 쓸 반환값은 </a:t>
            </a:r>
            <a:r>
              <a:rPr sz="29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_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0" y="5915025"/>
            <a:ext cx="5742432" cy="2726055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0" y="611047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모듈 = 함수 모음 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0" y="6737985"/>
            <a:ext cx="5010912" cy="177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import 파일 as 별명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from 파일 import 함수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import cv2</a:t>
            </a: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가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이 문법이다.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교재의 '평행사변형' 표기는 수식상 사다리꼴이 맞다 — 개념 바로잡음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3.5절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넘파이 — 드디어 영상의 그릇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623185"/>
            <a:ext cx="16239744" cy="7200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OpenCV-Python의 영상은 </a:t>
            </a:r>
            <a:r>
              <a:rPr sz="33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넘파이 ndarray 객체</a:t>
            </a:r>
            <a:r>
              <a:rPr sz="33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600450"/>
            <a:ext cx="10058400" cy="390906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89888" y="37033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3.6.1 (11.numpy.py) 요지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4197096"/>
            <a:ext cx="9253728" cy="31889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import numpy as np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= np.array([1, 2, 3])      # int32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b = np.array([4, 5.0, 6])    # float64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+ b     # [5. 7. 9.]  원소끼리 한 번에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* b     # [ 4. 10. 18.]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* 2     # [2 4 6]     스칼라 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521440" y="3600450"/>
            <a:ext cx="5742432" cy="39090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887200" y="37959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반복문이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0" y="4423410"/>
            <a:ext cx="5010912" cy="2962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ndarray는 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전체 원소에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연산을 한 번에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 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"영상 전체 +100 밝게" =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image + 100 </a:t>
            </a:r>
            <a:r>
              <a:rPr sz="1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한 줄</a:t>
            </a: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1장 그림 1.1.1의 구현이</a:t>
            </a:r>
          </a:p>
          <a:p>
            <a:pPr algn="l">
              <a:lnSpc>
                <a:spcPct val="142000"/>
              </a:lnSpc>
            </a:pPr>
            <a:r>
              <a:rPr sz="1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바로 이것이다.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7818120"/>
            <a:ext cx="16239744" cy="82296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89888" y="7962138"/>
            <a:ext cx="15508224" cy="2798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자료형 승격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8313953"/>
            <a:ext cx="15508224" cy="205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정수 배열과 실수 배열을 섞어 계산하면 결과는 </a:t>
            </a:r>
            <a:r>
              <a:rPr sz="13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float64로 승격</a:t>
            </a:r>
            <a:r>
              <a:rPr sz="13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된다. a는 int32, b는 5.0 때문에 float64.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3.6절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행렬 만들기 — zeros · ones · full · random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058400" cy="452628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9326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96A8A7"/>
                </a:solidFill>
                <a:latin typeface="페이퍼로지 6 SemiBold"/>
                <a:ea typeface="페이퍼로지 6 SemiBold"/>
                <a:cs typeface="페이퍼로지 6 SemiBold"/>
              </a:rPr>
              <a:t>교재 예제 3.6.2 ~ 3.6.3 요지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9253728" cy="380619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 = np.zeros((2, 5), np.int32)    # 0으로 2행 5열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b = np.ones((3, 1), np.uint8)     # 1로 3행 1열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d = np.full(5, 15, np.float32)    # 15로 1차원 5개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np.random.seed(10)                # 난수 고정(재현성)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r = np.random.rand(2, 3)          # 0~1 균등분포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 = np.random.randn(3, 2)         # 표준정규분포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 = np.random.randint(1, 100, 6)  # 1~99 정수 6개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i = i.reshape(2, -1)   # -1 = 나머지는 자동 계산</a:t>
            </a:r>
          </a:p>
          <a:p>
            <a:pPr>
              <a:lnSpc>
                <a:spcPct val="132000"/>
              </a:lnSpc>
            </a:pPr>
            <a:r>
              <a:rPr sz="15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a.flatten()            # 다차원 → 1차원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521440" y="2571750"/>
            <a:ext cx="5742432" cy="267462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0" y="2767203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shape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0" y="3394710"/>
            <a:ext cx="5010912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(1, 5) — 2차원 1행 5열</a:t>
            </a: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(5,) — 1차원 5개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0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둘은 다르다!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521440" y="5503545"/>
            <a:ext cx="5742432" cy="313753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C166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923776" y="5678424"/>
            <a:ext cx="4937760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코드 주의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23776" y="6141339"/>
            <a:ext cx="4937760" cy="23557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np.int, np.float는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NumPy 1.24부터 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삭제</a:t>
            </a: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됐다.</a:t>
            </a:r>
          </a:p>
          <a:p>
            <a:pPr algn="l">
              <a:lnSpc>
                <a:spcPct val="140000"/>
              </a:lnSpc>
            </a:pP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지금은 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np.int32,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np.float64</a:t>
            </a:r>
            <a:r>
              <a:rPr sz="18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로 써야</a:t>
            </a:r>
          </a:p>
          <a:p>
            <a:pPr algn="l">
              <a:lnSpc>
                <a:spcPct val="140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에러가 나지 않는다.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np.zeros((300,400), np.uint8) — 2장의 첫 프로그램이 바로 이 문법</a:t>
            </a:r>
          </a:p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예제 3.6.2~3.6.3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실행하면 이렇게 나온다 — shape 읽기 연습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241280" cy="4526280"/>
          </a:xfrm>
          <a:prstGeom prst="roundRect">
            <a:avLst>
              <a:gd name="adj" fmla="val 2500"/>
            </a:avLst>
          </a:prstGeom>
          <a:solidFill>
            <a:srgbClr val="FB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91440" cy="4526280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89888" y="2674620"/>
            <a:ext cx="950976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1662F"/>
                </a:solidFill>
                <a:latin typeface="페이퍼로지 8 ExtraBold"/>
                <a:ea typeface="페이퍼로지 8 ExtraBold"/>
                <a:cs typeface="페이퍼로지 8 ExtraBold"/>
              </a:rPr>
              <a:t>■  예제 3.6.2 실행 결과 (교재 기준)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6464" y="3024378"/>
            <a:ext cx="9436608" cy="39502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c 형태: (1, 5)     d 형태: (5,)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[[0 0 0 0 0]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[0 0 0 0 0]]          &lt;- a: 2행 5열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[[1]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[1]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 [1]]                  &lt;- b: 3행 1열</a:t>
            </a:r>
          </a:p>
          <a:p>
            <a:pPr>
              <a:lnSpc>
                <a:spcPct val="132000"/>
              </a:lnSpc>
            </a:pPr>
            <a:r>
              <a:rPr sz="16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[15. 15. 15. 15. 15.]  &lt;- d: 1차원 5개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14048" y="2571750"/>
            <a:ext cx="5449824" cy="452628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179808" y="2767203"/>
            <a:ext cx="471830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읽는 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79808" y="3394710"/>
            <a:ext cx="4718304" cy="3579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대괄호가 </a:t>
            </a:r>
            <a:r>
              <a:rPr sz="2700" b="0">
                <a:solidFill>
                  <a:srgbClr val="B05C22"/>
                </a:solidFill>
                <a:latin typeface="프리젠테이션 5 Medium"/>
                <a:ea typeface="프리젠테이션 5 Medium"/>
                <a:cs typeface="프리젠테이션 5 Medium"/>
              </a:rPr>
              <a:t>두 겹</a:t>
            </a: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이면 2차원,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겹이면 1차원.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(1, 5)와 (5,)가 다른 이유가</a:t>
            </a:r>
          </a:p>
          <a:p>
            <a:pPr algn="l">
              <a:lnSpc>
                <a:spcPct val="142000"/>
              </a:lnSpc>
            </a:pPr>
            <a:r>
              <a:rPr sz="27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출력에서 그대로 보인다.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740664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389888" y="755065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003956"/>
                </a:solidFill>
                <a:latin typeface="페이퍼로지 8 ExtraBold"/>
                <a:ea typeface="페이퍼로지 8 ExtraBold"/>
                <a:cs typeface="페이퍼로지 8 ExtraBold"/>
              </a:rPr>
              <a:t>영상으로 연결하면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804237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cv2로 읽은 흑백 영상의 shape는 (행, 열), 컬러 영상은 (행, 열, 3)이다. shape를 읽을 줄 알면 영상의 크기와 채널이 바로 보인다.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예제 3.6.2 실행결과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9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>
                <a:solidFill>
                  <a:srgbClr val="003956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>
                <a:solidFill>
                  <a:srgbClr val="96A8A7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영상처리시스템 · OpenCV-Python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CH 03 핵심 요약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C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03 · 파이썬 최소 문법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267462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011680" y="267462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462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동적 타입 · 자료구조 4종 — 리스트는 자유, 튜플은 불변, 사전은 키, 집합은 중복 제거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3040" y="401193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011680" y="401193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1193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슬라이스 [시작:끝:간격] — 끝 미포함, [::-1] 역순. 곧 ROI 자르기가 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63040" y="534924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011680" y="534924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534924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함수는 튜플로 여러 값 반환 · 모듈은 import — cv2, numpy도 같은 문법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63040" y="6686550"/>
            <a:ext cx="15361920" cy="1131570"/>
          </a:xfrm>
          <a:prstGeom prst="roundRect">
            <a:avLst>
              <a:gd name="adj" fmla="val 6000"/>
            </a:avLst>
          </a:prstGeom>
          <a:solidFill>
            <a:srgbClr val="DCE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011680" y="6686550"/>
            <a:ext cx="164592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500" b="0">
                <a:solidFill>
                  <a:srgbClr val="B05C22"/>
                </a:solidFill>
                <a:latin typeface="페이퍼로지 8 ExtraBold"/>
                <a:ea typeface="페이퍼로지 8 ExtraBold"/>
                <a:cs typeface="페이퍼로지 8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6686550"/>
            <a:ext cx="124358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 = ndarray. zeros로 만들고 shape로 읽고 reshape로 바꾼다 (np.int는 이제 np.int32)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