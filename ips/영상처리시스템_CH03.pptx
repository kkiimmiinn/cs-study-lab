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문법 나열이 아니라 '넘파이로 가는 길'이라는 스토리로 묶는다.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int()가 버림이라는 것, uint8 변환 때 다시 만난다.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다 외우게 하기보다, 컬렉션 리터럴 네 가지의 괄호 모양을 눈에 익히게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insert(3,'b')를 하면 뒤 원소가 밀린다는 것, 사전은 킷값 접근이라는 것 정도만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파이참이 문자열 중간에서 엔터 치면 자동으로 \와 따옴표를 넣어 준다는 팁도.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식 = 피연산자 + 연산자라는 정의도 한 줄로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a[:-4:-1] 같은 건 그림으로만. ROI 예고가 이 슬라이드의 진짜 목적.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for가 전부 합계 700으로 같다는 것 — 상황에 맞는 선택이 파이썬다움.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내장함수 표(abs, divmod, map, zip 등 24개)는 유인물로 대체. divmod(5,3)=(1,2) 정도만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3장의 클라이맥스. '넘파이=영상' 등식을 반복해서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np.int 삭제 이슈는 교재대로 치면 실제로 에러가 난다. 직접 보여 주면 각인된다.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결과를 함께 읽는 연습. 대괄호 겹 수로 차원을 세는 요령을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다음: PART 1의 남은 장(OpenCV 기초 함수)으로 — 드디어 진짜 영상을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03  ·  파이썬 둘러보기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교수님 강의 자료와 교재의 일부를 </a:t>
            </a:r>
            <a:r>
              <a:rPr sz="21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절·쪽)를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담당 교수님 강의 자료(CH01~03)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파이썬 둘러보기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A Tour of Python for Image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3.1 자료 구조   ·   3.2 명령행   ·   3.3 연산자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3.4 기본 명령문   ·   3.5 함수와 라이브러리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3.6 넘파이(NumPy) 패키지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OpenCV에 필요한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파이썬 문법 최소 세트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손에 익힌다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슬라이스 `[시작:끝:간격]`를 자유자재로 다룬다 — 곧 영상 자르기가 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0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넘파이 ndarray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만들고 모양(shape)을 다룬다 — 영상 그 자체다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40633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 장의 종착지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311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3장은 사실상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'영상을 담을 그릇 만드는 법'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OpenCV-Python의 영상이 곧 넘파이 ndarray이기 때문 — 모든 절이 3.6절을 향해 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3.1  리터럴 · 상수 · 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7148" y="2571750"/>
            <a:ext cx="703137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7430" y="2571750"/>
            <a:ext cx="605698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84353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176150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리터럴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724" y="3086100"/>
            <a:ext cx="695821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그 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24006" y="3086100"/>
            <a:ext cx="5983833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4,  3.14,  'This is Python',  True,  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29634"/>
            <a:ext cx="176150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724" y="3929634"/>
            <a:ext cx="695821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파이썬엔 const가 없다 → 대문자 변수 관례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4006" y="3929634"/>
            <a:ext cx="5983833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MAX_SIZE =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773168"/>
            <a:ext cx="16239744" cy="84353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773168"/>
            <a:ext cx="176150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724" y="4773168"/>
            <a:ext cx="695821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값이 든 기억 장치 공간 — 자료형은 할당 때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4006" y="4773168"/>
            <a:ext cx="5983833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 = 100  (동적 타입)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5966460"/>
            <a:ext cx="7863840" cy="267462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161913"/>
            <a:ext cx="71323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동적 타입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6789420"/>
            <a:ext cx="713232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자료형을 미리 선언하지 않는다.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 = 100 → int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 = 3.14 → float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type()으로 언제든 확인.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0032" y="5966460"/>
            <a:ext cx="7863840" cy="26746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65792" y="6161913"/>
            <a:ext cx="71323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형 변환 함정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6789420"/>
            <a:ext cx="713232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float(100) → 100.0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int(3.14) → </a:t>
            </a:r>
            <a:r>
              <a:rPr sz="13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반올림이 아니라 </a:t>
            </a:r>
            <a:r>
              <a:rPr sz="13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버림</a:t>
            </a: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소수점 이하는 소실된다.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3.1.1~3.1.2절 · 예제 3.1.1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표 3.1  리터럴의 다섯 종류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종류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7148" y="2571750"/>
            <a:ext cx="5082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세부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8661" y="2571750"/>
            <a:ext cx="800575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176150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724" y="3086100"/>
            <a:ext cx="500944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· 실수 · 복소수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5237" y="3086100"/>
            <a:ext cx="793260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4,  3.141592,  3+5j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06190"/>
            <a:ext cx="176150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724" y="3806190"/>
            <a:ext cx="500944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따옴표로 묶인 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237" y="3806190"/>
            <a:ext cx="793260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"This is Python",  '작은따옴표도 됨'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526280"/>
            <a:ext cx="16239744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526280"/>
            <a:ext cx="176150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논리값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724" y="4526280"/>
            <a:ext cx="500944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 / 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237" y="4526280"/>
            <a:ext cx="793260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46370"/>
            <a:ext cx="176150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특수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3724" y="5246370"/>
            <a:ext cx="500944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None (값이 없음)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5237" y="5246370"/>
            <a:ext cx="793260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966460"/>
            <a:ext cx="16239744" cy="72009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966460"/>
            <a:ext cx="176150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컬렉션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3724" y="5966460"/>
            <a:ext cx="500944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리스트 · 튜플 · 집합 · 사전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237" y="5966460"/>
            <a:ext cx="793260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[1,2,3]  (3,5,7)  {'a','b'}  {'a':'apple'}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6840855"/>
            <a:ext cx="16239744" cy="180022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389888" y="703630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종류를 알아야 하나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7663815"/>
            <a:ext cx="1550822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변수의 자료형은 </a:t>
            </a:r>
            <a:r>
              <a:rPr sz="1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어떤 리터럴이 담기느냐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결정되기 때문이다(동적 타입).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type()으로 확인하면 int, float, complex, str, bool로 표시된다.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3.1.1절 · 표 3.1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자료 구조 4종 — 그릇의 성격이 다르다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785616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07008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리스트  [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394710"/>
            <a:ext cx="3346704" cy="792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추가·삭제·변경 자유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197096"/>
            <a:ext cx="334670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자유로운 줄 세우기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3" y="2571750"/>
            <a:ext cx="3785616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58383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튜플  (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3394710"/>
            <a:ext cx="3346704" cy="792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어떤 변경도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4197096"/>
            <a:ext cx="334670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잠긴 리스트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571750"/>
            <a:ext cx="3785616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0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사전  {키:값}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3394710"/>
            <a:ext cx="3346704" cy="792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키로 원소 접근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4197096"/>
            <a:ext cx="334670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이름표 달린 서랍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478255" y="2571750"/>
            <a:ext cx="3785616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661135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집합  set()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97711" y="3394710"/>
            <a:ext cx="3346704" cy="792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중복 자동 제거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97711" y="4197096"/>
            <a:ext cx="334670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중복 없애는 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5194935"/>
            <a:ext cx="10058400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26464" y="5338953"/>
            <a:ext cx="9253728" cy="31272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list1 = [1, 2, 3, 4]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tuple1 = (1, 2)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dict1 = {'name': '김민', 'email': 'daum.net'}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list1[0] = 5            # 리스트: 변경 OK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tuple1[0] = 5         # 에러! 튜플은 불변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dict1['email'] = 'naver.com'   # 키로 접근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print(set1 &amp; set2)      # &amp; 교집합, | 합집합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21440" y="5194935"/>
            <a:ext cx="5742432" cy="33947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0" y="539038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6017895"/>
            <a:ext cx="5010912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 반환값은 튜플이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많다 — image.shape도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(행, 열) 튜플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설정값 전달엔 리스트·튜플을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늘 쓰게 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3.1.3절 · 예제 3.1.2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3.2  한 줄처럼 보이는 여러 줄, 여러 줄 같은 한 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32184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문법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4340" y="2571750"/>
            <a:ext cx="573219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5443" y="2571750"/>
            <a:ext cx="68689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224869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  역슬래시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0916" y="3086100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명령을 여러 줄에 이어 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2019" y="3086100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days = (year-1) * ratio + \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7338"/>
            <a:ext cx="224869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 ] 안 줄바꿈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0916" y="3847338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리스트 원소는 \ 없이 여러 줄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2019" y="3847338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months = [31, 28, 31,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60857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608576"/>
            <a:ext cx="224869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;  세미콜론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0916" y="4608576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줄에 여러 명령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2019" y="4608576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day = 7; ratio = 365.2425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69814"/>
            <a:ext cx="224869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 다중 할당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0916" y="5369814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여러 변수 동시 선언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2019" y="5369814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year, month = 2020,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223635"/>
            <a:ext cx="16239744" cy="241744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641908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용어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7046595"/>
            <a:ext cx="15508224" cy="1471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물리적 명령행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= 눈에 보이는 한 줄  /  </a:t>
            </a:r>
            <a:r>
              <a:rPr sz="25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논리적 명령행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= 인터프리터가 인식하는 명령 한 단위.</a:t>
            </a: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예제 3.2.1은 이 문법들로 '서기 1년부터의 총일수'(2020.1.7 → 737,431일)를 계산한다.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예제 3.2.1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3.3  연산자 — 헷갈리는 것만 정확히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17043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연산자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571750"/>
            <a:ext cx="39867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2571750"/>
            <a:ext cx="358444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0058400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1097280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3086100"/>
            <a:ext cx="3913632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나눗셈 — 항상 실수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86100"/>
            <a:ext cx="351129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/ 2  →  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85616"/>
            <a:ext cx="1097280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//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3785616"/>
            <a:ext cx="3913632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몫만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85616"/>
            <a:ext cx="351129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// 2  → 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485132"/>
            <a:ext cx="10058400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485132"/>
            <a:ext cx="1097280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485132"/>
            <a:ext cx="3913632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485132"/>
            <a:ext cx="351129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5 % 2  → 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84648"/>
            <a:ext cx="1097280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2889504" y="5184648"/>
            <a:ext cx="3913632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거듭제곱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84648"/>
            <a:ext cx="351129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 </a:t>
            </a:r>
            <a:r>
              <a:rPr sz="25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 3  →  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884164"/>
            <a:ext cx="10058400" cy="69951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884164"/>
            <a:ext cx="1097280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9504" y="5884164"/>
            <a:ext cx="3913632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숫자는 덧셈, 문자열은 붙이기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884164"/>
            <a:ext cx="3511296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'a'+'b' → 'ab'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631168" y="2571750"/>
            <a:ext cx="5632704" cy="349758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996928" y="2767203"/>
            <a:ext cx="49011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우선순위 큰 그림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96928" y="3394710"/>
            <a:ext cx="4901184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괄호 → </a:t>
            </a:r>
            <a:r>
              <a:rPr sz="1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 → 곱셈류 →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덧셈류 → 비교 → 논리 →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할당(=, 꼴찌)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헷갈리면 </a:t>
            </a:r>
            <a:r>
              <a:rPr sz="1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괄호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쓰면</a:t>
            </a:r>
          </a:p>
          <a:p>
            <a:pPr algn="l">
              <a:lnSpc>
                <a:spcPct val="142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그만이다.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480810"/>
            <a:ext cx="16239744" cy="216027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426464" y="665568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표 2가지 바로잡기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6464" y="7118604"/>
            <a:ext cx="15435071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표 3.2의 &lt;&gt;는 파이썬 2 유물 — 파이썬 3는 </a:t>
            </a:r>
            <a:r>
              <a:rPr sz="2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!=만</a:t>
            </a: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쓴다.</a:t>
            </a:r>
          </a:p>
          <a:p>
            <a:pPr algn="l">
              <a:lnSpc>
                <a:spcPct val="140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멤버 연산 예시는 </a:t>
            </a:r>
            <a:r>
              <a:rPr sz="2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4 in [1, 4, 5] → True</a:t>
            </a: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올바른 순서다(교재 인쇄가 뒤집혀 있음).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3.3.1절 · 표 3.2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슬라이스 — 매일 쓰게 될 문법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3_sl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335" y="2664333"/>
            <a:ext cx="7619330" cy="388848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64540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64540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객체[시작:끝:간격] — 끝 인덱스는 포함되지 않는다 · 간격이 음수면 역순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7355205"/>
            <a:ext cx="10058400" cy="22631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458075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2부 미리보기 — 슬라이스가 곧 영상 편집이다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951851"/>
            <a:ext cx="9253728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roi = image[100:200, 50:150]   # 관심영역(ROI) 자르기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flip = image[::-1]             # 상하 반전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7355205"/>
            <a:ext cx="5742432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755065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기억 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8178165"/>
            <a:ext cx="5010912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끝은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미포함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[::-1]은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통째로 역순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3.3.2절 · 예제 3.3.1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3.4  조건과 반복 — 파이썬다운 세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01789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교재 예제 3.4.1 ~ 3.4.2 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29780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① if - elif - else (윤년 검사)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(year % 4==0) and (year % 100 != 0):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print(year, "는 윤년입니다.")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elif year % 400==0: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print(year, "는 윤년입니다.")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print(year, "는 윤년이 아닙니다.")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② while - else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n&gt;=0: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m = input("Enter a integer: ")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int(m)==0: break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 = n - 1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print('4 inputs.')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571750"/>
            <a:ext cx="7754112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교재 예제 3.4.3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12096" y="3168396"/>
            <a:ext cx="6949440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③ for ~ in, 네 가지 순회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 in range(0, 5):    ...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k in kor:            ...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i, k in enumerate(kor): ...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k, e in zip(kor, eng): 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6223635"/>
            <a:ext cx="7754112" cy="23660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75520" y="6419088"/>
            <a:ext cx="70225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7046595"/>
            <a:ext cx="7022592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블록은 </a:t>
            </a:r>
            <a:r>
              <a:rPr sz="22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들여쓰기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헤더 끝은 </a:t>
            </a:r>
            <a:r>
              <a:rPr sz="22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콜론(:)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while-else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break 없이 끝나야 else 실행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인덱스는 enumerate, 나란히는 zip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3.4절 · 예제 3.4.1~3.4.3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3.5  함수 — 반환도 여럿, 인수도 기본값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53492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교재 예제 3.5.1 (08.def.py) 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4629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calc_area(type, a, b, c=None):   # c는 기본값 인수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type == 1 :                   # 사각형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a * b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msg = '사각형'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type == 2:                  # 삼각형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a * b / 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msg = '삼각형'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elif type == 3:                  # 사다리꼴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(a + b) * c / 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msg = '사다리꼴'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result, msg               # 2개 반환 → 튜플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ret = calc_area(type=1, a=5, b=5)    # 튜플로 받기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area, msg = calc_area(2, 5, 5)       # 풀어서 받기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area2, _ = calc_area(3, 10, 7, 5)    # _ 는 버리기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30861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포인트 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3394710"/>
            <a:ext cx="501091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여러 값 반환 =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튜플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기본값 인수 c=None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③ 안 쓸 반환값은 </a:t>
            </a:r>
            <a:r>
              <a:rPr sz="29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5915025"/>
            <a:ext cx="5742432" cy="272605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887200" y="611047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모듈 = 함수 모음 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0" y="6737985"/>
            <a:ext cx="5010912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import 파일 as 별명</a:t>
            </a:r>
          </a:p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from 파일 import 함수</a:t>
            </a:r>
          </a:p>
          <a:p>
            <a:pPr algn="l">
              <a:lnSpc>
                <a:spcPct val="142000"/>
              </a:lnSpc>
            </a:pPr>
            <a:r>
              <a:rPr sz="20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import cv2</a:t>
            </a: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가</a:t>
            </a:r>
          </a:p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바로 이 문법이다.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교재의 '평행사변형' 표기는 수식상 사다리꼴이 맞다 — 개념 바로잡음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3.5절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3.6  넘파이 — 드디어 영상의 그릇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23185"/>
            <a:ext cx="1623974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OpenCV-Python의 영상은 </a:t>
            </a:r>
            <a:r>
              <a:rPr sz="33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넘파이 ndarray 객체</a:t>
            </a:r>
            <a:r>
              <a:rPr sz="33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600450"/>
            <a:ext cx="10058400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37033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교재 예제 3.6.1 (11.numpy.py) 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4197096"/>
            <a:ext cx="9253728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= np.array([1, 2, 3])      # int32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np.array([4, 5.0, 6])    # float64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+ b     # [5. 7. 9.]  원소끼리 한 번에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* b     # [ 4. 10. 18.]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* 2     # [2 4 6]     스칼라 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40" y="3600450"/>
            <a:ext cx="5742432" cy="39090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37959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반복문이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4423410"/>
            <a:ext cx="5010912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ndarray는 </a:t>
            </a:r>
            <a:r>
              <a:rPr sz="1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전체 원소에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연산을 한 번에</a:t>
            </a:r>
            <a:r>
              <a:rPr sz="1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 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"영상 전체 +100 밝게" =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 + 100 </a:t>
            </a:r>
            <a:r>
              <a:rPr sz="1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한 줄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1장 그림 1.1.1의 구현이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바로 이것이다.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818120"/>
            <a:ext cx="16239744" cy="8229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962138"/>
            <a:ext cx="15508224" cy="279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자료형 승격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8313953"/>
            <a:ext cx="15508224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배열과 실수 배열을 섞어 계산하면 결과는 </a:t>
            </a:r>
            <a:r>
              <a:rPr sz="13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float64로 승격</a:t>
            </a:r>
            <a:r>
              <a:rPr sz="1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된다. a는 int32, b는 5.0 때문에 float64.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3.6절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행렬 만들기 — zeros · ones · full · 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교재 예제 3.6.2 ~ 3.6.3 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= np.zeros((2, 5), np.int32)    # 0으로 2행 5열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np.ones((3, 1), np.uint8)     # 1로 3행 1열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 = np.full(5, 15, np.float32)    # 15로 1차원 5개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np.random.seed(10)                # 난수 고정(재현성)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 = np.random.rand(2, 3)          # 0~1 균등분포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 = np.random.randn(3, 2)         # 표준정규분포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 = np.random.randint(1, 100, 6)  # 1~99 정수 6개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 = i.reshape(2, -1)   # -1 = 나머지는 자동 계산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a.flatten()            # 다차원 → 1차원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267462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shape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3394710"/>
            <a:ext cx="501091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(1, 5) — 2차원 1행 5열</a:t>
            </a:r>
          </a:p>
          <a:p>
            <a:pPr algn="l">
              <a:lnSpc>
                <a:spcPct val="142000"/>
              </a:lnSpc>
            </a:pPr>
            <a:r>
              <a:rPr sz="2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(5,) — 1차원 5개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둘은 다르다!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5503545"/>
            <a:ext cx="5742432" cy="313753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923776" y="5678424"/>
            <a:ext cx="493776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코드 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23776" y="6141339"/>
            <a:ext cx="4937760" cy="23557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np.int, np.float는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NumPy 1.24부터 </a:t>
            </a:r>
            <a:r>
              <a:rPr sz="18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삭제</a:t>
            </a: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됐다.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지금은 </a:t>
            </a:r>
            <a:r>
              <a:rPr sz="18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np.int32,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np.float64</a:t>
            </a:r>
            <a:r>
              <a:rPr sz="18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로 써야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에러가 나지 않는다.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np.zeros((300,400), np.uint8) — 2장의 첫 프로그램이 바로 이 문법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예제 3.6.2~3.6.3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실행하면 이렇게 나온다 — shape 읽기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5262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452628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95097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예제 3.6.2 실행 결과 (교재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9436608" cy="39502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 형태: (1, 5)     d 형태: (5,)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[[0 0 0 0 0]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[0 0 0 0 0]]          &lt;- a: 2행 5열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[[1]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[1]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[1]]                  &lt;- b: 3행 1열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[15. 15. 15. 15. 15.]  &lt;- d: 1차원 5개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14048" y="2571750"/>
            <a:ext cx="5449824" cy="452628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79808" y="276720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394710"/>
            <a:ext cx="4718304" cy="3579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대괄호가 </a:t>
            </a:r>
            <a:r>
              <a:rPr sz="2700" b="0">
                <a:solidFill>
                  <a:srgbClr val="003956"/>
                </a:solidFill>
                <a:latin typeface="프리젠테이션 5 Medium"/>
                <a:ea typeface="프리젠테이션 5 Medium"/>
                <a:cs typeface="프리젠테이션 5 Medium"/>
              </a:rPr>
              <a:t>두 겹</a:t>
            </a: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이면 2차원,</a:t>
            </a: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겹이면 1차원.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(1, 5)와 (5,)가 다른 이유가</a:t>
            </a: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출력에서 그대로 보인다.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406640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550658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영상으로 연결하면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8042376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cv2로 읽은 흑백 영상의 shape는 (행, 열), 컬러 영상은 (행, 열, 3)이다. shape를 읽을 줄 알면 영상의 크기와 채널이 바로 보인다.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예제 3.6.2 실행결과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03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03 · 파이썬 둘러보기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동적 타입 · 자료구조 4종 — 리스트는 자유, 튜플은 불변, 사전은 키, 집합은 중복 제거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슬라이스 [시작:끝:간격] — 끝 미포함, [::-1] 역순. 곧 ROI 자르기가 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함수는 튜플로 여러 값 반환 · 모듈은 import — cv2, numpy도 같은 문법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 = ndarray. zeros로 만들고 shape로 읽고 reshape로 바꾼다 (np.int는 이제 np.int32)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