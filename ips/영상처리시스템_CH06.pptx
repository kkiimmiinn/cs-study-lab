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저작권 안내. 인용 근거(저작권법 28조·37조 출처명시)와 자체 제작 원칙을 밝혀 두기.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1억 화소 카메라 광고 이야기로 '화소 = 영상을 이루는 가장 작은 단위'를 꺼내고, 교수님 강조 네 곳을 먼저 알려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6.3 · 6.4절은 식과 표를 손으로 써야 하는 곳이라 시간을 더 쓴다고 미리 알려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실행 결과 캡처에는 처리 전 · 후 묶음이 두 번 찍혀 있다. 함수가 둘이던 판(교수님 슬라이드판)의 캡처라서 그렇다는 것을 알려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[방법2]가 빈 것은 교수님 판의 item() 방식이 빠진 자리라고 설명하기. time_check에 함수 이름 자체(func)를 넘긴다는 것(교수님 말풍선 '함수명')을 짚기. 번호와 창 이름이 한 칸씩 어긋나 있다(image2를 'image3 - LUT' 창에 띄움)는 것도 교재 그대로라고 알려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교수님 판은 [방법2] item() 함수 방식이 들어간 다섯 가지 비교다. 세 열을 가로로 읽으며 직접 접근 &gt; item() &gt; 룩업테이블 &gt; OpenCV ≈ ndarray 순서가 같다는 것을 확인하기.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 // 2는 0~255로 매끄럽게, j // 20*10은 20화소마다 10씩 뛰는 계단이 된다는 것을 그림으로 보여 주기. 연습문제 1번(그레이 스케일의 뜻)의 답이 오른쪽 카드다. 교재 파일 번호 02가 예제 6.1.2와 겹친다는 것도 짚기.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동그라미 51은 5개, 네모 50은 2개 — 6.3.2 히스토그램 계산에서 다시 쓴다고 예고하기. 오른쪽 위 흰 부분은 200~225, 가운데 아래 검은 부분은 50~80 정도라는 교재 해석을 숫자로 짚기. pixel.jpg는 교재 사진이라 숫자는 교재 결과를 실었다고 밝혀 두기.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반전은 최댓값 255에서 화소값을 빼는 것(255 - image)이라는 것, 교재 설명 ①의 '두 개의 영상 파일'은 실제로 한 개라는 것을 덧붙이기.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결과는 앞뒤 장면이 겹치며 바뀌는 장면 전환인 디졸브(dissolve)와 같다고 보여 주기. 설명 ⑤의 '두 개의 비율값이 1보다 클 경우'는 두 비율의 합(0.6 + 0.7 = 1.3)이 1보다 클 때라는 뜻으로 읽어 주기. 연습문제 8 · 9번이 이 예제에 트랙바를 붙인 것이라고 연결하기.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명암 대비를 높이려면 어두운 곳은 더 어둡게, 밝은 곳은 더 밝게 한다고 그림 6.2.3(구름 사진)으로 설명하기. 밝기는 더하기 · 빼기, 대비는 곱하기라는 연습문제 4번의 답을 여기서 정리하기. 설명의 'contrast_test.jpg', 'addWeithed', 'image1 행렬'은 교재 본문 오타라는 것도 알려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4×4 칸을 손가락으로 세어 0이 1개, 6이 5개인 것을 확인한 뒤 막대 높이와 맞춰 보기. 교수님이 같은 숫자를 화소 · 빈도 표로 다시 보여 주신 것도 함께 보여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2행 ck_time은 이 소스에서 쓰이지 않는다(교재 그대로). 교수님 슬라이드는 인수 이름이 histSize이고 7~10행을 직접 다시 써 넣으셨다. 그림 6.3.2 표의 0 · 128 · 200 같은 칸은 관심 영역 숫자가 아니라 설명용 값이라는 것도 짚기.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요약 4번의 '입력영상 개수 · 출력 결과행렬 · 결과행렬 차원수'는 C++판 인수라 파이썬 함수에는 없다(교수님 요약에서도 뺐다). 여섯 인수 이름을 가리고 설명만 보여 주며 맞히게 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결과가 같다는 것은 대역 그림으로 직접 돌려 확인했다(32계급 전체는 교재 p.241). ranges_gap에 +1을 하는 이유(arange는 끝값 미포함 → 경계 33개)를 짚기. 19행은 리스트 histSize를 그대로 넘기는데, 앞 장의 calc_histo는 정수를 받으므로 직접 돌릴 때는 histSize[0]으로 넘겼다는 것을 알려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예제 번호가 6.3.1 다음 6.3.3(6.3.2 없음)이라는 것, draw_histo는 뒤 예제들이 Common.histogram에서 가져다 쓴다는 것을 짚기.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색상(hue)이 OpenCV에서 0~180이라는 것(6.4.4절)을 먼저 말하고, color를 정수형 튜플로 바꾸는 24행이 왜 필요한지(그리기 함수는 ndarray 색을 받지 못한다) 짚기. 리스트 생성 방식과 주석 처리된 반복문 방식이 같은 일을 한다는 것도 비교하기.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교재는 '왼쪽의 히스토그램 그래프'라고 했지만 그래프는 오른쪽 창이다. 18칸이 10씩이고 OpenCV hue × 2가 실제 각도(도)라는 것을 연결하기.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교재는 흐린 사진의 히스토그램이 가운데에 몰린 그림(번호가 앞 그림과 겹치는 6.3.2)으로 설명한다. 대역 그림은 52~183에만 화소를 두어 교재와 같은 low 52 · high 180이 나오게 만들었다는 것을 알려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search_value_idx는 bias가 0이면 앞에서부터, 63이면 뒤에서부터 찾는다(교재 그림의 'bais'와 오른쪽 '최저 위치'는 오식, 뜻은 최고 위치). 22 · 23행은 계급 너비 4 때문에 빠지는 양 끝을 0과 255로 채운다는 것도 짚기.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주석의 이중 for 문(28~31행)과 LUT 한 줄이 같은 결과라는 것을 비교하고, 연습문제 6번(스트레칭 과정)의 답을 정리하기.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단계를 학생이 순서대로 말하게 하고, 연습문제 7번(평활화 과정 기술)의 답이 이것이라고 알려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화소 2 열(6 → 12 → 0.75 → 5.25 → 5)을 교수님이 파란 굵은 글씨로 강조하셨다. 표의 값은 넘파이로 다시 계산해 교재와 같다는 것을 확인했다. 다른 열 하나를 골라 학생이 직접 계산하게 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설명 ①의 'draw_hist()'는 draw_histo의 오타. OpenCV 5.0은 calcHist가 1차원(256,)이라 17행 accum_hist[val]이 숫자 하나로 바로 들어간다는 것도 덧붙이기.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사진(아치문 안에서 본 바깥 풍경)도 어두운 아치 벽의 돌결이 드러난다. 두 방법을 언제 쓰는지 비교해 정리하기.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알타미라 · 고구려 벽화 도입 이야기는 짧게 하고, 쓰는 곳 표를 단원 요약 8번과 맞춰 외우게 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표의 olive '0, 128, 128'은 teal의 값이라 일반값으로 고쳤다. 셀로판지 이야기로 가산 혼합을 도입하고, 세 빛이 모두 겹친 가운데가 흰색이라는 것을 짚기.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CMY_img를 모니터에 띄우면 반전 영상처럼 보이고, 분리한 채널은 프린터라면 밝은 곳만큼 그 잉크가 찍힌다는 교재 설명 읽어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OpenCV 5.0에서 split은 튜플을 돌려준다(교재는 리스트라고 설명). 튜플 − 행렬도 넘파이가 (3, h, w) 배열로 바꿔 계산하므로 그대로 돈다는 것을 직접 확인했다. cv2.min을 두 번 겹쳐 세 행렬의 최솟값을 구하는 10행을 칠판에 풀어 쓰기.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색상은 반사된 빛의 색, 채도는 순색에 흰색이 섞인 정도(빨강 100, 분홍은 0에 가까움), 명도는 밝고 어두운 정도라고 풀어 주기. 교재 HSV 식은 분모도 S로 적혀 있지만, 무작위 색 4000개로 cv2.cvtColor와 대조해 보니 맞는 것은 V − min이었다(오차 1.2도 이내). 0도 빨강부터 60도씩 노랑 · 녹색 · 청록 · 파랑 · 자홍을 손으로 돌며 외우게 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설명 ④의 '라디안 각도로 변환'은 실제로 라디안 → 도 변환이고, ⑨의 'cv2.CV_BGR2HSV'는 코드의 cv2.COLOR_BGR2HSV다. 예제 제목은 BGR→HSV지만 내용은 HSI 직접 구현과 OpenCV HSV 비교라는 것을 바로잡아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Hue라도 직접 계산한 HSI와 OpenCV HSV는 식이 조금 달라 회색 정도가 약간 다르다는 것을 짚기.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무작위 색 4000개로 cv2.COLOR_BGR2YCrCb와 대조하니 교재 식은 오차 1 미만, 슬라이드 식은 최대 143이 났다. 상수 이름이 YCrCb(Cr이 먼저)라 채널 순서도 Y, Cr, Cb라는 것을 짚기. 교재 YUV 식의 R 계수 0.2160은 BT.709 표준값 0.2126의 오식으로 보인다고 덧붙이기.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설명의 'BGR2Lab'(코드는 BGR2LAB)과 행 번호 어긋남은 교재 오식. Gray_img는 단일채널이라 split하지 않는다는 것 짚기.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이진화 = 임계값을 기준으로 화소를 0과 255 두 값으로 나누기. 다음 심화예제가 TOZERO_INV로 위쪽을, BINARY로 아래쪽을 잘라 범위를 고른다는 것을 미리 연결하기.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8~11행(화소 직접 접근), 14~15행(np.logical_and), 18~19행(cv2.threshold) 세 방법이 같은 일을 한다. 11행처럼 th[0] &lt;= v &lt; th[1]을 수학식처럼 쓸 수 있다는 것도 짚기. 설명의 'th1[1]', 'Hue_th1, Hue_th1'은 교재 오식이라고 짚기.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넘파이 방식(logical_and)은 경계 처리(th[0] 포함 · th[1] 미포함)가 threshold 방식(th[0] 초과 · th[1] 이하)과 달라 직접 실행에서 화소 80~190개가 다르게 나왔다. 그 차이를 부등호로 설명해 보기.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 열만 보여 주고 오른쪽을 가린 채 퀴즈처럼 하나씩 묻기.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 장에서도 히스토그램과 이진화가 다시 쓰인다고 연결해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연습문제 11 코드의 bins는 인수 bsize의 오타다. 연습문제 13은 p.272 식으로 Y · Cb · Cr을 계산한 뒤 역변환 식으로 되돌려 원본과 비교하게 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3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" y="2777490"/>
            <a:ext cx="128016" cy="3086100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859786"/>
            <a:ext cx="146304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 · 컴퓨터및소프트웨어공학전공(박사과정)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35858"/>
            <a:ext cx="14630400" cy="1440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영상처리시스템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102352"/>
            <a:ext cx="987552" cy="473202"/>
          </a:xfrm>
          <a:prstGeom prst="roundRect">
            <a:avLst>
              <a:gd name="adj" fmla="val 20000"/>
            </a:avLst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0" y="5133213"/>
            <a:ext cx="9875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5808" y="5102352"/>
            <a:ext cx="128016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 lang="ko-KR" altLang="en-US">
                <a:solidFill>
                  <a:srgbClr val="C9D4E2"/>
                </a:solidFill>
                <a:latin typeface="페이퍼로지 6 SemiBold"/>
                <a:ea typeface="페이퍼로지 6 SemiBold"/>
                <a:cs typeface="페이퍼로지 6 SemiBold"/>
              </a:rPr>
              <a:t>CHAPTER 06  ·  화소 처리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6480810"/>
            <a:ext cx="15727680" cy="12344"/>
          </a:xfrm>
          <a:prstGeom prst="rect">
            <a:avLst/>
          </a:prstGeom>
          <a:solidFill>
            <a:srgbClr val="2A5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80160" y="6737985"/>
            <a:ext cx="14630400" cy="1028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25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참고 교재  정성환·배종욱, 『OpenCV-Python으로 배우는 영상 처리 및 응용』 (생능출판사)</a:t>
            </a:r>
          </a:p>
          <a:p>
            <a:pPr algn="l">
              <a:lnSpc>
                <a:spcPct val="170000"/>
              </a:lnSpc>
            </a:pPr>
            <a:r>
              <a:rPr sz="25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정리  김민  ·  대학원 학습·연구용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자료에 대하여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3D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2223" y="2299144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교재는 </a:t>
            </a:r>
            <a:r>
              <a:rPr sz="22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수업 진도에 맞춘 참고용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 — 목차와 개념 체계를 참고하되, 내용은 직접 조사해 재구성·각색했다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55930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3D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4128" y="358501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3" y="3286696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교재의 그림·내용 일부를 </a:t>
            </a:r>
            <a:r>
              <a:rPr sz="21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저작권법 제28조(공표된 저작물의 인용)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 따라 교육·연구 목적으로 발췌·인용하고, 각 슬라이드에 출처(교재 절·그림 번호)를 명시했다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54685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3D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24128" y="457257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2223" y="4274248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도표·그래프·예시 그림은 </a:t>
            </a:r>
            <a:r>
              <a:rPr sz="21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직접 제작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하는 것을 원칙으로 하고, 교재 그림을 그대로 쓴 경우에는 캡션에 인용임을 밝혔다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5863590"/>
            <a:ext cx="16239744" cy="159448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26464" y="6038469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이용 범위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6501384"/>
            <a:ext cx="15435071" cy="8126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자료는 </a:t>
            </a:r>
            <a:r>
              <a:rPr sz="19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대학원 개인 학습·연구 목적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으로만 제작·사용한다.</a:t>
            </a:r>
          </a:p>
          <a:p>
            <a:pPr algn="l">
              <a:lnSpc>
                <a:spcPct val="140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저작권자의 허락 없는 무단 복제·전재·재배포 및 상업적 이용을 금한다.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7766685"/>
            <a:ext cx="16239744" cy="185166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389888" y="796213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참고 문헌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8589645"/>
            <a:ext cx="1550822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정성환·배종욱, 『OpenCV-Python으로 배우는 영상 처리 및 응용』, 생능출판사  ·  담당 교수님 수업 자료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263140"/>
            <a:ext cx="73152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00" b="0" lang="ko-KR" altLang="en-US">
                <a:solidFill>
                  <a:srgbClr val="2E5A75"/>
                </a:solidFill>
                <a:latin typeface="페이퍼로지 8 ExtraBold"/>
                <a:ea typeface="페이퍼로지 8 ExtraBold"/>
                <a:cs typeface="페이퍼로지 8 ExtraBold"/>
              </a:rPr>
              <a:t>CH 06</a:t>
            </a:r>
          </a:p>
        </p:txBody>
      </p:sp>
      <p:sp>
        <p:nvSpPr>
          <p:cNvPr id="3" name="Rectangle 2"/>
          <p:cNvSpPr/>
          <p:nvPr/>
        </p:nvSpPr>
        <p:spPr>
          <a:xfrm>
            <a:off x="1353312" y="4166235"/>
            <a:ext cx="2194560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80160" y="4526280"/>
            <a:ext cx="142646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화소 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709285"/>
            <a:ext cx="142646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Pixel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6583680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9C8D2"/>
                </a:solidFill>
                <a:latin typeface="프리젠테이션 5 Medium"/>
                <a:ea typeface="프리젠테이션 5 Medium"/>
                <a:cs typeface="프리젠테이션 5 Medium"/>
              </a:rPr>
              <a:t>·  화소 접근   ·   밝기 · 합성 · 명암 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7087743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9C8D2"/>
                </a:solidFill>
                <a:latin typeface="프리젠테이션 5 Medium"/>
                <a:ea typeface="프리젠테이션 5 Medium"/>
                <a:cs typeface="프리젠테이션 5 Medium"/>
              </a:rPr>
              <a:t>·  히스토그램 계산 · 그리기   ·   스트레칭 · 평활화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7591806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9C8D2"/>
                </a:solidFill>
                <a:latin typeface="프리젠테이션 5 Medium"/>
                <a:ea typeface="프리젠테이션 5 Medium"/>
                <a:cs typeface="프리젠테이션 5 Medium"/>
              </a:rPr>
              <a:t>·  컬러 공간   ·   RGB · CMY(K) · HSI · YCbCr · YUV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장에서 가져갈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3D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360866"/>
            <a:ext cx="1547164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화소값이 곧 밝기</a:t>
            </a: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다 — 더하면 밝게, 빼면 어둡게, 곱하면 명암 대비가 바뀐다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435858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3D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461575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224974"/>
            <a:ext cx="1547164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히스토그램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을 직접 세고, 스트레칭과 평활화로 흐린 영상을 고치는 과정을 손으로 계산한다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299966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3D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325683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4089082"/>
            <a:ext cx="1547164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컬러 공간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변환 식과 cv2.cvtColor 옵션 상수를 쓰고, Hue 범위로 원하는 색만 골라낸다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5452110"/>
            <a:ext cx="7936992" cy="324040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89888" y="5647563"/>
            <a:ext cx="72054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용어 약속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6275070"/>
            <a:ext cx="7205472" cy="229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그레이 스케일 = 명암도 영상(단일채널, 0 검정 ~ 255 흰색). 히스토그램의 가로축 칸이 </a:t>
            </a:r>
            <a:r>
              <a:rPr sz="25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계급(bin)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세로축이 </a:t>
            </a:r>
            <a:r>
              <a:rPr sz="25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도수(빈도수)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다. ROI는 관심 영역이다.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5452110"/>
            <a:ext cx="7936992" cy="324040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729216" y="5626989"/>
            <a:ext cx="7132320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교수님이 짚은 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9216" y="6089904"/>
            <a:ext cx="7132320" cy="24585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calcHist 인수 표와 </a:t>
            </a:r>
            <a:r>
              <a:rPr sz="25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영상을 대괄호로 감싸기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스트레칭 식, 평활화 네 단계와 계산 표, 교재에 없는 이진화 다섯 가지를 따로 보충하셨다.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p.221 · 강의 슬라이드 2 · 단원 요약 p.278~279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목차 — 네 절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493776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3133831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6327" y="2571750"/>
            <a:ext cx="4433011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다루는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8250" y="2571750"/>
            <a:ext cx="540739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핵심 함수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34558" y="2571750"/>
            <a:ext cx="150985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교재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3065526"/>
            <a:ext cx="16239744" cy="102870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80160" y="3065526"/>
            <a:ext cx="3060679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6.1 영상 화소의 접근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2903" y="3065526"/>
            <a:ext cx="4359859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원소 직접 접근 · 수행시간 비교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4826" y="3065526"/>
            <a:ext cx="5334243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mat[i, j] · lut[image] · subtract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71134" y="3065526"/>
            <a:ext cx="1436705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p.221~225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094226"/>
            <a:ext cx="3060679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6.2 화소 밝기 변환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2903" y="4094226"/>
            <a:ext cx="4359859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명암도 · 밝기 · 합성 · 명암 대비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4826" y="4094226"/>
            <a:ext cx="5334243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add · subtract · addWeighted · scaleAdd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71134" y="4094226"/>
            <a:ext cx="1436705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p.225~236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5122926"/>
            <a:ext cx="16239744" cy="102870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80160" y="5122926"/>
            <a:ext cx="3060679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6.3 히스토그램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2903" y="5122926"/>
            <a:ext cx="4359859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계산 · 그리기 · 스트레칭 · 평활화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4826" y="5122926"/>
            <a:ext cx="5334243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calcHist · normalize · LUT · equalizeHist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71134" y="5122926"/>
            <a:ext cx="1436705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p.237~256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6151626"/>
            <a:ext cx="3060679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6.4 컬러 공간 변환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2903" y="6151626"/>
            <a:ext cx="4359859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RGB · CMY(K) · HSI · YCbCr · YUV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4826" y="6151626"/>
            <a:ext cx="5334243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cvtColor · split · min · 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71134" y="6151626"/>
            <a:ext cx="1436705" cy="1028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p.256~277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7612380"/>
            <a:ext cx="16239744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7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14개와 심화예제 3개 — 6.3 히스토그램과 6.4 컬러 공간에 </a:t>
            </a:r>
            <a:r>
              <a:rPr sz="27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식과 계산 표</a:t>
            </a:r>
            <a:r>
              <a:rPr sz="27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가 몰려 있다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p.221~282 · 강의 슬라이드 2 · 7 · 19 ·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6.1 화소 접근 — 영상처리는 2차원 행렬 연산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315200" cy="226314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767203"/>
            <a:ext cx="65836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영상처리 프로그래밍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394710"/>
            <a:ext cx="6583680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영상이라는 2차원 데이터의 원소값을 원하는 방향으로 바꾸는 일이다. 그래서 </a:t>
            </a:r>
            <a:r>
              <a:rPr sz="20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화소에 접근해 값을 읽고 · 고치고 · 새로 만들 수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있어야 한다.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5092065"/>
            <a:ext cx="7315200" cy="360045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5092065"/>
            <a:ext cx="91440" cy="3600450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5194935"/>
            <a:ext cx="65836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— 직접 실행해 같은 값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5544693"/>
            <a:ext cx="6510528" cy="302437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원소 처리 전: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[[0 1 2 3 4]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[5 6 7 8 9]]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원소 처리 후: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[[ 0  2  4  6  8]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[10 12 14 16 18]]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05088" y="2571750"/>
            <a:ext cx="8558784" cy="390906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70848" y="2674620"/>
            <a:ext cx="78272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6.1.1 — 01.mat_access.py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3168396"/>
            <a:ext cx="7754112" cy="31889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                                # 원소 직접 접근 방법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mat_access1(mat):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i in range(mat.shape[0]):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for j in range(mat.shape[1]):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k = mat[i, j]           # 원소 접근- mat[i][j] 방식도 가능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mat[i, j] = k * 2       # 원소 할당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mat = np.arange(10).reshape(2, 5)   # 0~9 사이 원소 생성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print("원소 처리 전: \n%s\n" % mat)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mat_access1(mat)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print("원소 처리 후: \n%s\n" % mat)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6737985"/>
            <a:ext cx="8558784" cy="195453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070848" y="6933438"/>
            <a:ext cx="78272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교수님 슬라이드판 — item() · itemset()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7560945"/>
            <a:ext cx="7827264" cy="10081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item(i, j)로 읽고 itemset((i, j), v)로 쓰는 함수가 하나 더 있다. 결과는 같다. NumPy 2.x에는 itemset()이 없다.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교재 9행 주석 '0~10 사이'는 틀린 설명 — arange(10)은 0~9라 고쳤다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p.221~223 · 강의 슬라이드 3~4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6.1.2 — 영상 반전, 네 가지 방법으로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04672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02.image_access.py (1~23행) 반전 함수 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24204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cv2, time         # 수행시간 계산 위해 time 모듈 임포트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pixel_access1(image):             # 화소 직접 접근 방법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image1 = np.zeros(image.shape[:2], image.dtype)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i in range(image.shape[0]):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for j in range(image.shape[1]):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pixel = image[i,j]        # 화소 접근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image1[i, j] = 255 - pixel   # 화소 할당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return image1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pixel_access2(image):             # 룩업테이블 이용 방법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lut = [255 - i for i in range(256)]  # 룩업테이블 생성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lut = np.array(lut, np.uint8)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image3 = lut[image]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return image3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pixel_access3(image):             # OpenCV 함수 이용 방법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image4 = cv2.subtract(255, image)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return image4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                                  # ndarray 산술 연산 방법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pixel_access4(image):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image5 = 255 - image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return image5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2571750"/>
            <a:ext cx="7827264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802368" y="2674620"/>
            <a:ext cx="70957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(25~47행) 시간 재기 · 창 띄우기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38944" y="3168396"/>
            <a:ext cx="7022592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cv2.imread("images/bright.jpg", cv2.IMREAD_GRAYSCALE)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image is None: raise Exception("영상파일 읽기 오류")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수행시간 체크 함수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time_check(func, msg):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start_time = time.perf_counter()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ret_img = func(image)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elapsed = (time.perf_counter() - start_time) * 1000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print(msg, "수행시간 : %0.2f ms" % elapsed 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return ret_img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image1 = time_check(pixel_access1, "[방법1] 직접 접근 방식")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image2 = time_check(pixel_access2, "[방법3] 룩업테이블 방식")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image3 = time_check(pixel_access3, "[방법4] OpenCV 함수 방식")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image4 = time_check(pixel_access4, "[방법5] ndarray 연산 방식")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결과 영상 보기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cv2.imshow("image  - original", image)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cv2.imshow("image1 - directly access to pixel", image1)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cv2.imshow("image3 - LUT", image2)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cv2.imshow("image4 - OpenCV", image3)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cv2.imshow("image5 - ndarray", image4)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교재 33행 print(mag, …)는 오타(NameError) — msg로 고쳤다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p.223~224 · 강의 슬라이드 5~6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6.1.2 결과 — 직접 접근은 수백 배 느리다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046720" cy="318897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6_inv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363" y="2664333"/>
            <a:ext cx="5506249" cy="232486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5081778"/>
            <a:ext cx="8046720" cy="678942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5081778"/>
            <a:ext cx="7534656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bright.jpg 자리에 직접 그린 대역 그림으로 실행 — 네 방법의 결과가 화소 하나까지 같다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6017895"/>
            <a:ext cx="8046720" cy="267462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6213348"/>
            <a:ext cx="73152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결론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6840855"/>
            <a:ext cx="7315200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이중 for 문으로 화소를 하나씩 다루지 말고 </a:t>
            </a:r>
            <a:r>
              <a:rPr sz="20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OpenCV 함수나 ndarray 연산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 한꺼번에 처리한다. 룩업테이블은 0~255의 결과를 미리 만든 표로 영상을 인덱싱(lut[image])한다.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2571750"/>
            <a:ext cx="7827264" cy="493776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56064" y="2571750"/>
            <a:ext cx="222235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방법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17333" y="2571750"/>
            <a:ext cx="11265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교재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82786" y="2571750"/>
            <a:ext cx="1439631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3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교수님 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61329" y="2571750"/>
            <a:ext cx="128308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이 PC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36608" y="3065526"/>
            <a:ext cx="7827264" cy="637794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92640" y="3065526"/>
            <a:ext cx="2149205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직접 접근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53909" y="3065526"/>
            <a:ext cx="1053388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38.18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19362" y="3065526"/>
            <a:ext cx="1366479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586.93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97905" y="3065526"/>
            <a:ext cx="120993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약 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703320"/>
            <a:ext cx="2149205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item() 함수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53909" y="3703320"/>
            <a:ext cx="1053388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19362" y="3703320"/>
            <a:ext cx="1366479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65.21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797905" y="3703320"/>
            <a:ext cx="120993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약 38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36608" y="4341114"/>
            <a:ext cx="7827264" cy="637794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692640" y="4341114"/>
            <a:ext cx="2149205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룩업테이블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53909" y="4341114"/>
            <a:ext cx="1053388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0.42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19362" y="4341114"/>
            <a:ext cx="1366479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0.68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797905" y="4341114"/>
            <a:ext cx="120993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약 0.45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4978908"/>
            <a:ext cx="2149205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OpenCV 함수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53909" y="4978908"/>
            <a:ext cx="1053388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0.09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919362" y="4978908"/>
            <a:ext cx="1366479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0.19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97905" y="4978908"/>
            <a:ext cx="120993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약 0.01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36608" y="5616702"/>
            <a:ext cx="7827264" cy="637794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692640" y="5616702"/>
            <a:ext cx="2149205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ndarray 연산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53909" y="5616702"/>
            <a:ext cx="1053388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0.10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919362" y="5616702"/>
            <a:ext cx="1366479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0.16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797905" y="5616702"/>
            <a:ext cx="120993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약 0.07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36608" y="6480810"/>
            <a:ext cx="7827264" cy="221170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838944" y="6655689"/>
            <a:ext cx="7022592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수행시간은 컴퓨터마다 다르다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38944" y="7118604"/>
            <a:ext cx="7022592" cy="14298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숫자보다 </a:t>
            </a:r>
            <a:r>
              <a:rPr sz="25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차이의 크기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를 본다 — 교재는 약 400배, 교수님 판은 약 3000배였다.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단위 ms · 이 PC는 360×480 대역 그림을 세 번 재어 가장 빠른 값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p.225 · 강의 슬라이드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6.2.1 그레이 스케일 — 0은 검정, 255는 흰색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41248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680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6.2.1 — 02.grayscale_image.py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60780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image1 = np.zeros((50, 512), np.uint8)       # 50 x 512 영상 생성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image2 = np.zeros((50, 512), np.uint8)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rows, cols = image1.shape[:2]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i in range(rows):                        # 행렬 전체 조회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j in range(cols):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image1.itemset((i, j), j // 2)       # 화소값 점진적 증가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image2.itemset((i, j), j // 20*10)   # 계단 현상 증가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cv2.imshow("image1", image1)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cv2.imshow("image2", image2)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02368" y="2571750"/>
            <a:ext cx="7461504" cy="2880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ch6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6830" y="2664333"/>
            <a:ext cx="6332579" cy="224256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802368" y="4999482"/>
            <a:ext cx="7461504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058400" y="4999482"/>
            <a:ext cx="694944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코드를 직접 실행한 두 영상 (512 × 50)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02368" y="5709285"/>
            <a:ext cx="7461504" cy="298323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168128" y="5904738"/>
            <a:ext cx="672998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그레이 스케일(명암도) 영상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68128" y="6532245"/>
            <a:ext cx="6729984" cy="20368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단일채널 영상. 화소값 0~255가 회색의 비율로 표현된다. 엄밀한 '흑백 영상'은 검은색과 흰색뿐이라 이 이름이 더 정확하다.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NumPy 2.x는 itemset()이 없다 — image1[i, j] = j // 2로 돌렸다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p.225~227 · 강의 슬라이드 8~9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6.2.2 — 관심 영역의 화소값 찍어 보기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04672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6.2.2 — 03.pixel_value.py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24204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18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cv2.imread("images/pixel.jpg", cv2.IMREAD_GRAYSCALE) # 영상 읽기</a:t>
            </a:r>
          </a:p>
          <a:p>
            <a:pPr>
              <a:lnSpc>
                <a:spcPct val="118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image is None: raise Exception("영상파일 읽기 오류")</a:t>
            </a:r>
          </a:p>
          <a:p>
            <a:pPr>
              <a:lnSpc>
                <a:spcPct val="118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(x, y), (w, h) = (180, 37), (15, 10)     # 좌표는 x, y</a:t>
            </a:r>
          </a:p>
          <a:p>
            <a:pPr>
              <a:lnSpc>
                <a:spcPct val="118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roi_img = image[y:y+h, x:x+w]            # 행렬 접근은 y, x</a:t>
            </a:r>
          </a:p>
          <a:p>
            <a:pPr>
              <a:lnSpc>
                <a:spcPct val="118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4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#print("[roi_img] =\n", roi_img)         # 행렬 원소 바로 출력 가능</a:t>
            </a:r>
          </a:p>
          <a:p>
            <a:pPr>
              <a:lnSpc>
                <a:spcPct val="118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print("[roi_img] =")                     # 원소 순회 방식 출력</a:t>
            </a:r>
          </a:p>
          <a:p>
            <a:pPr>
              <a:lnSpc>
                <a:spcPct val="118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row in roi_img:</a:t>
            </a:r>
          </a:p>
          <a:p>
            <a:pPr>
              <a:lnSpc>
                <a:spcPct val="118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p in row:                        # 순회 원소 하나씩 출력</a:t>
            </a:r>
          </a:p>
          <a:p>
            <a:pPr>
              <a:lnSpc>
                <a:spcPct val="118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print("%4d" % p, end=" ")</a:t>
            </a:r>
          </a:p>
          <a:p>
            <a:pPr>
              <a:lnSpc>
                <a:spcPct val="118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print()</a:t>
            </a:r>
          </a:p>
          <a:p>
            <a:pPr>
              <a:lnSpc>
                <a:spcPct val="118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cv2.rectangle(image, (x, y, w, h), 255, 1)   # 관심 영역에 사각형 표시</a:t>
            </a:r>
          </a:p>
          <a:p>
            <a:pPr>
              <a:lnSpc>
                <a:spcPct val="118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cv2.imshow("image", image)</a:t>
            </a:r>
          </a:p>
          <a:p>
            <a:pPr>
              <a:lnSpc>
                <a:spcPct val="118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2571750"/>
            <a:ext cx="7827264" cy="612076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ch6_ro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780430"/>
            <a:ext cx="7498080" cy="525077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436608" y="8239887"/>
            <a:ext cx="7827264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92640" y="8239887"/>
            <a:ext cx="73152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실행 결과 15×10 숫자를 칸에 다시 칠함 — 밝을수록 255에 가깝다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좌표는 (x, y), 행렬 접근은 [y, x] — 행(y)이 먼저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p.227~229 · 강의 슬라이드 10~11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6.2.3 — 밝게 · 어둡게, 넘치면 멈추나 돌아가나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04672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6.2.3 — 04.bright_dark.py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24204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cv2.imread("images/bright.jpg", cv2.IMREAD_GRAYSCALE)  # 영상 읽기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image is None: raise Exception("영상파일 읽기 오류")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OpenCV 함수 이용(saturation 방식)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dst1 = cv2.add(image, 100)              # 영상 밝게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dst2 = cv2.subtract(image, 100)         # 영상 어둡게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numpy.ndarray 이용(modulo 방식)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dst3 = image + 100                      # 영상 밝게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dst4 = image - 100                      # 영상 어둡게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cv2.imshow("original image", image)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cv2.imshow("dst1- bright:OpenCV", dst1)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cv2.imshow("dst2- dark:OpenCV", dst2)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cv2.imshow("dst3- bright:numpy", dst3)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cv2.imshow("dst4- dark:numpy", dst4)</a:t>
            </a:r>
          </a:p>
          <a:p>
            <a:pPr>
              <a:lnSpc>
                <a:spcPct val="118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2571750"/>
            <a:ext cx="7827264" cy="36004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ch6_b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364" y="2664333"/>
            <a:ext cx="4759751" cy="273634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436608" y="5493258"/>
            <a:ext cx="7827264" cy="678942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92640" y="5493258"/>
            <a:ext cx="7315200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대역 그림으로 실행 — numpy 쪽은 밝은 곳이 검게, 어두운 곳이 하얗게 뒤집힌다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6429375"/>
            <a:ext cx="7827264" cy="452628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56064" y="6429375"/>
            <a:ext cx="2378903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방식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73879" y="6429375"/>
            <a:ext cx="190926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250 + 100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22058" y="6429375"/>
            <a:ext cx="222235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범위 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36608" y="6882003"/>
            <a:ext cx="7827264" cy="76123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0" y="6882003"/>
            <a:ext cx="2305751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OpenCV · saturation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10455" y="6882003"/>
            <a:ext cx="1836115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8634" y="6882003"/>
            <a:ext cx="2149205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255에서 · 0에서 멈춤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7643241"/>
            <a:ext cx="2305751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numpy · modulo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10455" y="7643241"/>
            <a:ext cx="1836115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350 % 256 = 94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58634" y="7643241"/>
            <a:ext cx="2149205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256으로 나눈 나머지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교재 상자 '250 + 100 = 360', '→ 104'는 오식 — 직접 계산해 350, 94로 고쳤다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p.229~231 · 강의 슬라이드 12~13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심화예제 6.2.4 — 두 영상을 비율대로 섞기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심화예제 6.2.4 — 05.image_synthesis.py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70508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image1 = cv2.imread("images/add1.jpg", cv2.IMREAD_GRAYSCALE)  # 영상 읽기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image2 = cv2.imread("images/add2.jpg", cv2.IMREAD_GRAYSCALE)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image1 is None or image2 is None: raise Exception("영상파일 읽기 오류")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영상 합성 방법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alpha, beta = 0.6, 0.7                                    # 곱셈 비율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add_img1 = cv2.add(image1, image2)                        # 두 영상 단순 더하기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add_img2 = cv2.add(image1 * alpha, image2 * beta)         # 두 영상 비율에 따른 더하기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add_img2 = np.clip(add_img2, 0, 255).astype('uint8')      # saturation 처리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add_img3 = cv2.addWeighted(image1, alpha, image2, beta, 0) # 두 영상 비율에 따른 더하기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titles = ['image1', 'image2', 'add_img1', 'add_img2', 'add_img3'] # 윈도우 이름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t in titles: cv2.imshow(t, eval(t))                           # 영상 표시</a:t>
            </a:r>
          </a:p>
          <a:p>
            <a:pPr>
              <a:lnSpc>
                <a:spcPct val="132000"/>
              </a:lnSpc>
            </a:pPr>
            <a:r>
              <a:rPr sz="14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99648" y="6635115"/>
            <a:ext cx="6364224" cy="205740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265408" y="6830568"/>
            <a:ext cx="56327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합성 수식 세 가지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65408" y="7458075"/>
            <a:ext cx="5632704" cy="11109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0.5 · 0.5, alpha · (1 − alpha), alpha · beta. 비율 합이 1을 넘으면 np.clip으로 </a:t>
            </a:r>
            <a:r>
              <a:rPr sz="17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클램핑</a:t>
            </a: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한다.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99648" y="2571750"/>
            <a:ext cx="6364224" cy="380619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h6_syn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5207" y="2664333"/>
            <a:ext cx="5553106" cy="316839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0899648" y="5925312"/>
            <a:ext cx="6364224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155680" y="5925312"/>
            <a:ext cx="585215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직접 그린 두 그림으로 실행 — add_img1은 하얗게 포화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add_img2와 add_img3는 반올림 차이 1 이내로 같다 (직접 실행)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p.231~233 · 강의 슬라이드 14~15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6.2.5 — 곱하면 명암 대비가 바뀐다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6.2.5 — 06.contrast.py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70508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cv2.imread("images/contrast.jpg", cv2.IMREAD_GRAYSCALE) # 영상 읽기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image is None: raise Exception("영상파일 읽기 오류")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noimage = np.zeros(image.shape[:2], image.dtype)        # 더미 영상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avg = cv2.mean(image)[0]/2.0                            # 영상 화소 평균의 절반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dst1 = cv2.scaleAdd(image, 0.5, noimage)                # 명암 대비 감소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dst2 = cv2.scaleAdd(image, 2.0, noimage)                # 명암 대비 증가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dst3 = cv2.addWeighted(image, 0.5, noimage, 0, avg)     # 명암 대비 감소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dst4 = cv2.addWeighted(image, 2.0, noimage, 0, -avg)    # 명암 대비 증가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cv2.imshow("image", image)                              # 영상 띄우기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cv2.imshow("dst1 - decrease contrast", dst1)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cv2.imshow("dst2 - increase contrast", dst2)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cv2.imshow("dst3 - decrease contrast using average", dst3)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cv2.imshow("dst4 - increase contrast using average", dst4)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99648" y="2571750"/>
            <a:ext cx="6364224" cy="195453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265408" y="2767203"/>
            <a:ext cx="56327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명암 대비(contrast)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65408" y="3394710"/>
            <a:ext cx="5632704" cy="10081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1.0보다 큰 수를 곱하면 커지고, 작은 수를 곱하면 줄어든다.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99648" y="4783455"/>
            <a:ext cx="6364224" cy="39090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h6_contr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6645" y="4876038"/>
            <a:ext cx="5690229" cy="327126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0899648" y="8239887"/>
            <a:ext cx="6364224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155680" y="8239887"/>
            <a:ext cx="585215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대역 그림으로 실행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dst3 = image × 0.5 + avg, dst4 = image × 2.0 − avg — avg가 밝기를 받쳐 준다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p.233~236 · 강의 슬라이드 16~18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6.3.1 히스토그램 — 화소값마다 몇 개인지 센 그래프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6583680" cy="308610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767203"/>
            <a:ext cx="585216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히스토그램(histogram)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394710"/>
            <a:ext cx="5852160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관측값의 개수를 겹치지 않는 계급으로 표시한 것 — 도수 분포표를 그래프로 그린 것이다. </a:t>
            </a:r>
            <a:r>
              <a:rPr sz="24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가로축은 계급(bin), 세로축은 도수(빈도수)</a:t>
            </a: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5915025"/>
            <a:ext cx="6583680" cy="277749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89888" y="6110478"/>
            <a:ext cx="585216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영상에서는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6737985"/>
            <a:ext cx="5852160" cy="18310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화소 분포를 보여 주는 지표다. 분포를 보면 영상이 어둡거나 밝거나 흐린지 알 수 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571750"/>
            <a:ext cx="9217152" cy="612076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h6_hist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3526361"/>
            <a:ext cx="8887968" cy="375891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046720" y="8239887"/>
            <a:ext cx="9217152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02752" y="8239887"/>
            <a:ext cx="870508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그림 6.3.1의 숫자로 cv2.calcHist를 돌려 다시 그림 — 3은 하나도 없다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p.237 그림 6.3.1 · 강의 슬라이드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6.3.2 히스토그램 계산 — 화소값을 인덱스로 +1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68096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6_ro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035" y="2664333"/>
            <a:ext cx="4965145" cy="347700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6233922"/>
            <a:ext cx="7680960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6233922"/>
            <a:ext cx="716889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예제 6.2.2의 관심 영역 — 51은 5번, 50은 2번 나온다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6943725"/>
            <a:ext cx="7680960" cy="174879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7139178"/>
            <a:ext cx="69494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계급(bin)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7766685"/>
            <a:ext cx="69494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uint8은 범위 0~255. 한 계급 너비를 1로 두면 계급이 256개다.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0848" y="2571750"/>
            <a:ext cx="8193024" cy="349758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436608" y="2674620"/>
            <a:ext cx="74615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6.3.1 — 08.calc_histogram_opencv.py (일부)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3168396"/>
            <a:ext cx="7388352" cy="277749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from Common.utils import ck_time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calc_histo(image, hsize, ranges=[0, 256]):   # 행렬 원소의 1차원 히스토그램 계산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hist = np.zeros((hsize, 1), np.float32)      # 히스토그램 누적 행렬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gap = ranges[1]/hsize                        # 계급 간격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i in (image/gap).flat: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hist[int(i)] += 1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return hist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0848" y="6326505"/>
            <a:ext cx="8193024" cy="236601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436608" y="6521958"/>
            <a:ext cx="74615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교수님이 짚은 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6608" y="7149465"/>
            <a:ext cx="7461504" cy="1419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hist[int(i)] += 1 — 화소값을 gap으로 나눈 몫을 </a:t>
            </a:r>
            <a:r>
              <a:rPr sz="22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인덱스로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써서 그 계급 칸을 하나 늘린다. .flat으로 2차원 영상을 for 한 번에 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제목의 파일 이름 'calc_histogrm.opencv'는 오타 — calc_histogram_opencv로 고쳤다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p.238~239 · 강의 슬라이드 21~22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6.3.3 cv2.calcHist — 인수 여섯 개 (시험)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92583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26464" y="2715768"/>
            <a:ext cx="15435071" cy="6583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7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cv2.calcHist(images, channels, mask, histSize, ranges[, hist[, accumulate]]) → ret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754755"/>
            <a:ext cx="16239744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43584" y="3754755"/>
            <a:ext cx="280903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인수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1532" y="3754755"/>
            <a:ext cx="12552883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설명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227957"/>
            <a:ext cx="16239744" cy="57607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80160" y="4227957"/>
            <a:ext cx="2735884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8108" y="4227957"/>
            <a:ext cx="12479731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원본 배열들 — CV_8U 혹은 CV_32F 형으로 크기가 같아야 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804029"/>
            <a:ext cx="2735884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channels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8108" y="4804029"/>
            <a:ext cx="12479731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히스토그램 계산에 사용되는 차원 목록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5380101"/>
            <a:ext cx="16239744" cy="57607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80160" y="5380101"/>
            <a:ext cx="2735884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8108" y="5380101"/>
            <a:ext cx="12479731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특정 영역만 계산하기 위한 마스크 행렬 — 입력 영상과 같은 크기의 8비트 배열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956173"/>
            <a:ext cx="2735884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histSize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8108" y="5956173"/>
            <a:ext cx="12479731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각 차원의 히스토그램 배열 크기 — 계급(bin)의 개수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6532245"/>
            <a:ext cx="16239744" cy="57607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80160" y="6532245"/>
            <a:ext cx="2735884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ranges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8108" y="6532245"/>
            <a:ext cx="12479731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각 차원의 히스토그램의 범위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7108317"/>
            <a:ext cx="2735884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accumulate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8108" y="7108317"/>
            <a:ext cx="12479731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누적 플래그 — 여러 배열에서 단일 히스토그램을 구할 때 사용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" y="7818120"/>
            <a:ext cx="16239744" cy="87439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426464" y="7818120"/>
            <a:ext cx="15435071" cy="874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첫 인수부터 리스트 — [image], [0], [32], [0, 256]처럼 대괄호를 반드시 씌운다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영상 여러 장 · 채널 여러 개를 한 번에 받으려고 모두 리스트로 받는다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p.239~240 · 강의 슬라이드 23 · 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6.3.1 — 직접 · OpenCV · numpy, 세 결과가 같다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24128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509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6.3.1 — 08.calc_histogram_opencv.py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43660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calc_histo(image, histSize, ranges=[0, 256]): …    # 소스 내용 생략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cv2.imread("images/pixel_test.jpg", cv2.IMREAD_GRAYSCALE)  # 영상 읽기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image is None: raise Exception("영상파일 읽기 오류")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histSize, ranges = [32], [0, 256]                # 히스토그램 간격수, 값 범위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gap = ranges[1]/histSize[0]                      # 계급 간격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ranges_gap = np.arange(0, ranges[1]+1, gap)      # 넘파이 계급범위&amp;간격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hist1 = calc_histo(image, histSize, ranges)      # User 함수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hist2 = cv2.calcHist([image], [0], None, histSize, ranges)   # OpenCV 함수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hist3, bins = np.histogram(image, ranges_gap )   # numpy 모듈 함수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print("User 함수: \n", hist1.flatten())           # 1차원 행렬 1행 표시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print("OpenCV 함수: \n", hist2.flatten())</a:t>
            </a:r>
          </a:p>
          <a:p>
            <a:pPr>
              <a:lnSpc>
                <a:spcPct val="118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print("numpy 함수: \n", hist3)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631168" y="2571750"/>
            <a:ext cx="5632704" cy="298323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631168" y="2571750"/>
            <a:ext cx="91440" cy="2983230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996928" y="2674620"/>
            <a:ext cx="4901184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(교재, 앞 네 계급)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33504" y="3024378"/>
            <a:ext cx="4828032" cy="240715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User 함수: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  97.  247.  563. 1001. …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OpenCV 함수: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  97.  247.  563. 1001. …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numpy 함수: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[  97  247  563 1001 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631168" y="5812155"/>
            <a:ext cx="5632704" cy="288036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033504" y="5987034"/>
            <a:ext cx="4828032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반환 모양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33504" y="6449949"/>
            <a:ext cx="4828032" cy="20985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교재의 calcHist는 (32, 1)이라 flatten()으로 편다. OpenCV 5.0은 (32,)로 1차원. np.histogram은 (빈도, 경계) 튜플이다.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교재 1행 'import numpy as np, import cv2'는 문법 오류 — 고쳐 실었다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p.240~241 · 강의 슬라이드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6.3.3 — 막대를 그리고, 위아래를 뒤집는다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6.3.3 — 09.draw_histogram.py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33932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draw_histo(hist, shape=(200, 256)):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hist_img = np.full(shape, 255, np.uint8)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cv2.normalize(hist, hist, 0, shape[0], cv2.NORM_MINMAX)   # 정규화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gap = hist_img.shape[1]/hist.shape[0]                     # 한 계급 너비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i, h in enumerate(hist):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x = int(round(i * gap))                    # 막대 사각형 시작 x 좌표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w = int(round(gap))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cv2.rectangle(hist_img, (x, 0, w, int(h)), 0, cv2.FILLED)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return cv2.flip(hist_img, 0)                   # 영상 상하 뒤집기 후 반환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cv2.imread("images/pixel.jpg", cv2.IMREAD_GRAYSCALE)   # 영상 읽기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image is None: raise Exception("영상파일 읽기 오류")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hist = cv2.calcHist([image], [0], None, [32], [0, 256])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hist_img = draw_histo(hist)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cv2.imshow("image", image)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cv2.imshow("hist_img", hist_img)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33888" y="2571750"/>
            <a:ext cx="6729984" cy="30861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ch6_draw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2961673"/>
            <a:ext cx="6400800" cy="185362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533888" y="5205222"/>
            <a:ext cx="6729984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789920" y="5205222"/>
            <a:ext cx="621792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대역 그림의 32계급 히스토그램 — 뒤집기 전과 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33888" y="5915025"/>
            <a:ext cx="6729984" cy="277749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899648" y="6110478"/>
            <a:ext cx="59984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막대 하나 = (x, 0, w, 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99648" y="6737985"/>
            <a:ext cx="5998464" cy="18310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x = i × 한 계급 너비, w = 그래프 너비 ÷ 계급 수, h = 정규화한 빈도. 행렬은 원점이 왼쪽 위라 막대가 매달리므로 </a:t>
            </a:r>
            <a:r>
              <a:rPr sz="21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cv2.flip(…, 0)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 x축 기준 뒤집는다.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normalize(…, 0, shape[0], NORM_MINMAX)로 가장 큰 막대를 그래프 높이 200에 맞춘다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p.241~243 · 강의 슬라이드 25~26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심화예제 6.3.4 — 막대마다 그 색으로 칠한 색상 히스토그램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168896" cy="401193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64373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10.hue_histogram.py (1~14행) 팔레트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6364224" cy="32918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make_palette(rows):              # hue 채널 팔레트 행렬 생성 함수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## 리스트 생성 방식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hue = [round(i * 180 / rows) for i in range(rows)]   # hue 값 리스트 계산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hsv = [[[h, 255, 255]] for h in hue]      # (hue, 255,255) 화소값 계산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hsv = np.array(hsv, np.uint8)             # 정수(uint8)형 행렬 변환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## 반복문 방식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# hsv = np.full((rows, 1, 3), (255, 255, 255), np.uint8)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# for i in range(0, rows):                # 행수만큼 반복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#     hue = round(i / rows * 180 )        # 색상 계산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#     hsv[i] = (hue, 255, 255)            # HSV 컬러 지정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return cv2.cvtColor(hsv, cv2.COLOR_HSV2BGR)   # HSV 컬러→BGR 컬러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6840855"/>
            <a:ext cx="7168896" cy="185166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89888" y="7036308"/>
            <a:ext cx="643737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make_palette — 계급 색표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7663815"/>
            <a:ext cx="6437376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계급 번호를 hue(0~180)로 바꿔 채도 · 명도 255인 순색을 만들고 BGR로 바꾼다.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2571750"/>
            <a:ext cx="877824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51392" y="2674620"/>
            <a:ext cx="8046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(16~38행) 그리기 · Hue 히스토그램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3168396"/>
            <a:ext cx="797356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draw_hist_hue(hist, shape=(200, 256, 3)):      # 색상 히스토그램 그리기 함수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hsv_palette = make_palette(hist.shape[0])      # 색상 팔레트 생성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hist_img = np.full(shape, 255, np.uint8)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cv2.normalize(hist, hist, 0, shape[0], cv2.NORM_MINMAX)  # 영상 높이값으로 정규화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gap = hist_img.shape[1] / hist.shape[0]        # 한 계급 크기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i, h in enumerate(hist):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x, w = int(round(i * gap)), int(round(gap))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color = tuple(map(int, hsv_palette[i][0]))   # 정수형 튜플로 변환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cv2.rectangle(hist_img, (x, 0, w, int(h)), color, cv2.FILLED) # 팔레트 색으로 그리기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return cv2.flip(hist_img, 0)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cv2.imread("images/hue_hist.jpg", cv2.IMREAD_COLOR)  # 영상 읽기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image is None: raise Exception("영상파일 읽기 오류")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hsv_img = cv2.cvtColor(image, cv2.COLOR_BGR2HSV)             # BGR 컬러→HSV 컬러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hue_hist = cv2.calcHist( [hsv_img], [0], None, [18], [0,180]) # Hue 채널 히스토그램 계산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hue_hist_img = draw_hist_hue(hue_hist, (200, 360, 3))        # 히스토그램 그래프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cv2.imshow("image", image)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cv2.imshow("hue_hist_img", hue_hist_img)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교수님 말풍선 — 0~180 범위 18개 계급, 그래프 200×360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p.243~244 · 강의 슬라이드 27~28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심화예제 6.3.4 결과 — 어떤 색이 많은지 한눈에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241280" cy="380619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6_hue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900" y="2664333"/>
            <a:ext cx="7853736" cy="316839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5925312"/>
            <a:ext cx="10241280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5925312"/>
            <a:ext cx="972921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파란 돔 · 빨강 · 갈색 · 초록 병을 직접 그려 실행 — 파란색 계급(100~109)이 가장 높다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6635115"/>
            <a:ext cx="10241280" cy="205740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6830568"/>
            <a:ext cx="950976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읽는 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7458075"/>
            <a:ext cx="9509760" cy="11109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막대 색이 곧 그 계급의 색이다. 교재 사진(파란 쓰레기통 · 빨간 병)도 파랑과 빨강 막대가 높았다.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631168" y="2571750"/>
            <a:ext cx="5632704" cy="452628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850624" y="2571750"/>
            <a:ext cx="1025591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계급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15127" y="2571750"/>
            <a:ext cx="181416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hue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68208" y="2571750"/>
            <a:ext cx="147620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631168" y="3024378"/>
            <a:ext cx="5632704" cy="51435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887200" y="3024378"/>
            <a:ext cx="95243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51703" y="3024378"/>
            <a:ext cx="174101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04784" y="3024378"/>
            <a:ext cx="140305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빨강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0" y="3538728"/>
            <a:ext cx="95243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1703" y="3538728"/>
            <a:ext cx="174101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30~39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604784" y="3538728"/>
            <a:ext cx="140305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노랑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631168" y="4053078"/>
            <a:ext cx="5632704" cy="51435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1887200" y="4053078"/>
            <a:ext cx="95243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51703" y="4053078"/>
            <a:ext cx="174101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60~69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604784" y="4053078"/>
            <a:ext cx="140305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초록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0" y="4567428"/>
            <a:ext cx="95243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51703" y="4567428"/>
            <a:ext cx="174101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90~99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604784" y="4567428"/>
            <a:ext cx="140305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청록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631168" y="5081778"/>
            <a:ext cx="5632704" cy="51435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1887200" y="5081778"/>
            <a:ext cx="95243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351703" y="5081778"/>
            <a:ext cx="174101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100~109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604784" y="5081778"/>
            <a:ext cx="140305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파랑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0" y="5596128"/>
            <a:ext cx="95243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351703" y="5596128"/>
            <a:ext cx="174101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150~159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604784" y="5596128"/>
            <a:ext cx="140305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자홍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31168" y="6789420"/>
            <a:ext cx="5632704" cy="190309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2033504" y="6964299"/>
            <a:ext cx="4828032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무채색은 0번으로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033504" y="7427214"/>
            <a:ext cx="4828032" cy="11212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회색 · 흰색은 채도가 0이라 hue도 0 — 빨강 계급에 섞인다.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p.245 · 강의 슬라이드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6.3.4 히스토그램 스트레칭 — 좁은 분포를 양옆으로 당긴다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412480" cy="612076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6_stretch_id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876645"/>
            <a:ext cx="8083296" cy="505834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8239887"/>
            <a:ext cx="8412480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8239887"/>
            <a:ext cx="790041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대역 그림(화소값 52~183)으로 예제 6.3.5를 돌린 64계급 히스토그램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02368" y="2571750"/>
            <a:ext cx="7461504" cy="195453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168128" y="2767203"/>
            <a:ext cx="672998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수식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8128" y="3394710"/>
            <a:ext cx="6729984" cy="10081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새 화소값 = (화소값 − low) ÷ (high − low) × 255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02368" y="4732020"/>
            <a:ext cx="7461504" cy="205740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168128" y="4927473"/>
            <a:ext cx="672998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low와 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68128" y="5554980"/>
            <a:ext cx="6729984" cy="11109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빈도가 있는 가장 낮은 · 높은 화소값. low → 0, high → 255로 당긴다.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02368" y="7046595"/>
            <a:ext cx="7461504" cy="452628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021824" y="7046595"/>
            <a:ext cx="179953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화소값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60275" y="7046595"/>
            <a:ext cx="284414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계산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3336" y="7046595"/>
            <a:ext cx="150107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새 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02368" y="7499223"/>
            <a:ext cx="7461504" cy="39090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058400" y="7499223"/>
            <a:ext cx="1726387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52 (low)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96851" y="7499223"/>
            <a:ext cx="2770997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 × 255 / 128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79912" y="7499223"/>
            <a:ext cx="1427927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7890129"/>
            <a:ext cx="1726387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96851" y="7890129"/>
            <a:ext cx="2770997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64 × 255 / 128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79912" y="7890129"/>
            <a:ext cx="1427927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127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02368" y="8281035"/>
            <a:ext cx="7461504" cy="39090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058400" y="8281035"/>
            <a:ext cx="1726387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180 (high)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296851" y="8281035"/>
            <a:ext cx="2770997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128 × 255 / 128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79912" y="8281035"/>
            <a:ext cx="1427927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255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Δx = high − low = 128 — 255 ÷ Δx 배로 늘린다 (116은 127.5 → uint8로 127)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p.246~248 그림 6.3.3 · 강의 슬라이드 30~31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6.3.5 — low · high를 찾아 룩업 테이블로 바꾸기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717536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698601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11.histogram_stretching.py (1~23행)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6912864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from Common.histogram import draw_histo          # 함수 재사용 위한 임포트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search_value_idx(hist, bias=0):              # 값있는 첫 계급 검색 함수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i in range(hist.shape[0]):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idx = np.abs(bias - i)                   # 검색 위치(처음 또는 마지막)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hist[idx] &gt; 0: return idx             # 위치 반환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return -1                                    # 대상 없으면 반환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cv2.imread("images/hist_stretch.jpg", cv2.IMREAD_GRAYSCALE)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image is None: raise Exception("영상파일 읽기 오류")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bsize, ranges = [64], [0,256]                    # 계급 개수 및 화소 범위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hist = cv2.calcHist([image], [0], None, bsize, ranges)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bin_width = ranges[1]/bsize[0]                   # 한 계급 너비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low = search_value_idx(hist, 0) * bin_width      # 최저 화소값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high= search_value_idx(hist, bsize[0] - 1) * bin_width   # 최고 화소값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idx = np.arange(0, 256)                          # 룩업 인덱스(0~255) 생성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idx = (idx - low)/(high- low) * 255              # 수식 적용하여 룩업 인덱스 완성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idx[0:int(low)] = 0                              # 히스토그램 하위 부분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idx[int(high+1):] = 255                          # 히스토그램 상위 부분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4272" y="2571750"/>
            <a:ext cx="822960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400032" y="2674620"/>
            <a:ext cx="7498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(25~41행) 바꾸기 · 그리기 · 출력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6608" y="3168396"/>
            <a:ext cx="742492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dst = cv2.LUT(image, idx.astype('uint8'))        # 룩업 테이블 사용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dst = idx.astype('uint8')[image]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룩업 테이블 사용하지 않고 직접 구현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dst = np.zeros(image.shape, dtype=image.dtype)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for i in range(dst.shape[0]):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    for j in range(dst.shape[1]):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        dst[i,j] = idx[image[i,j]]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hist_dst = cv2.calcHist([dst], [0], None, bsize, ranges) # 결과 영상 히스토그램 재계산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hist_img = draw_histo(hist, (200,360))           # 원본 영상 히스토그램 그리기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hist_dst_img = draw_histo(hist_dst, (200,360))   # 결과 영상 히스토그램 그리기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print("high_value =", high)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print("low_value =", low)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cv2.imshow("image", image);    cv2.imshow("hist_img", hist_img)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cv2.imshow("dst", dst);        cv2.imshow("hist_dst_img", hist_dst_img)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교재 37 · 38행 'high_vlue', 'low_vlue'는 오타 — 실행 결과대로 value로 고쳤다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p.248~250 · 강의 슬라이드 32~33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6.3.5 결과 — 흐린 영상이 또렷해진다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612076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6_stre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976" y="2664333"/>
            <a:ext cx="7590063" cy="548297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8239887"/>
            <a:ext cx="9509760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8239887"/>
            <a:ext cx="899769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대역 그림으로 실행 — 구름 결과 고양이 윤곽이 또렷해진다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99648" y="2571750"/>
            <a:ext cx="6364224" cy="154305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899648" y="2571750"/>
            <a:ext cx="91440" cy="1543050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265408" y="2674620"/>
            <a:ext cx="5632704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— 교재와 같은 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01984" y="3024378"/>
            <a:ext cx="5559552" cy="96697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high_value = 180.0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low_value = 52.0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99648" y="4371975"/>
            <a:ext cx="6364224" cy="164592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265408" y="4567428"/>
            <a:ext cx="56327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막대 그래프처럼 보이는 이유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65408" y="5194935"/>
            <a:ext cx="5632704" cy="6995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계급 64개 — 한 계급 너비가 4화소다.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899648" y="6275070"/>
            <a:ext cx="6364224" cy="2417445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265408" y="6470523"/>
            <a:ext cx="56327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룩업 테이블 cv2.LUT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65408" y="7098030"/>
            <a:ext cx="5632704" cy="14710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idx[화소값]이 새 화소값인 표 하나로 영상 전체를 바꾼다. idx.astype('uint8')[image]와 같다.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결과 히스토그램은 0~255로 퍼졌지만 막대 사이가 벌어진다 — 개수는 그대로, 자리만 옮겼다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p.250~251 · 강의 슬라이드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6.3.5 히스토그램 평활화 — 누적합으로 고르게 나눈다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680960" cy="277749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767203"/>
            <a:ext cx="69494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스트레칭으로 안 되는 영상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394710"/>
            <a:ext cx="6949440" cy="18310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분포는 넓지만 한쪽에 치우친 영상. 히스토그램을 다시 나눠 </a:t>
            </a:r>
            <a:r>
              <a:rPr sz="21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균등한 분포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로 만든다. 사람 눈은 밝기보다 대비가 커질 때 더 잘 알아본다.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5606415"/>
            <a:ext cx="7680960" cy="308610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89888" y="5801868"/>
            <a:ext cx="69494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이퀄라이저에서 온 이름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6429375"/>
            <a:ext cx="6949440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음악 앱의 EQ(equalizer)는 주파수 특성을 고르게 보정하는 기기다. 평활화(equalization)도 '분포의 균등'이라는 같은 뜻이다.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70848" y="2571750"/>
            <a:ext cx="8193024" cy="612076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0" y="2777490"/>
            <a:ext cx="73152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평활화 네 단계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36004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3D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0" y="36261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77856" y="3224974"/>
            <a:ext cx="6547104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영상의 </a:t>
            </a:r>
            <a:r>
              <a:rPr sz="25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히스토그램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을 계산한다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479374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3D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509760" y="481945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77856" y="4418266"/>
            <a:ext cx="6547104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빈도를 앞에서부터 더해 </a:t>
            </a:r>
            <a:r>
              <a:rPr sz="25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누적 빈도수(누적합)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를 구한다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598703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3D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509760" y="601275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77856" y="5611558"/>
            <a:ext cx="6547104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누적합을 전체 화소 수로 나눠 0~1로 </a:t>
            </a:r>
            <a:r>
              <a:rPr sz="25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정규화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7180326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3D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509760" y="7206043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77856" y="6804850"/>
            <a:ext cx="6547104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결과 화소값 = 정규화 누적합 × 최대 화소값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반올림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④는 반올림 — 0.75 × 7 = 5.25 → 5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p.251~252 · 강의 슬라이드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평활화 계산 예시 — 화소 2를 따라가 보기 (시험)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493776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280903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화소값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1532" y="2571750"/>
            <a:ext cx="118506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5507" y="2571750"/>
            <a:ext cx="118506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9481" y="2571750"/>
            <a:ext cx="118506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3456" y="2571750"/>
            <a:ext cx="118506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87430" y="2571750"/>
            <a:ext cx="118506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1404" y="2571750"/>
            <a:ext cx="118506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35379" y="2571750"/>
            <a:ext cx="118506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59353" y="2571750"/>
            <a:ext cx="118506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3065526"/>
            <a:ext cx="16239744" cy="51435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80160" y="3065526"/>
            <a:ext cx="273588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빈도수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8108" y="306552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2083" y="306552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6057" y="306552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306552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4006" y="306552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47980" y="306552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71955" y="306552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895929" y="306552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3579876"/>
            <a:ext cx="273588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누적 빈도수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8108" y="357987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2083" y="357987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6057" y="357987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0032" y="357987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24006" y="357987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647980" y="357987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271955" y="357987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95929" y="357987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4128" y="4094226"/>
            <a:ext cx="16239744" cy="51435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280160" y="4094226"/>
            <a:ext cx="273588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정규화 누적합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8108" y="409422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1/16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52083" y="409422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6/16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6057" y="409422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12/16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00032" y="409422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15/16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24006" y="409422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15/16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647980" y="409422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15/16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271955" y="409422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15/16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895929" y="409422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16/16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" y="4608576"/>
            <a:ext cx="273588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× 최댓값 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8108" y="460857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0.4375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52083" y="460857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2.625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6057" y="460857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5.25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00032" y="460857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6.5625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24006" y="460857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6.5625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647980" y="460857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6.5625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271955" y="460857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6.5625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895929" y="460857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4128" y="5122926"/>
            <a:ext cx="16239744" cy="51435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280160" y="5122926"/>
            <a:ext cx="273588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평활화 결과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28108" y="512292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52083" y="512292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6057" y="512292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00032" y="512292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24006" y="512292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647980" y="512292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4271955" y="512292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895929" y="5122926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24128" y="5863590"/>
            <a:ext cx="16239744" cy="282892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0" name="Picture 69" descr="ch6_eq_to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9986" y="5956173"/>
            <a:ext cx="10508028" cy="2643759"/>
          </a:xfrm>
          <a:prstGeom prst="rect">
            <a:avLst/>
          </a:prstGeom>
        </p:spPr>
      </p:pic>
      <p:sp>
        <p:nvSpPr>
          <p:cNvPr id="71" name="Rectangle 7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마지막 누적값 16 = 전체 화소 수      ▲  교재 그림의 '15//16'(빗금 두 개)은 오식 — 15/16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p.252~253 그림 6.3.5 · 6.3.6 · 강의 슬라이드 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6.3.6 — 직접 구현과 cv2.equalizeHist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41248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680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12.histogram_equalize.py (1~23행)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60780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from Common.histogram import draw_histo          # 히스토그램 그리기 함수 임포트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image = cv2.imread("images/equalize_test.jpg", cv2.IMREAD_GRAYSCALE) # 영상 읽기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image is None: raise Exception("영상파일 읽기 오류")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bins, ranges = [256], [0, 256]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hist = cv2.calcHist([image], [0], None, bins, ranges)       # 히스토그램 계산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히스토그램 누적합 계산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accum_hist = np.zeros(hist.shape[:2], np.float32)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accum_hist[0] = hist[0]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i in range(1, hist.shape[0]):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accum_hist[i] = accum_hist[i - 1] + hist[i]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accum_hist = (accum_hist / sum(hist)) * 255                 # 누적합의 정규화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dst1 = [[accum_hist[val] for val in row] for row in image]  # 화소값 할당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dst1 = np.array(dst1, np.uint8)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##numpy 함수 및 OpenCV 룩업 테이블 사용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accum_hist = np.cumsum(hist)                              # 누적합 계산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cv2.normalize(accum_hist, accum_hist, 0, 255, cv2.NORM_MINMAX)   # 정규화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dst1 = cv2.LUT(image, accum_hist.astype('uint8'))         # 룩업 테이블로 화소값 할당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02368" y="2571750"/>
            <a:ext cx="7461504" cy="349758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168128" y="2674620"/>
            <a:ext cx="67299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(25~35행) OpenCV 함수 · 출력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04704" y="3168396"/>
            <a:ext cx="6656832" cy="277749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dst2 = cv2.equalizeHist(image)                 # OpenCV 히스토그램 평활화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hist1 = cv2.calcHist([dst1], [0], None, bins, ranges) # 히스토그램 계산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hist2 = cv2.calcHist([dst2], [0], None, bins, ranges)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hist_img = draw_histo(hist)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hist_img1 = draw_histo(hist1)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hist_img2 = draw_histo(hist2)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cv2.imshow("image", image);        cv2.imshow("hist_img", hist_img)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cv2.imshow("dst1_User", dst1);     cv2.imshow("User_hist", hist_img1)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cv2.imshow("dst2_OpenCV", dst2);   cv2.imshow("OpenCV_hist", hist_img2)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02368" y="6326505"/>
            <a:ext cx="7461504" cy="236601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168128" y="6521958"/>
            <a:ext cx="672998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직접 구현 = OpenCV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68128" y="7149465"/>
            <a:ext cx="6729984" cy="1419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누적합을 for 문으로 쌓고 sum(hist)로 나눠 × 255. 주석의 cumsum · normalize · LUT 세 줄, equalizeHist 한 줄과 같은 일을 한다.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16행: 누적합 ÷ 전체 화소 수 × 255 — 앞 장 표의 ③ · ④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p.254~255 · 강의 슬라이드 37~38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6.3.6 결과 — 어두운 곳의 세부가 드러난다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972800" cy="612076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6_equal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821" y="2664333"/>
            <a:ext cx="10145413" cy="548297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8239887"/>
            <a:ext cx="10972800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8239887"/>
            <a:ext cx="1046073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어두운 아치문 대역 그림으로 실행 — 어둡던 벽의 결(잡음까지)이 밝아진다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62688" y="2571750"/>
            <a:ext cx="4901184" cy="288036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728448" y="2767203"/>
            <a:ext cx="41696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빗살 모양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28448" y="3394710"/>
            <a:ext cx="4169664" cy="19339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몰려 있던 화소값을 넓게 나눠 옮기므로 막대 사이가 띄엄띄엄 벌어진다.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62688" y="5709285"/>
            <a:ext cx="4901184" cy="298323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728448" y="5904738"/>
            <a:ext cx="41696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직접 실행 비교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28448" y="6532245"/>
            <a:ext cx="4169664" cy="20368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dst1과 dst2는 화소마다 많아야 1 차이 — 반올림 방식만 다르다.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스트레칭은 분포가 좁을 때, 평활화는 한쪽으로 치우쳤을 때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p.255~256 · 강의 슬라이드 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6.4.1 색과 컬러 공간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936992" cy="288036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767203"/>
            <a:ext cx="72054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색이란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394710"/>
            <a:ext cx="7205472" cy="19339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물체에 닿은 빛 가운데 흡수되지 않고 </a:t>
            </a:r>
            <a:r>
              <a:rPr sz="26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반사된 빛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을 눈이 느낀 것. 사람이 볼 수 있는 빛(가시광선)은 약 380~780 nm다.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5709285"/>
            <a:ext cx="7936992" cy="298323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89888" y="5904738"/>
            <a:ext cx="72054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컬러 공간(color space)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6532245"/>
            <a:ext cx="7205472" cy="20368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RGB · CMY · HSV · LAB · YUV 같은 색 표시계의 모든 색을 </a:t>
            </a:r>
            <a:r>
              <a:rPr sz="23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3차원 좌표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로 나타낸 것. 컬러 모델이라고도 하며, 서로 변환할 수 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571750"/>
            <a:ext cx="7936992" cy="493776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46336" y="2571750"/>
            <a:ext cx="4323283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쓰는 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08531" y="2571750"/>
            <a:ext cx="273588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컬러 공간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3065526"/>
            <a:ext cx="7936992" cy="61722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582912" y="3065526"/>
            <a:ext cx="4250131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모니터 · 디스플레이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45107" y="3065526"/>
            <a:ext cx="266273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RGB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2912" y="3682746"/>
            <a:ext cx="4250131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프린터 · 인쇄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45107" y="3682746"/>
            <a:ext cx="266273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CMY(K)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4299966"/>
            <a:ext cx="7936992" cy="61722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582912" y="4299966"/>
            <a:ext cx="4250131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사람의 색 지각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345107" y="4299966"/>
            <a:ext cx="266273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HSI · HSV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2912" y="4917186"/>
            <a:ext cx="4250131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JPEG · MPEG 압축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345107" y="4917186"/>
            <a:ext cx="266273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YCbCr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5534406"/>
            <a:ext cx="7936992" cy="617220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582912" y="5534406"/>
            <a:ext cx="4250131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TV 방송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345107" y="5534406"/>
            <a:ext cx="2662732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YUV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0" y="6429375"/>
            <a:ext cx="7936992" cy="226314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692640" y="6624828"/>
            <a:ext cx="72054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영상처리에서 쓰는 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7252335"/>
            <a:ext cx="7205472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색이 다른 물체 분리, 전선 색으로 연결 오류 검사, 색 정보로 원하는 물체 검색.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p.256~259 · 강의 슬라이드 40~41 · 단원 요약 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6.4.2 RGB — 빛의 삼원색, 섞을수록 밝아진다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315200" cy="34975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6_mix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849" y="2664333"/>
            <a:ext cx="5427757" cy="28597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5616702"/>
            <a:ext cx="7315200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5616702"/>
            <a:ext cx="680313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두 그림 모두 직접 계산 — 왼쪽은 cv2.add, 오른쪽은 흰색에서 빼기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6326505"/>
            <a:ext cx="7315200" cy="236601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6521958"/>
            <a:ext cx="65836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RGB 컬러 공간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7149465"/>
            <a:ext cx="6583680" cy="1419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 · G · B를 직교하는 세 축으로 둔 입방체. 원점이 검정, 대각선 끝(255, 255, 255)이 흰색인 모니터의 기본 컬러 공간이다.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05088" y="2571750"/>
            <a:ext cx="8558784" cy="421767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ch6_rgb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810" y="2664333"/>
            <a:ext cx="6561340" cy="3579876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705088" y="6336792"/>
            <a:ext cx="8558784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961120" y="6336792"/>
            <a:ext cx="804672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표 6.4.1 대표 색상의 RGB 값 (R, G, B 순서)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05088" y="7046595"/>
            <a:ext cx="8558784" cy="164592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C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07424" y="7221474"/>
            <a:ext cx="7754112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1662F"/>
                </a:solidFill>
                <a:latin typeface="페이퍼로지 8 ExtraBold"/>
                <a:ea typeface="페이퍼로지 8 ExtraBold"/>
                <a:cs typeface="페이퍼로지 8 ExtraBold"/>
              </a:rPr>
              <a:t>▲  OpenCV는 B, G, R 순서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7684389"/>
            <a:ext cx="7754112" cy="86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빨강은 (255, 0, 0)이지만 OpenCV 배열에서는 [0, 0, 255]다.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교수님 표는 black · white가 뒤바뀜(교재가 맞음) · olive*는 128, 128, 0으로 고침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p.259~262 표 6.4.1 · 강의 슬라이드 42~43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6.4.3 CMY — 색의 삼원색, 255에서 빼면 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380619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6.4.1 — 13.convert_CMY.py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339328" cy="30861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BGR_img = cv2.imread("images/color_model.jpg", cv2.IMREAD_COLOR) # 컬러 영상 읽기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BGR_img is None: raise Exception("영상파일 읽기 오류")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white = np.array([255, 255, 255], np.uint8)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CMY_img = white - BGR_img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Yellow, Magenta, Cyan = cv2.split(CMY_img)                 # 채널 분리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titles = ['BGR_img', 'CMY_img', 'Yellow', 'Magenta', 'Cyan']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t in titles: cv2.imshow(t, eval(t))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6635115"/>
            <a:ext cx="9144000" cy="205740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89888" y="6830568"/>
            <a:ext cx="84124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변환 식 — 보색 관계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7458075"/>
            <a:ext cx="8412480" cy="11109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 = 255 − R,  M = 255 − G,  Y = 255 − B. 감산 혼합이라 원점이 흰색, 대각선 끝이 검정이다.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33888" y="2571750"/>
            <a:ext cx="6729984" cy="3703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h6_c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474" y="2664333"/>
            <a:ext cx="5372811" cy="306552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0533888" y="5822442"/>
            <a:ext cx="6729984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789920" y="5822442"/>
            <a:ext cx="621792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직접 그린 성화 대역 그림으로 실행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33888" y="6532245"/>
            <a:ext cx="6729984" cy="216027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899648" y="6727698"/>
            <a:ext cx="599846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왜 Yellow부터 받나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99648" y="7355205"/>
            <a:ext cx="5998464" cy="12138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BGR 순서에서 빼므로 (255−B, 255−G, 255−R) = (Y, M, C)다.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교수님 말풍선: 최댓값에서 빼기      ▲  교재 식 'Y = 255 − R'은 오식 — 255 − B로 고침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p.262~265 · 강의 슬라이드 44 · 46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6.4.2 — CMYK, 셋의 최솟값을 검정으로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462915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6.4.2 — 14.convert_CMYK.py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705088" cy="39090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BGR_img = cv2.imread("images/color_model.jpg", cv2.IMREAD_COLOR)    # 컬러 영상 읽기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BGR_img is None: raise Exception("영상파일 읽기 오류")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white = np.array([255, 255, 255], np.uint8)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CMY_img = white - BGR_img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CMY = cv2.split(CMY_img)                                   # 채널 분리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black = cv2.min(CMY[0], cv2.min(CMY[1], CMY[2]))           # 원소 간의 최솟값 저장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Yellow, Magenta, Cyan = CMY - black                        # 3개 행렬 화소값 차분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titles = ['black', 'Yellow', 'Magenta', 'Cyan']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[cv2.imshow(t, eval(t)) for t in titles]                   # 리스트 생성 방식 활용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7406640"/>
            <a:ext cx="9509760" cy="128587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89888" y="7550658"/>
            <a:ext cx="8778240" cy="4371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blacK = min(C, M, 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8059864"/>
            <a:ext cx="8778240" cy="5092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각 채널에서 blacK를 빼 남은 만큼만 컬러 잉크로 찍는다.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99648" y="2571750"/>
            <a:ext cx="6364224" cy="26746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h6_cmy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20314"/>
            <a:ext cx="6035040" cy="132486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0899648" y="4793742"/>
            <a:ext cx="6364224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155680" y="4793742"/>
            <a:ext cx="585215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직접 실행 — 앞 예제보다 채널이 어둡다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99648" y="5503545"/>
            <a:ext cx="6364224" cy="318897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265408" y="5698998"/>
            <a:ext cx="56327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왜 K를 더하나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65408" y="6326505"/>
            <a:ext cx="5632704" cy="22425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물감 셋을 섞어도 불순물 때문에 순수한 검정이 안 나온다. 검정 잉크는 대비가 뛰어나고 컬러 잉크보다 싸다.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교수님 말풍선 — 3개 원소 중 최솟값 찾기      ▲  파일 이름 conver → convert로 고침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p.264~267 · 강의 슬라이드 45 · 47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6.4.4 HSI — 사람이 색을 느끼는 세 가지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6217920" cy="612076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6_hue_wh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788602"/>
            <a:ext cx="5888736" cy="523443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8239887"/>
            <a:ext cx="6217920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8239887"/>
            <a:ext cx="570585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색상환 — 도(°)와 OpenCV 값(÷2)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7808" y="2571750"/>
            <a:ext cx="9656064" cy="473202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827264" y="2571750"/>
            <a:ext cx="14923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성분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8476" y="2571750"/>
            <a:ext cx="3037271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색 공간에서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34659" y="2571750"/>
            <a:ext cx="380975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범위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07808" y="3044952"/>
            <a:ext cx="9656064" cy="76123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863840" y="3044952"/>
            <a:ext cx="141914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색상 (H)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052" y="3044952"/>
            <a:ext cx="296411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원판을 도는 각도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71235" y="3044952"/>
            <a:ext cx="3736604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0~360도 (OpenCV 0~180)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806190"/>
            <a:ext cx="141914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채도 (S)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052" y="3806190"/>
            <a:ext cx="296411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원판의 반지름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71235" y="3806190"/>
            <a:ext cx="3736604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0~100 (OpenCV 0~255)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07808" y="4567428"/>
            <a:ext cx="9656064" cy="76123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863840" y="4567428"/>
            <a:ext cx="141914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명도 (I)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5052" y="4567428"/>
            <a:ext cx="2964119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원뿔의 높이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71235" y="4567428"/>
            <a:ext cx="3736604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 검정 ~ 100 흰색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07808" y="5554980"/>
            <a:ext cx="9656064" cy="313753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010144" y="5698998"/>
            <a:ext cx="8851392" cy="287007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RGB → HSI (교재 식)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θ = cos⁻¹[ ((R−G) + (R−B)) × 0.5 / √((R−G)² + (R−B)(G−B)) ]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 = θ (B ≤ G일 때),  360 − θ (그 밖)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 = 1 − 3 · min(R, G, B) / (R + G + B)      I = (R + G + B) / 3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OpenCV HSV (cv2.cvtColor와 맞춘 식)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V = max(R, G, B)      S = (V − min) / V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 = 60(G − B) / (V − min)          V = R일 때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 = 120 + 60(B − R) / (V − min)    V = G일 때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 = 240 + 60(R − G) / (V − min)    V = B일 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교재 HSV 식은 분자가 모두 (G − B) — cv2와 대조해 바로잡았다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p.267~268 · 강의 슬라이드 48~49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6.4.3 — HSI를 직접 계산하고 OpenCV HSV와 비교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973568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2420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15.convert_HSV.py (1~20행) 한 화소씩 변환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168896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cv2, math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calc_hsi(bgr):                                     # 한 화소 hsi 계산 함수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# B, G, R = bgr.astype(float)                      # float 형 변환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B, G, R = float(bgr[0]), float(bgr[1]), float(bgr[2])  # 속도면에 유리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bgr_sum = (R + G + B)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##    색상 계산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tmp1 = ((R - G) + (R - B)) * 0.5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tmp2 = math.sqrt((R - G) * (R - G) + (R - B) * (G - B))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angle = math.acos(tmp1 / tmp2) * (180 / np.pi) if tmp2 else 0   # 각도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H = angle if B &lt;= G else 360 - angle               # 색상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 = 1.0 - 3 * min([R, G, B]) / bgr_sum if bgr_sum else 0   # 채도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 = bgr_sum / 3                                    # 명도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return (H/2, S*255, I)                             # 3 원소 튜플로 반환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 BGR 컬러→HSI 컬러 변환 함수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bgr2hsi(image):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hsv = [[calc_hsi(pixel) for pixel in row] for row in image]  # 2차원 배열 순회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return cv2.convertScaleAbs(np.array(hsv))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90304" y="2571750"/>
            <a:ext cx="7973568" cy="390906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56064" y="2674620"/>
            <a:ext cx="72420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(22~33행) 변환 · 분리 · 표시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168396"/>
            <a:ext cx="7168896" cy="31889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BGR_img = cv2.imread("images/color_space.jpg", cv2.IMREAD_COLOR)  # 컬러 영상 읽기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BGR_img is None: raise Exception("영상파일 읽기 오류")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HSI_img = bgr2hsi(BGR_img)                             # BGR→ HSI 변환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HSV_img = cv2.cvtColor(BGR_img, cv2.COLOR_BGR2HSV)     # OpenCV 함수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Hue, Saturation, Intensity = cv2.split(HSI_img)        # 채널 분리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Hue2, Saturation2, Intensity2 = cv2.split(HSV_img)     # 채널 분리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titles = ['BGR_img', 'Hue', 'Saturation', 'Intensity']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[cv2.imshow(t, eval(t)) for t in titles]               # User 구현 결과 영상표시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[cv2.imshow('OpenCV_'+t, eval(t+'2')) for t in titles[1:]] # OpenCV 결과 영상 표시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90304" y="6737985"/>
            <a:ext cx="7973568" cy="195453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656064" y="6933438"/>
            <a:ext cx="724204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H / 2 와 S × 255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6064" y="7560945"/>
            <a:ext cx="7242048" cy="10081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uint8에 담으려고 0~360도를 반으로(0~180), 0~1인 채도를 0~255로 바꾼다. OpenCV HSV도 같다.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math 모듈 삼각함수가 넘파이보다 빠르다(교재)      ▲  파일 이름 conver → convert로 고침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p.269~270 · 강의 슬라이드 50~51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6.4.3 결과 — 거의 같지만 속도는 딴판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1338560" cy="380619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6_h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455" y="2664333"/>
            <a:ext cx="7397905" cy="316839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5925312"/>
            <a:ext cx="11338560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5925312"/>
            <a:ext cx="1082649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운하 대역 그림으로 실행 — 윗줄은 직접 계산, 아랫줄은 cv2.cvtColor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6635115"/>
            <a:ext cx="11338560" cy="205740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6830568"/>
            <a:ext cx="106070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수행시간 (이 PC, 360×480)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7458075"/>
            <a:ext cx="10607040" cy="11109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직접 구현은 화소마다 acos를 계산해 약 436 ms, cvtColor는 약 0.4 ms가 걸렸다.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728448" y="2571750"/>
            <a:ext cx="4535424" cy="298323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094208" y="2767203"/>
            <a:ext cx="38039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Hue 영상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94208" y="3394710"/>
            <a:ext cx="3803904" cy="20368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하늘 · 물(파랑 계열)은 hue가 커서 밝고, 황토색 절벽은 hue가 작아 어둡다.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728448" y="5812155"/>
            <a:ext cx="4535424" cy="288036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3094208" y="6007608"/>
            <a:ext cx="38039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Intensity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94208" y="6635115"/>
            <a:ext cx="3803904" cy="19339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 = (R + G + B) / 3. OpenCV의 V는 max라 더 밝게 보인다.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교재 사진은 그리스 고린도 운하 — 대역 그림도 같은 구도로 그렸다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p.270~271 · 강의 슬라이드 52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6.4.5 YCbCr · YUV — 밝기는 촘촘히, 색차는 성기게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936992" cy="267462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767203"/>
            <a:ext cx="72054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YCbCr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394710"/>
            <a:ext cx="7205472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Y는 휘도, Cb · Cr은 색차다. 사람 눈은 색보다 밝기에 민감해 색차를 낮은 해상도로 담아도 화질이 크게 떨어지지 않는다 — </a:t>
            </a:r>
            <a:r>
              <a:rPr sz="2000" b="0" lang="ko-KR" altLang="en-US">
                <a:solidFill>
                  <a:srgbClr val="3D7A3A"/>
                </a:solidFill>
                <a:latin typeface="프리젠테이션 5 Medium"/>
                <a:ea typeface="프리젠테이션 5 Medium"/>
                <a:cs typeface="프리젠테이션 5 Medium"/>
              </a:rPr>
              <a:t>JPEG · MPEG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의 기본 컬러 공간.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5503545"/>
            <a:ext cx="7936992" cy="318897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426464" y="5647563"/>
            <a:ext cx="7132320" cy="29215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RGB → YCbCr (교재 식)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Y  = 0.299·R + 0.587·G + 0.114·B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Cb = (B − Y)·0.564 + 128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Cr = (R − Y)·0.713 + 128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YCbCr → RGB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 = Y + 1.403·(Cr − 128)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G = Y − 0.714·(Cr − 128) − 0.344·(Cb − 128)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 = Y + 1.773·(Cb − 128)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571750"/>
            <a:ext cx="7936992" cy="205740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92640" y="2767203"/>
            <a:ext cx="72054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YUV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394710"/>
            <a:ext cx="7205472" cy="11109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TV 방송 규격. PAL 아날로그 비디오용으로 만들었고 유럽 디지털 비디오 표준으로도 쓴다.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4886325"/>
            <a:ext cx="7936992" cy="452628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46336" y="4886325"/>
            <a:ext cx="543446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표 6.4.2 옵션 상수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419710" y="4886325"/>
            <a:ext cx="1624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5338953"/>
            <a:ext cx="7936992" cy="47320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582912" y="5338953"/>
            <a:ext cx="536131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cv2.COLOR_BGR2GRAY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6286" y="5338953"/>
            <a:ext cx="1551553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2" y="5812155"/>
            <a:ext cx="536131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cv2.COLOR_BGR2YCrCb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456286" y="5812155"/>
            <a:ext cx="1551553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6285357"/>
            <a:ext cx="7936992" cy="47320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582912" y="6285357"/>
            <a:ext cx="536131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cv2.COLOR_BGR2HSV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456286" y="6285357"/>
            <a:ext cx="1551553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2912" y="6758559"/>
            <a:ext cx="536131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cv2.COLOR_BGR2LAB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456286" y="6758559"/>
            <a:ext cx="1551553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7231761"/>
            <a:ext cx="7936992" cy="47320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582912" y="7231761"/>
            <a:ext cx="536131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cv2.COLOR_HSV2BGR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456286" y="7231761"/>
            <a:ext cx="1551553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2" y="7704963"/>
            <a:ext cx="536131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cv2.COLOR_BGR2YUV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456286" y="7704963"/>
            <a:ext cx="1551553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교수님 슬라이드는 Cb · Cr의 B−Y와 R−Y가 뒤바뀜 — 교재가 맞다(cv2와 대조)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p.271~273 표 6.4.2 · 강의 슬라이드 53~54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6.4.4 — cvtColor 한 줄로 여러 컬러 공간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예제 6.4.4 — 16.convert_others.py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33932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cv2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BGR_img = cv2.imread("images/color_space.jpg", cv2.IMREAD_COLOR) # 컬러 영상 읽기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BGR_img is None: raise Exception("영상파일 읽기 오류")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Gray_img = cv2.cvtColor(BGR_img, cv2.COLOR_BGR2GRAY)   # 명암도 영상 변환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YCC_img = cv2.cvtColor(BGR_img, cv2.COLOR_BGR2YCrCb)   # YCbCr 컬러 공간 변환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YUV_img = cv2.cvtColor(BGR_img, cv2.COLOR_BGR2YUV)     # YUV 컬러 공간 변환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LAB_img = cv2.cvtColor(BGR_img, cv2.COLOR_BGR2LAB)     # La*b* 컬러 공간 변환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YCC_ch = cv2.split(YCC_img)                            # 채널 분리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YUV_ch = cv2.split(YUV_img)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Lab_ch = cv2.split(LAB_img)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cv2.imshow("BGR_img", BGR_img)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cv2.imshow("Gray_img", Gray_img)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sp1, sp2, sp3 = ['Y', 'Cr', 'Cb'] , ['Y', 'U', 'V'], ['L', 'A', 'B']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i in range(len(YCC_ch)):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cv2.imshow("YCC_img[%d]-%s" %(i, sp1[i]), YCC_ch[i])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cv2.imshow("YUV_img[%d]-%s" %(i, sp2[i]), YUV_ch[i])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cv2.imshow("LAB_img[%d]-%s" %(i, sp3[i]), Lab_ch[i])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33888" y="2571750"/>
            <a:ext cx="6729984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ch6_oth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2464" y="2664333"/>
            <a:ext cx="6052831" cy="388848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533888" y="6645402"/>
            <a:ext cx="6729984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789920" y="6645402"/>
            <a:ext cx="621792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운하 대역 그림으로 실행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33888" y="7303770"/>
            <a:ext cx="6729984" cy="138874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899648" y="7447788"/>
            <a:ext cx="5998464" cy="47217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색차 채널은 거의 회색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99648" y="7991970"/>
            <a:ext cx="5998464" cy="577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색 정보가 128 근처에 몰려 있어서다.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교재 19행 range(len(ch1))은 ch1이 없어 NameError — YCC_ch로 고쳤다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p.273~275 · 강의 슬라이드 55~56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예제 준비 — cv2.threshold 다섯 가지 (교수님 보충)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298323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6_thresh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339" y="2664333"/>
            <a:ext cx="10449321" cy="234543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5102352"/>
            <a:ext cx="16239744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5102352"/>
            <a:ext cx="1572768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thresh = 128로 0~255를 넣어 직접 그린 입력 · 출력 그래프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5812155"/>
            <a:ext cx="16239744" cy="452628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43584" y="5812155"/>
            <a:ext cx="3783421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type (cv2.THRESH_)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5917" y="5812155"/>
            <a:ext cx="2484241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src &gt; thresh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9071" y="5812155"/>
            <a:ext cx="215944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그 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87430" y="5812155"/>
            <a:ext cx="605698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한마디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6264783"/>
            <a:ext cx="16239744" cy="47320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80160" y="6264783"/>
            <a:ext cx="3710269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BINARY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2493" y="6264783"/>
            <a:ext cx="2411089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maxval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5647" y="6264783"/>
            <a:ext cx="208629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24006" y="6264783"/>
            <a:ext cx="5983833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기준보다 밝으면 흰색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6737985"/>
            <a:ext cx="3710269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BINARY_INV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02493" y="6737985"/>
            <a:ext cx="2411089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5647" y="6737985"/>
            <a:ext cx="208629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maxval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24006" y="6737985"/>
            <a:ext cx="5983833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BINARY의 반전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7211187"/>
            <a:ext cx="16239744" cy="47320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80160" y="7211187"/>
            <a:ext cx="3710269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TOZERO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02493" y="7211187"/>
            <a:ext cx="2411089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src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25647" y="7211187"/>
            <a:ext cx="208629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24006" y="7211187"/>
            <a:ext cx="5983833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어두운 쪽만 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7684389"/>
            <a:ext cx="3710269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TOZERO_INV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02493" y="7684389"/>
            <a:ext cx="2411089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5647" y="7684389"/>
            <a:ext cx="208629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src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24006" y="7684389"/>
            <a:ext cx="5983833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밝은 쪽만 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4128" y="8157591"/>
            <a:ext cx="16239744" cy="47320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280160" y="8157591"/>
            <a:ext cx="3710269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TRUNC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02493" y="8157591"/>
            <a:ext cx="2411089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thresh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25647" y="8157591"/>
            <a:ext cx="208629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src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24006" y="8157591"/>
            <a:ext cx="5983833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thresh에서 자른다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cv2.threshold(src, thresh, maxval, type) → (retval, dst) 튜플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강의 슬라이드 57 (교재 6.4절에 없는 보충)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심화예제 6.4.5 — Hue 범위로 물체 찾기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49808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6766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17.hue_threshold.py (1~20행) 콜백 함수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669340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import numpy as np, cv2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def onThreshold(value):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th[0] = cv2.getTrackbarPos("Hue_th1", "result")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th[1] = cv2.getTrackbarPos("Hue_th2", "result")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## 이진화- 화소 직접 접근 방법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# result = np.zeros(hue.shape, np.uint8)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# for i in range(result.shape[0]):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#    for j in range(result.shape[1]):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#       if th[0] &lt;= hue[i, j] &lt; th[1] : result[i, j] = 255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## 이진화- 넘파이 함수 활용 방식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# result = np.logical_and(hue &lt; th[1], hue &gt;= th[0])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# result = result.astype('uint8') * 255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   ## OpenCV 이진화 함수 이용- 상위 값과 하위 값 제거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_, result = cv2.threshold(hue, th[1], 255, cv2.THRESH_TOZERO_INV)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cv2.threshold(result, th[0], 255, cv2.THRESH_BINARY, result)</a:t>
            </a:r>
          </a:p>
          <a:p>
            <a:pPr>
              <a:lnSpc>
                <a:spcPct val="118000"/>
              </a:lnSpc>
            </a:pPr>
            <a:r>
              <a:rPr sz="13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cv2.imshow("result", result)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7968" y="2571750"/>
            <a:ext cx="8375904" cy="41148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53728" y="2674620"/>
            <a:ext cx="76443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(22~34행) 변환 · 트랙바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0304" y="3168396"/>
            <a:ext cx="7571232" cy="33947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BGR_img = cv2.imread("images/color_space.jpg", cv2.IMREAD_COLOR)  # 컬러 영상 읽기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BGR_img is None: raise Exception("영상파일 읽기 오류")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HSV_img = cv2.cvtColor(BGR_img, cv2.COLOR_BGR2HSV)  # 컬러 공간 변환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hue = np.copy(HSV_img[:, :, 0])                     # hue 행렬에 색상 채널 복사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th = [50, 100]                                      # 트랙바로 선택할 범위 변수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cv2.namedWindow("result")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cv2.createTrackbar("Hue_th1", "result", th[0], 255, onThreshold)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cv2.createTrackbar("Hue_th2", "result", th[1], 255, onThreshold)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onThreshold(th[0])                                  # 이진화 수행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cv2.imshow("BGR_img", BGR_img)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cv2.waitKey(0)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7968" y="6943725"/>
            <a:ext cx="8375904" cy="174879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53728" y="7139178"/>
            <a:ext cx="764438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th[0] 초과 ~ th[1] 이하만 흰색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7766685"/>
            <a:ext cx="7644384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TOZERO_INV로 th[1] 초과를 0, BINARY로 th[0] 초과를 255로.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교수님 말풍선 — 트랙바 위치값 · 튜플로 받기 · 인수 행렬에 저장 · 0번 채널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p.275~276 · 강의 슬라이드 58~59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심화예제 6.4.5 결과 — 범위를 넓히면 하늘까지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1338560" cy="3703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6_hue_det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703" y="2664333"/>
            <a:ext cx="10741410" cy="306552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5822442"/>
            <a:ext cx="11338560" cy="452628"/>
          </a:xfrm>
          <a:prstGeom prst="roundRect">
            <a:avLst>
              <a:gd name="adj" fmla="val 2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5822442"/>
            <a:ext cx="1082649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운하 대역 그림으로 실행 — 가운데는 코드 첫 값, 오른쪽은 교재 화면의 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728448" y="2571750"/>
            <a:ext cx="4535424" cy="370332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094208" y="2767203"/>
            <a:ext cx="38039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100과 130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94208" y="3394710"/>
            <a:ext cx="3803904" cy="2756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물(hue 약 93)은 둘 다 잡히지만, 하늘(약 103)은 130까지 넓혀야 잡힌다.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6532245"/>
            <a:ext cx="16239744" cy="452628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43584" y="6532245"/>
            <a:ext cx="5082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대상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5096" y="6532245"/>
            <a:ext cx="345862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OpenCV hue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62635" y="6532245"/>
            <a:ext cx="2971434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th = [50, 100]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72981" y="6532245"/>
            <a:ext cx="2971434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th = [50, 130]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6984873"/>
            <a:ext cx="16239744" cy="49377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80160" y="6984873"/>
            <a:ext cx="500944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하늘 (연한 파랑)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1672" y="6984873"/>
            <a:ext cx="338547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약 103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9211" y="6984873"/>
            <a:ext cx="289828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검정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09557" y="6984873"/>
            <a:ext cx="289828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흰색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7478649"/>
            <a:ext cx="500944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물 (청록)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1672" y="7478649"/>
            <a:ext cx="338547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약 93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9211" y="7478649"/>
            <a:ext cx="289828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흰색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09557" y="7478649"/>
            <a:ext cx="289828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흰색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128" y="7972425"/>
            <a:ext cx="16239744" cy="493776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80160" y="7972425"/>
            <a:ext cx="500944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절벽 · 나무 · 철교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1672" y="7972425"/>
            <a:ext cx="338547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약 16 · 36 · 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9211" y="7972425"/>
            <a:ext cx="289828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검정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09557" y="7972425"/>
            <a:ext cx="289828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검정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특정 색 범위로 물체를 찾는 대표 방법 — 트랙바로 범위를 바꿔 본다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p.277 · 강의 슬라이드 59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시험 포인트 — 헷갈리기 쉬운 여덟 가지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493776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2484241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헷갈리는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6737" y="2571750"/>
            <a:ext cx="1287767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정답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065526"/>
            <a:ext cx="16239744" cy="67894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3065526"/>
            <a:ext cx="2411089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밝기 ·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3313" y="3065526"/>
            <a:ext cx="12804526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밝기는 스칼라 더하기 · 빼기, 대비는 곱하기(1.0보다 크면 증가)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744468"/>
            <a:ext cx="2411089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넘칠 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3313" y="3744468"/>
            <a:ext cx="12804526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cv2.add는 255에서 멈추고, ndarray +는 256의 나머지 — 250 + 100 → 255 / 94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423410"/>
            <a:ext cx="16239744" cy="67894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4423410"/>
            <a:ext cx="2411089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cv2.calcHist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3313" y="4423410"/>
            <a:ext cx="12804526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([image], [0], None, [32], [0, 256]) — 모두 리스트, Hue는 [18], [0, 180]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02351"/>
            <a:ext cx="2411089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스트레칭 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3313" y="5102351"/>
            <a:ext cx="12804526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(화소값 − low) / (high − low) × 255 — 분포가 좁을 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5781294"/>
            <a:ext cx="16239744" cy="67894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80160" y="5781294"/>
            <a:ext cx="2411089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평활화 4단계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3313" y="5781294"/>
            <a:ext cx="12804526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히스토그램 → 누적합 → 정규화 → × 최대 화소값(반올림) — 치우쳤을 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6460236"/>
            <a:ext cx="2411089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CMY(K) 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3313" y="6460236"/>
            <a:ext cx="12804526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 = 255 − R,  M = 255 − G,  Y = 255 − B,  K = min(C, M, Y)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7139177"/>
            <a:ext cx="16239744" cy="678942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80160" y="7139177"/>
            <a:ext cx="2411089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YCbCr 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3313" y="7139177"/>
            <a:ext cx="12804526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Cb = (B − Y)·0.564 + 128,  Cr = (R − Y)·0.713 + 128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7818120"/>
            <a:ext cx="2411089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OpenCV 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3313" y="7818120"/>
            <a:ext cx="12804526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B, G, R 순서 · Hue 0~180 · 좌표 (x, y)와 첨자 [y, x] · BGR2HSV 40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교수님 자료의 표 6.4.1 · YCbCr 식은 오류 — 시험에서는 교재 기준으로 쓴다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교수자료 CH06 강조 · 교재 단원 요약 p.278~279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CH 06 핵심 요약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41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674620"/>
            <a:ext cx="15361920" cy="11315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011680" y="2674620"/>
            <a:ext cx="164592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674620"/>
            <a:ext cx="124358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화소 — 0 검정 ~ 255 흰색, 더하면 밝게 · 빼면 어둡게 · 곱하면 대비, OpenCV는 saturation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4011930"/>
            <a:ext cx="15361920" cy="113157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011680" y="4011930"/>
            <a:ext cx="164592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11930"/>
            <a:ext cx="124358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히스토그램 — calcHist로 세고, 좁으면 스트레칭, 한쪽에 치우치면 평활화(누적합 정규화)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5349240"/>
            <a:ext cx="15361920" cy="1131570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011680" y="5349240"/>
            <a:ext cx="164592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349240"/>
            <a:ext cx="124358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컬러 공간 — RGB(가산) · CMY(K)(감산) · HSI(색상 · 채도 · 명도) · YCbCr · YUV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6686550"/>
            <a:ext cx="15361920" cy="1131570"/>
          </a:xfrm>
          <a:prstGeom prst="roundRect">
            <a:avLst>
              <a:gd name="adj" fmla="val 6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011680" y="6686550"/>
            <a:ext cx="164592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6686550"/>
            <a:ext cx="124358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cvtColor 옵션 상수로 변환하고, Hue 범위를 이진화하면 원하는 색의 물체만 남는다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003956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96A8A7"/>
                </a:solidFill>
                <a:latin typeface="프리젠테이션 5 Medium"/>
                <a:ea typeface="프리젠테이션 5 Medium"/>
                <a:cs typeface="프리젠테이션 5 Medium"/>
              </a:rPr>
              <a:t>영상처리시스템 · OpenCV-Python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시험 대비 — 연습문제 유형과 답안 연습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C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화소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493776"/>
          </a:xfrm>
          <a:prstGeom prst="roundRect">
            <a:avLst>
              <a:gd name="adj" fmla="val 3000"/>
            </a:avLst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183465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유형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7148" y="2571750"/>
            <a:ext cx="76809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연습문제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37020" y="2571750"/>
            <a:ext cx="540739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D7A3A"/>
                </a:solidFill>
                <a:latin typeface="페이퍼로지 8 ExtraBold"/>
                <a:ea typeface="페이퍼로지 8 ExtraBold"/>
                <a:cs typeface="페이퍼로지 8 ExtraBold"/>
              </a:rPr>
              <a:t>준비 방법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065526"/>
            <a:ext cx="16239744" cy="86410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3065526"/>
            <a:ext cx="1761500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개념 서술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3724" y="3065526"/>
            <a:ext cx="760780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 그레이 스케일 · 2 밝기와 화소값 · 4 밝기와 대비 · 5 히스토그램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73596" y="3065526"/>
            <a:ext cx="5334243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단원 요약 1~3번 문장을 그대로 쓸 수 있게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929634"/>
            <a:ext cx="1761500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과정 기술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3724" y="3929634"/>
            <a:ext cx="760780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 영상 합성 두 가지 이상 · 6 스트레칭 과정 · 7 평활화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73596" y="3929634"/>
            <a:ext cx="5334243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식과 단계 번호까지 적는다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793742"/>
            <a:ext cx="16239744" cy="864108"/>
          </a:xfrm>
          <a:prstGeom prst="roundRect">
            <a:avLst>
              <a:gd name="adj" fmla="val 1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4793742"/>
            <a:ext cx="1761500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코드 작성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3724" y="4793742"/>
            <a:ext cx="760780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 addWeighted 합성 · 9 트랙바 두 개로 비율 · 10 float32 명암도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73596" y="4793742"/>
            <a:ext cx="5334243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심화예제 6.2.4에 6.4.5의 트랙바를 붙인다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657850"/>
            <a:ext cx="1761500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응용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3724" y="5657850"/>
            <a:ext cx="760780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11 다차원 calc_histo 빈칸 · 12 reduce 투영 · 13 YCbCr 직접 구현 · 14 Hue-S 2차원 히스토그램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73596" y="5657850"/>
            <a:ext cx="5334243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p.272 식 · CH05 reduce · calcHist 채널 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6686550"/>
            <a:ext cx="9875520" cy="20059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389888" y="6789420"/>
            <a:ext cx="9144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96A8A7"/>
                </a:solidFill>
                <a:latin typeface="페이퍼로지 6 SemiBold"/>
                <a:ea typeface="페이퍼로지 6 SemiBold"/>
                <a:cs typeface="페이퍼로지 6 SemiBold"/>
              </a:rPr>
              <a:t>빈칸 채우기 — 심화예제 6.3.4 · 예제 6.3.6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6464" y="7283196"/>
            <a:ext cx="9070848" cy="12858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빈칸 — Hue 채널 히스토그램, 18계급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hue_hist = cv2.calcHist(_______, [0], None, ____, [0, 180])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빈칸 — 평활화를 OpenCV 한 줄로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dst2 = cv2.____________(image)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265408" y="6686550"/>
            <a:ext cx="5998464" cy="2005965"/>
          </a:xfrm>
          <a:prstGeom prst="roundRect">
            <a:avLst>
              <a:gd name="adj" fmla="val 6000"/>
            </a:avLst>
          </a:prstGeom>
          <a:solidFill>
            <a:srgbClr val="E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1631168" y="6882003"/>
            <a:ext cx="5266943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003956"/>
                </a:solidFill>
                <a:latin typeface="페이퍼로지 8 ExtraBold"/>
                <a:ea typeface="페이퍼로지 8 ExtraBold"/>
                <a:cs typeface="페이퍼로지 8 ExtraBold"/>
              </a:rPr>
              <a:t>연습문제 11 주의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31168" y="7509510"/>
            <a:ext cx="5266943" cy="10595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문제는 '예제 6.3.5의 calc_histo'라고 했지만 그 함수는 예제 6.3.1에 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DC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빈칸 정답 — [hsv_img], [18] / equalizeHist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p.280~282 연습문제 1~14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